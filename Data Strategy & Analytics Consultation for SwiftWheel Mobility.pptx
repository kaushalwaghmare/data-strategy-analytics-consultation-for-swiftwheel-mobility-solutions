
<file path=[Content_Types].xml><?xml version="1.0" encoding="utf-8"?>
<Types xmlns="http://schemas.openxmlformats.org/package/2006/content-types">
  <Default Extension="bin" ContentType="application/vnd.openxmlformats-officedocument.oleObject"/>
  <Default Extension="emf" ContentType="image/x-emf"/>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90" r:id="rId1"/>
  </p:sldMasterIdLst>
  <p:notesMasterIdLst>
    <p:notesMasterId r:id="rId25"/>
  </p:notesMasterIdLst>
  <p:sldIdLst>
    <p:sldId id="280" r:id="rId2"/>
    <p:sldId id="256" r:id="rId3"/>
    <p:sldId id="257" r:id="rId4"/>
    <p:sldId id="276" r:id="rId5"/>
    <p:sldId id="277" r:id="rId6"/>
    <p:sldId id="260" r:id="rId7"/>
    <p:sldId id="261" r:id="rId8"/>
    <p:sldId id="279" r:id="rId9"/>
    <p:sldId id="262" r:id="rId10"/>
    <p:sldId id="263" r:id="rId11"/>
    <p:sldId id="264" r:id="rId12"/>
    <p:sldId id="265" r:id="rId13"/>
    <p:sldId id="266" r:id="rId14"/>
    <p:sldId id="267" r:id="rId15"/>
    <p:sldId id="268" r:id="rId16"/>
    <p:sldId id="269" r:id="rId17"/>
    <p:sldId id="270" r:id="rId18"/>
    <p:sldId id="271" r:id="rId19"/>
    <p:sldId id="272" r:id="rId20"/>
    <p:sldId id="274" r:id="rId21"/>
    <p:sldId id="275" r:id="rId22"/>
    <p:sldId id="273" r:id="rId23"/>
    <p:sldId id="278" r:id="rId24"/>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125E5076-3810-47DD-B79F-674D7AD40C01}" styleName="Dark Style 1 - Accent 1">
    <a:wholeTbl>
      <a:tcTxStyle>
        <a:fontRef idx="minor">
          <a:scrgbClr r="0" g="0" b="0"/>
        </a:fontRef>
        <a:schemeClr val="lt1"/>
      </a:tcTxStyle>
      <a:tcStyle>
        <a:tcBdr>
          <a:left>
            <a:ln>
              <a:noFill/>
            </a:ln>
          </a:left>
          <a:right>
            <a:ln>
              <a:noFill/>
            </a:ln>
          </a:right>
          <a:top>
            <a:ln>
              <a:noFill/>
            </a:ln>
          </a:top>
          <a:bottom>
            <a:ln>
              <a:noFill/>
            </a:ln>
          </a:bottom>
          <a:insideH>
            <a:ln>
              <a:noFill/>
            </a:ln>
          </a:insideH>
          <a:insideV>
            <a:ln>
              <a:noFill/>
            </a:ln>
          </a:insideV>
        </a:tcBdr>
        <a:fill>
          <a:solidFill>
            <a:schemeClr val="accent1"/>
          </a:solidFill>
        </a:fill>
      </a:tcStyle>
    </a:wholeTbl>
    <a:band1H>
      <a:tcStyle>
        <a:tcBdr/>
        <a:fill>
          <a:solidFill>
            <a:schemeClr val="accent1">
              <a:shade val="60000"/>
            </a:schemeClr>
          </a:solidFill>
        </a:fill>
      </a:tcStyle>
    </a:band1H>
    <a:band1V>
      <a:tcStyle>
        <a:tcBdr/>
        <a:fill>
          <a:solidFill>
            <a:schemeClr val="accent1">
              <a:shade val="60000"/>
            </a:schemeClr>
          </a:solidFill>
        </a:fill>
      </a:tcStyle>
    </a:band1V>
    <a:lastCol>
      <a:tcTxStyle b="on"/>
      <a:tcStyle>
        <a:tcBdr>
          <a:left>
            <a:ln w="25400" cmpd="sng">
              <a:solidFill>
                <a:schemeClr val="lt1"/>
              </a:solidFill>
            </a:ln>
          </a:left>
        </a:tcBdr>
        <a:fill>
          <a:solidFill>
            <a:schemeClr val="accent1">
              <a:shade val="60000"/>
            </a:schemeClr>
          </a:solidFill>
        </a:fill>
      </a:tcStyle>
    </a:lastCol>
    <a:firstCol>
      <a:tcTxStyle b="on"/>
      <a:tcStyle>
        <a:tcBdr>
          <a:right>
            <a:ln w="25400" cmpd="sng">
              <a:solidFill>
                <a:schemeClr val="lt1"/>
              </a:solidFill>
            </a:ln>
          </a:right>
        </a:tcBdr>
        <a:fill>
          <a:solidFill>
            <a:schemeClr val="accent1">
              <a:shade val="60000"/>
            </a:schemeClr>
          </a:solidFill>
        </a:fill>
      </a:tcStyle>
    </a:firstCol>
    <a:lastRow>
      <a:tcTxStyle b="on"/>
      <a:tcStyle>
        <a:tcBdr>
          <a:top>
            <a:ln w="25400" cmpd="sng">
              <a:solidFill>
                <a:schemeClr val="lt1"/>
              </a:solidFill>
            </a:ln>
          </a:top>
        </a:tcBdr>
        <a:fill>
          <a:solidFill>
            <a:schemeClr val="accent1">
              <a:shade val="40000"/>
            </a:schemeClr>
          </a:solidFill>
        </a:fill>
      </a:tcStyle>
    </a:lastRow>
    <a:seCell>
      <a:tcStyle>
        <a:tcBdr>
          <a:left>
            <a:ln>
              <a:noFill/>
            </a:ln>
          </a:left>
        </a:tcBdr>
      </a:tcStyle>
    </a:seCell>
    <a:swCell>
      <a:tcStyle>
        <a:tcBdr>
          <a:right>
            <a:ln>
              <a:noFill/>
            </a:ln>
          </a:right>
        </a:tcBdr>
      </a:tcStyle>
    </a:swCell>
    <a:firstRow>
      <a:tcTxStyle b="on"/>
      <a:tcStyle>
        <a:tcBdr>
          <a:bottom>
            <a:ln w="25400" cmpd="sng">
              <a:solidFill>
                <a:schemeClr val="lt1"/>
              </a:solidFill>
            </a:ln>
          </a:bottom>
        </a:tcBdr>
        <a:fill>
          <a:solidFill>
            <a:schemeClr val="dk1"/>
          </a:solidFill>
        </a:fill>
      </a:tcStyle>
    </a:firstRow>
    <a:neCell>
      <a:tcStyle>
        <a:tcBdr>
          <a:left>
            <a:ln>
              <a:noFill/>
            </a:ln>
          </a:left>
        </a:tcBdr>
      </a:tcStyle>
    </a:neCell>
    <a:nwCell>
      <a:tcStyle>
        <a:tcBdr>
          <a:right>
            <a:ln>
              <a:noFill/>
            </a:ln>
          </a:right>
        </a:tcBdr>
      </a:tcStyle>
    </a:nwCell>
  </a:tblStyle>
  <a:tblStyle styleId="{6E25E649-3F16-4E02-A733-19D2CDBF48F0}" styleName="Medium Style 3 - Accent 1">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1"/>
          </a:solidFill>
        </a:fill>
      </a:tcStyle>
    </a:lastCol>
    <a:firstCol>
      <a:tcTxStyle b="on">
        <a:fontRef idx="minor">
          <a:scrgbClr r="0" g="0" b="0"/>
        </a:fontRef>
        <a:schemeClr val="lt1"/>
      </a:tcTxStyle>
      <a:tcStyle>
        <a:tcBdr/>
        <a:fill>
          <a:solidFill>
            <a:schemeClr val="accent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1"/>
          </a:solidFill>
        </a:fill>
      </a:tcStyle>
    </a:firstRow>
  </a:tblStyle>
  <a:tblStyle styleId="{8EC20E35-A176-4012-BC5E-935CFFF8708E}" styleName="Medium Style 3">
    <a:wholeTbl>
      <a:tcTxStyle>
        <a:fontRef idx="minor"/>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dk1"/>
          </a:solidFill>
        </a:fill>
      </a:tcStyle>
    </a:lastCol>
    <a:firstCol>
      <a:tcTxStyle b="on">
        <a:fontRef idx="minor">
          <a:scrgbClr r="0" g="0" b="0"/>
        </a:fontRef>
        <a:schemeClr val="lt1"/>
      </a:tcTxStyle>
      <a:tcStyle>
        <a:tcBdr/>
        <a:fill>
          <a:solidFill>
            <a:schemeClr val="dk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dk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204" autoAdjust="0"/>
    <p:restoredTop sz="75294" autoAdjust="0"/>
  </p:normalViewPr>
  <p:slideViewPr>
    <p:cSldViewPr snapToGrid="0">
      <p:cViewPr varScale="1">
        <p:scale>
          <a:sx n="62" d="100"/>
          <a:sy n="62" d="100"/>
        </p:scale>
        <p:origin x="1478" y="53"/>
      </p:cViewPr>
      <p:guideLst/>
    </p:cSldViewPr>
  </p:slideViewPr>
  <p:notesTextViewPr>
    <p:cViewPr>
      <p:scale>
        <a:sx n="100" d="100"/>
        <a:sy n="100" d="100"/>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FB8F75FD-DAA8-45AF-91D7-AF1EA00E2E93}" type="datetimeFigureOut">
              <a:rPr lang="en-IN" smtClean="0"/>
              <a:t>28-01-2026</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01C65AE7-7E6E-41C9-8C2C-ED15EBCDF0AB}" type="slidenum">
              <a:rPr lang="en-IN" smtClean="0"/>
              <a:t>‹#›</a:t>
            </a:fld>
            <a:endParaRPr lang="en-IN"/>
          </a:p>
        </p:txBody>
      </p:sp>
    </p:spTree>
    <p:extLst>
      <p:ext uri="{BB962C8B-B14F-4D97-AF65-F5344CB8AC3E}">
        <p14:creationId xmlns:p14="http://schemas.microsoft.com/office/powerpoint/2010/main" val="127805194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IN"/>
          </a:p>
        </p:txBody>
      </p:sp>
      <p:sp>
        <p:nvSpPr>
          <p:cNvPr id="3" name="Notes Placeholder 2"/>
          <p:cNvSpPr>
            <a:spLocks noGrp="1"/>
          </p:cNvSpPr>
          <p:nvPr>
            <p:ph type="body" idx="1"/>
          </p:nvPr>
        </p:nvSpPr>
        <p:spPr/>
        <p:txBody>
          <a:bodyPr/>
          <a:lstStyle/>
          <a:p>
            <a:r>
              <a:rPr lang="en-US" dirty="0"/>
              <a:t>Hello, I am Kaushal </a:t>
            </a:r>
            <a:r>
              <a:rPr lang="en-US" dirty="0" err="1"/>
              <a:t>Mahedrabhai</a:t>
            </a:r>
            <a:r>
              <a:rPr lang="en-US" dirty="0"/>
              <a:t> Waghmare. I enrolled in a Master degree of Business Analytics and I would like to state that the assessment I have provided in the Data Design Management module is my independent work which was written in full compliance with the academic rule of the University. I confirm that I have done all the work on my own. I did not use any unauthorized material or generative AI and all the source consulted have been appropriately referenced. I am knowledgeable of the Student Discipline Regulation and realize that any disciplinary action can be the result of any academic misconduct. This submission will also confirm that I am a qualified person to finish the assessment and I have met all the professional and academic requirement.</a:t>
            </a:r>
            <a:endParaRPr lang="en-IN" dirty="0"/>
          </a:p>
        </p:txBody>
      </p:sp>
      <p:sp>
        <p:nvSpPr>
          <p:cNvPr id="4" name="Slide Number Placeholder 3"/>
          <p:cNvSpPr>
            <a:spLocks noGrp="1"/>
          </p:cNvSpPr>
          <p:nvPr>
            <p:ph type="sldNum" sz="quarter" idx="5"/>
          </p:nvPr>
        </p:nvSpPr>
        <p:spPr/>
        <p:txBody>
          <a:bodyPr/>
          <a:lstStyle/>
          <a:p>
            <a:fld id="{01C65AE7-7E6E-41C9-8C2C-ED15EBCDF0AB}" type="slidenum">
              <a:rPr lang="en-IN" smtClean="0"/>
              <a:t>1</a:t>
            </a:fld>
            <a:endParaRPr lang="en-IN"/>
          </a:p>
        </p:txBody>
      </p:sp>
    </p:spTree>
    <p:extLst>
      <p:ext uri="{BB962C8B-B14F-4D97-AF65-F5344CB8AC3E}">
        <p14:creationId xmlns:p14="http://schemas.microsoft.com/office/powerpoint/2010/main" val="379503841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IN"/>
          </a:p>
        </p:txBody>
      </p:sp>
      <p:sp>
        <p:nvSpPr>
          <p:cNvPr id="3" name="Notes Placeholder 2"/>
          <p:cNvSpPr>
            <a:spLocks noGrp="1"/>
          </p:cNvSpPr>
          <p:nvPr>
            <p:ph type="body" idx="1"/>
          </p:nvPr>
        </p:nvSpPr>
        <p:spPr/>
        <p:txBody>
          <a:bodyPr/>
          <a:lstStyle/>
          <a:p>
            <a:r>
              <a:rPr lang="en-US" dirty="0"/>
              <a:t>The presentation is an overall data strategy to plan for </a:t>
            </a:r>
            <a:r>
              <a:rPr lang="en-US" dirty="0" err="1"/>
              <a:t>SwiftWheel</a:t>
            </a:r>
            <a:r>
              <a:rPr lang="en-US" dirty="0"/>
              <a:t> Mobility Solutions. It cover every one of the assessment required in each of the three task. It utilizes the implementation of raw data from operation as strategic resource through the implementation of a database and SQL along with the assessment of technology that will enable </a:t>
            </a:r>
            <a:r>
              <a:rPr lang="en-US" dirty="0" err="1"/>
              <a:t>SwiftWheel</a:t>
            </a:r>
            <a:r>
              <a:rPr lang="en-US" dirty="0"/>
              <a:t> to deliver its mission of ecofriendly urban transportation across UK cities.</a:t>
            </a:r>
            <a:endParaRPr lang="en-IN" dirty="0"/>
          </a:p>
        </p:txBody>
      </p:sp>
      <p:sp>
        <p:nvSpPr>
          <p:cNvPr id="4" name="Slide Number Placeholder 3"/>
          <p:cNvSpPr>
            <a:spLocks noGrp="1"/>
          </p:cNvSpPr>
          <p:nvPr>
            <p:ph type="sldNum" sz="quarter" idx="5"/>
          </p:nvPr>
        </p:nvSpPr>
        <p:spPr/>
        <p:txBody>
          <a:bodyPr/>
          <a:lstStyle/>
          <a:p>
            <a:fld id="{01C65AE7-7E6E-41C9-8C2C-ED15EBCDF0AB}" type="slidenum">
              <a:rPr lang="en-IN" smtClean="0"/>
              <a:t>2</a:t>
            </a:fld>
            <a:endParaRPr lang="en-IN"/>
          </a:p>
        </p:txBody>
      </p:sp>
    </p:spTree>
    <p:extLst>
      <p:ext uri="{BB962C8B-B14F-4D97-AF65-F5344CB8AC3E}">
        <p14:creationId xmlns:p14="http://schemas.microsoft.com/office/powerpoint/2010/main" val="3822389447"/>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IN"/>
          </a:p>
        </p:txBody>
      </p:sp>
      <p:sp>
        <p:nvSpPr>
          <p:cNvPr id="3" name="Notes Placeholder 2"/>
          <p:cNvSpPr>
            <a:spLocks noGrp="1"/>
          </p:cNvSpPr>
          <p:nvPr>
            <p:ph type="body" idx="1"/>
          </p:nvPr>
        </p:nvSpPr>
        <p:spPr/>
        <p:txBody>
          <a:bodyPr/>
          <a:lstStyle/>
          <a:p>
            <a:r>
              <a:rPr lang="en-US" dirty="0"/>
              <a:t>In this presentation follow the structure as mentioned in assessment brief with 20 slide matching and each section address the corresponding learning outcome and assessment criteria.</a:t>
            </a:r>
            <a:endParaRPr lang="en-IN" dirty="0"/>
          </a:p>
        </p:txBody>
      </p:sp>
      <p:sp>
        <p:nvSpPr>
          <p:cNvPr id="4" name="Slide Number Placeholder 3"/>
          <p:cNvSpPr>
            <a:spLocks noGrp="1"/>
          </p:cNvSpPr>
          <p:nvPr>
            <p:ph type="sldNum" sz="quarter" idx="5"/>
          </p:nvPr>
        </p:nvSpPr>
        <p:spPr/>
        <p:txBody>
          <a:bodyPr/>
          <a:lstStyle/>
          <a:p>
            <a:fld id="{01C65AE7-7E6E-41C9-8C2C-ED15EBCDF0AB}" type="slidenum">
              <a:rPr lang="en-IN" smtClean="0"/>
              <a:t>3</a:t>
            </a:fld>
            <a:endParaRPr lang="en-IN"/>
          </a:p>
        </p:txBody>
      </p:sp>
    </p:spTree>
    <p:extLst>
      <p:ext uri="{BB962C8B-B14F-4D97-AF65-F5344CB8AC3E}">
        <p14:creationId xmlns:p14="http://schemas.microsoft.com/office/powerpoint/2010/main" val="1753595402"/>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IN"/>
          </a:p>
        </p:txBody>
      </p:sp>
      <p:sp>
        <p:nvSpPr>
          <p:cNvPr id="3" name="Notes Placeholder 2"/>
          <p:cNvSpPr>
            <a:spLocks noGrp="1"/>
          </p:cNvSpPr>
          <p:nvPr>
            <p:ph type="body" idx="1"/>
          </p:nvPr>
        </p:nvSpPr>
        <p:spPr/>
        <p:txBody>
          <a:bodyPr/>
          <a:lstStyle/>
          <a:p>
            <a:r>
              <a:rPr lang="en-US" dirty="0" err="1"/>
              <a:t>SwiftWheel</a:t>
            </a:r>
            <a:r>
              <a:rPr lang="en-US" dirty="0"/>
              <a:t> is a micromobility industry which is highly competitive and prone to rapid growth and where the efficient use of data is a key competitive advantage. The growth plan of the company to the UK city will include a strong data infrastructure to facilitate the expansion of operation. The given presentation deal with the way modern data strategies could enhance the operational capacity of </a:t>
            </a:r>
            <a:r>
              <a:rPr lang="en-US" dirty="0" err="1"/>
              <a:t>SwiftWheel</a:t>
            </a:r>
            <a:r>
              <a:rPr lang="en-US" dirty="0"/>
              <a:t> and accept with the sustainability goal.</a:t>
            </a:r>
            <a:endParaRPr lang="en-IN" dirty="0"/>
          </a:p>
        </p:txBody>
      </p:sp>
      <p:sp>
        <p:nvSpPr>
          <p:cNvPr id="4" name="Slide Number Placeholder 3"/>
          <p:cNvSpPr>
            <a:spLocks noGrp="1"/>
          </p:cNvSpPr>
          <p:nvPr>
            <p:ph type="sldNum" sz="quarter" idx="5"/>
          </p:nvPr>
        </p:nvSpPr>
        <p:spPr/>
        <p:txBody>
          <a:bodyPr/>
          <a:lstStyle/>
          <a:p>
            <a:fld id="{01C65AE7-7E6E-41C9-8C2C-ED15EBCDF0AB}" type="slidenum">
              <a:rPr lang="en-IN" smtClean="0"/>
              <a:t>4</a:t>
            </a:fld>
            <a:endParaRPr lang="en-IN"/>
          </a:p>
        </p:txBody>
      </p:sp>
    </p:spTree>
    <p:extLst>
      <p:ext uri="{BB962C8B-B14F-4D97-AF65-F5344CB8AC3E}">
        <p14:creationId xmlns:p14="http://schemas.microsoft.com/office/powerpoint/2010/main" val="2567083704"/>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IN"/>
          </a:p>
        </p:txBody>
      </p:sp>
      <p:sp>
        <p:nvSpPr>
          <p:cNvPr id="3" name="Notes Placeholder 2"/>
          <p:cNvSpPr>
            <a:spLocks noGrp="1"/>
          </p:cNvSpPr>
          <p:nvPr>
            <p:ph type="body" idx="1"/>
          </p:nvPr>
        </p:nvSpPr>
        <p:spPr/>
        <p:txBody>
          <a:bodyPr/>
          <a:lstStyle/>
          <a:p>
            <a:r>
              <a:rPr lang="en-US" sz="1200" b="0" i="0" kern="1200" dirty="0">
                <a:solidFill>
                  <a:schemeClr val="tx1"/>
                </a:solidFill>
                <a:effectLst/>
                <a:latin typeface="+mn-lt"/>
                <a:ea typeface="+mn-ea"/>
                <a:cs typeface="+mn-cs"/>
              </a:rPr>
              <a:t>According to the common scaling patterns in startup companies. It is possible that </a:t>
            </a:r>
            <a:r>
              <a:rPr lang="en-US" sz="1200" b="0" i="0" kern="1200" dirty="0" err="1">
                <a:solidFill>
                  <a:schemeClr val="tx1"/>
                </a:solidFill>
                <a:effectLst/>
                <a:latin typeface="+mn-lt"/>
                <a:ea typeface="+mn-ea"/>
                <a:cs typeface="+mn-cs"/>
              </a:rPr>
              <a:t>SwiftWheel</a:t>
            </a:r>
            <a:r>
              <a:rPr lang="en-US" sz="1200" b="0" i="0" kern="1200" dirty="0">
                <a:solidFill>
                  <a:schemeClr val="tx1"/>
                </a:solidFill>
                <a:effectLst/>
                <a:latin typeface="+mn-lt"/>
                <a:ea typeface="+mn-ea"/>
                <a:cs typeface="+mn-cs"/>
              </a:rPr>
              <a:t> has passed through organic system growth leading to a disorganized data structure. This data mesh of broken and mixed dataset does not serve the purpose of full analysis and create significant technical debt (Deloitte, 2021). The absence of customer, trip, and maintenance data integration is a characteristic of the growth issue that come with speedy expansion overshadowing the need to develop infrastructure.</a:t>
            </a:r>
            <a:endParaRPr lang="en-IN" dirty="0"/>
          </a:p>
        </p:txBody>
      </p:sp>
      <p:sp>
        <p:nvSpPr>
          <p:cNvPr id="4" name="Slide Number Placeholder 3"/>
          <p:cNvSpPr>
            <a:spLocks noGrp="1"/>
          </p:cNvSpPr>
          <p:nvPr>
            <p:ph type="sldNum" sz="quarter" idx="5"/>
          </p:nvPr>
        </p:nvSpPr>
        <p:spPr/>
        <p:txBody>
          <a:bodyPr/>
          <a:lstStyle/>
          <a:p>
            <a:fld id="{01C65AE7-7E6E-41C9-8C2C-ED15EBCDF0AB}" type="slidenum">
              <a:rPr lang="en-IN" smtClean="0"/>
              <a:t>5</a:t>
            </a:fld>
            <a:endParaRPr lang="en-IN"/>
          </a:p>
        </p:txBody>
      </p:sp>
    </p:spTree>
    <p:extLst>
      <p:ext uri="{BB962C8B-B14F-4D97-AF65-F5344CB8AC3E}">
        <p14:creationId xmlns:p14="http://schemas.microsoft.com/office/powerpoint/2010/main" val="2652368823"/>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IN"/>
          </a:p>
        </p:txBody>
      </p:sp>
      <p:sp>
        <p:nvSpPr>
          <p:cNvPr id="3" name="Notes Placeholder 2"/>
          <p:cNvSpPr>
            <a:spLocks noGrp="1"/>
          </p:cNvSpPr>
          <p:nvPr>
            <p:ph type="body" idx="1"/>
          </p:nvPr>
        </p:nvSpPr>
        <p:spPr/>
        <p:txBody>
          <a:bodyPr/>
          <a:lstStyle/>
          <a:p>
            <a:r>
              <a:rPr lang="en-US" sz="1200" b="0" i="0" kern="1200" dirty="0" err="1">
                <a:solidFill>
                  <a:schemeClr val="tx1"/>
                </a:solidFill>
                <a:effectLst/>
                <a:latin typeface="+mn-lt"/>
                <a:ea typeface="+mn-ea"/>
                <a:cs typeface="+mn-cs"/>
              </a:rPr>
              <a:t>SwiftWheel</a:t>
            </a:r>
            <a:r>
              <a:rPr lang="en-US" sz="1200" b="0" i="0" kern="1200" dirty="0">
                <a:solidFill>
                  <a:schemeClr val="tx1"/>
                </a:solidFill>
                <a:effectLst/>
                <a:latin typeface="+mn-lt"/>
                <a:ea typeface="+mn-ea"/>
                <a:cs typeface="+mn-cs"/>
              </a:rPr>
              <a:t> has its strength in strong local presence in the United Kingdom, which is promoted by deep understanding of local regulatory system and close contact with regulatory body. With such a foundation the company will be able to attain a high level of compliance and to adjust appropriately to the market condition. However, the operational model of the organization has weak integration of data use of manual reporting and a reactive view on maintenance. Which limits the operational efficiency, scalability and use of data to make decision.</a:t>
            </a:r>
          </a:p>
          <a:p>
            <a:r>
              <a:rPr lang="en-US" sz="1200" b="0" i="0" kern="1200" dirty="0">
                <a:solidFill>
                  <a:schemeClr val="tx1"/>
                </a:solidFill>
                <a:effectLst/>
                <a:latin typeface="+mn-lt"/>
                <a:ea typeface="+mn-ea"/>
                <a:cs typeface="+mn-cs"/>
              </a:rPr>
              <a:t>The strength of Lime include an international presence in over 200 cities and advanced data analytics. These qualities enable preemptive fleet control and anticipatory maintenance which lead to a considerable decrease in vehicle downtime. Which is about 40 per cent lower than the one on </a:t>
            </a:r>
            <a:r>
              <a:rPr lang="en-US" sz="1200" b="0" i="0" kern="1200" dirty="0" err="1">
                <a:solidFill>
                  <a:schemeClr val="tx1"/>
                </a:solidFill>
                <a:effectLst/>
                <a:latin typeface="+mn-lt"/>
                <a:ea typeface="+mn-ea"/>
                <a:cs typeface="+mn-cs"/>
              </a:rPr>
              <a:t>SwiftWheel</a:t>
            </a:r>
            <a:r>
              <a:rPr lang="en-US" sz="1200" b="0" i="0" kern="1200" dirty="0">
                <a:solidFill>
                  <a:schemeClr val="tx1"/>
                </a:solidFill>
                <a:effectLst/>
                <a:latin typeface="+mn-lt"/>
                <a:ea typeface="+mn-ea"/>
                <a:cs typeface="+mn-cs"/>
              </a:rPr>
              <a:t>. Even though the global scale of Lime increases the regulatory complexity and reduce the ability to customize on a local scale it also opens the possibility of technology licensing, data monetization, and innovation, such as the introduction of autonomous vehicle.</a:t>
            </a:r>
          </a:p>
          <a:p>
            <a:r>
              <a:rPr lang="en-US" sz="1200" b="0" i="0" kern="1200" dirty="0">
                <a:solidFill>
                  <a:schemeClr val="tx1"/>
                </a:solidFill>
                <a:effectLst/>
                <a:latin typeface="+mn-lt"/>
                <a:ea typeface="+mn-ea"/>
                <a:cs typeface="+mn-cs"/>
              </a:rPr>
              <a:t>Overall, the better data analytics and maintenance by Lime gives it a strong competitive edge. To be competitive in the long term, </a:t>
            </a:r>
            <a:r>
              <a:rPr lang="en-US" sz="1200" b="0" i="0" kern="1200" dirty="0" err="1">
                <a:solidFill>
                  <a:schemeClr val="tx1"/>
                </a:solidFill>
                <a:effectLst/>
                <a:latin typeface="+mn-lt"/>
                <a:ea typeface="+mn-ea"/>
                <a:cs typeface="+mn-cs"/>
              </a:rPr>
              <a:t>SwiftWheel</a:t>
            </a:r>
            <a:r>
              <a:rPr lang="en-US" sz="1200" b="0" i="0" kern="1200" dirty="0">
                <a:solidFill>
                  <a:schemeClr val="tx1"/>
                </a:solidFill>
                <a:effectLst/>
                <a:latin typeface="+mn-lt"/>
                <a:ea typeface="+mn-ea"/>
                <a:cs typeface="+mn-cs"/>
              </a:rPr>
              <a:t> should invest in predictive analytics and automated reporting systems which will increase the fleet performance, reliability, and cost effectiveness in an increasingly regulated and filled market atmosphere.</a:t>
            </a:r>
          </a:p>
          <a:p>
            <a:r>
              <a:rPr lang="en-US" sz="1200" b="0" i="0" kern="1200" dirty="0">
                <a:solidFill>
                  <a:schemeClr val="tx1"/>
                </a:solidFill>
                <a:effectLst/>
                <a:latin typeface="+mn-lt"/>
                <a:ea typeface="+mn-ea"/>
                <a:cs typeface="+mn-cs"/>
              </a:rPr>
              <a:t>The end of the SWOT analysis make </a:t>
            </a:r>
            <a:r>
              <a:rPr lang="en-US" sz="1200" b="0" i="0" kern="1200" dirty="0" err="1">
                <a:solidFill>
                  <a:schemeClr val="tx1"/>
                </a:solidFill>
                <a:effectLst/>
                <a:latin typeface="+mn-lt"/>
                <a:ea typeface="+mn-ea"/>
                <a:cs typeface="+mn-cs"/>
              </a:rPr>
              <a:t>SwiftWheel</a:t>
            </a:r>
            <a:r>
              <a:rPr lang="en-US" sz="1200" b="0" i="0" kern="1200" dirty="0">
                <a:solidFill>
                  <a:schemeClr val="tx1"/>
                </a:solidFill>
                <a:effectLst/>
                <a:latin typeface="+mn-lt"/>
                <a:ea typeface="+mn-ea"/>
                <a:cs typeface="+mn-cs"/>
              </a:rPr>
              <a:t> compete with Lime one of the top world operator characterized by developed data facility. The investment of Lime in a consolidated information platform allow it to optimize its fleet in </a:t>
            </a:r>
            <a:r>
              <a:rPr lang="en-US" sz="1200" b="0" i="0" kern="1200" dirty="0" err="1">
                <a:solidFill>
                  <a:schemeClr val="tx1"/>
                </a:solidFill>
                <a:effectLst/>
                <a:latin typeface="+mn-lt"/>
                <a:ea typeface="+mn-ea"/>
                <a:cs typeface="+mn-cs"/>
              </a:rPr>
              <a:t>realtime</a:t>
            </a:r>
            <a:r>
              <a:rPr lang="en-US" sz="1200" b="0" i="0" kern="1200" dirty="0">
                <a:solidFill>
                  <a:schemeClr val="tx1"/>
                </a:solidFill>
                <a:effectLst/>
                <a:latin typeface="+mn-lt"/>
                <a:ea typeface="+mn-ea"/>
                <a:cs typeface="+mn-cs"/>
              </a:rPr>
              <a:t> which </a:t>
            </a:r>
            <a:r>
              <a:rPr lang="en-US" sz="1200" b="0" i="0" kern="1200" dirty="0" err="1">
                <a:solidFill>
                  <a:schemeClr val="tx1"/>
                </a:solidFill>
                <a:effectLst/>
                <a:latin typeface="+mn-lt"/>
                <a:ea typeface="+mn-ea"/>
                <a:cs typeface="+mn-cs"/>
              </a:rPr>
              <a:t>SwiftWheel</a:t>
            </a:r>
            <a:r>
              <a:rPr lang="en-US" sz="1200" b="0" i="0" kern="1200" dirty="0">
                <a:solidFill>
                  <a:schemeClr val="tx1"/>
                </a:solidFill>
                <a:effectLst/>
                <a:latin typeface="+mn-lt"/>
                <a:ea typeface="+mn-ea"/>
                <a:cs typeface="+mn-cs"/>
              </a:rPr>
              <a:t> has not yet. On the other hand, </a:t>
            </a:r>
            <a:r>
              <a:rPr lang="en-US" sz="1200" b="0" i="0" kern="1200" dirty="0" err="1">
                <a:solidFill>
                  <a:schemeClr val="tx1"/>
                </a:solidFill>
                <a:effectLst/>
                <a:latin typeface="+mn-lt"/>
                <a:ea typeface="+mn-ea"/>
                <a:cs typeface="+mn-cs"/>
              </a:rPr>
              <a:t>SwiftWheel</a:t>
            </a:r>
            <a:r>
              <a:rPr lang="en-US" sz="1200" b="0" i="0" kern="1200" dirty="0">
                <a:solidFill>
                  <a:schemeClr val="tx1"/>
                </a:solidFill>
                <a:effectLst/>
                <a:latin typeface="+mn-lt"/>
                <a:ea typeface="+mn-ea"/>
                <a:cs typeface="+mn-cs"/>
              </a:rPr>
              <a:t> has a high degree of alignment to the United Kingdom which give it an advantage over adherence to regulatory requirements and  deep comprehension of the local business environment. Accordingly, the specified data capability gap indicate not only a weakness but also an opportunity of transformational change, specifically, as data driven operator become mixed valuable on the market (Statista, 2025).</a:t>
            </a:r>
          </a:p>
        </p:txBody>
      </p:sp>
      <p:sp>
        <p:nvSpPr>
          <p:cNvPr id="4" name="Slide Number Placeholder 3"/>
          <p:cNvSpPr>
            <a:spLocks noGrp="1"/>
          </p:cNvSpPr>
          <p:nvPr>
            <p:ph type="sldNum" sz="quarter" idx="5"/>
          </p:nvPr>
        </p:nvSpPr>
        <p:spPr/>
        <p:txBody>
          <a:bodyPr/>
          <a:lstStyle/>
          <a:p>
            <a:fld id="{01C65AE7-7E6E-41C9-8C2C-ED15EBCDF0AB}" type="slidenum">
              <a:rPr lang="en-IN" smtClean="0"/>
              <a:t>6</a:t>
            </a:fld>
            <a:endParaRPr lang="en-IN"/>
          </a:p>
        </p:txBody>
      </p:sp>
    </p:spTree>
    <p:extLst>
      <p:ext uri="{BB962C8B-B14F-4D97-AF65-F5344CB8AC3E}">
        <p14:creationId xmlns:p14="http://schemas.microsoft.com/office/powerpoint/2010/main" val="2916700298"/>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IN"/>
          </a:p>
        </p:txBody>
      </p:sp>
      <p:sp>
        <p:nvSpPr>
          <p:cNvPr id="3" name="Notes Placeholder 2"/>
          <p:cNvSpPr>
            <a:spLocks noGrp="1"/>
          </p:cNvSpPr>
          <p:nvPr>
            <p:ph type="body" idx="1"/>
          </p:nvPr>
        </p:nvSpPr>
        <p:spPr/>
        <p:txBody>
          <a:bodyPr/>
          <a:lstStyle/>
          <a:p>
            <a:r>
              <a:rPr lang="en-US" sz="1200" b="0" dirty="0"/>
              <a:t>Modern relational database management system (RDBMS) have evolved to support data driven business due to scalability to the cloud, global data replication and 24/7 high availability. Distributed SQL database extend traditional relational paradigm and provide powerful transactional consistency as well as horizontal scaling. Serverless database service also increase the efficiency of operation due to the pay per use model and the hybrid processing of transactions and analytics (HTAP) support </a:t>
            </a:r>
            <a:r>
              <a:rPr lang="en-US" sz="1200" b="0" dirty="0" err="1"/>
              <a:t>realtime</a:t>
            </a:r>
            <a:r>
              <a:rPr lang="en-US" sz="1200" b="0" dirty="0"/>
              <a:t> analytical query to live data sets of transactions. Thus, reducing latency and data duplication.</a:t>
            </a:r>
          </a:p>
          <a:p>
            <a:r>
              <a:rPr lang="en-US" sz="1200" b="0" dirty="0"/>
              <a:t>The implementation of the technology mentioned above has significant benefit in the framework of </a:t>
            </a:r>
            <a:r>
              <a:rPr lang="en-US" sz="1200" b="0" dirty="0" err="1"/>
              <a:t>SwiftWheel</a:t>
            </a:r>
            <a:r>
              <a:rPr lang="en-US" sz="1200" b="0" dirty="0"/>
              <a:t> as it will reduce information technology overhead. Which is estimated to be thirty to forty percent make operation more efficient and provide predictive analytic and dynamic pricing mechanism.</a:t>
            </a:r>
          </a:p>
          <a:p>
            <a:pPr marL="0" marR="0" lvl="0" indent="0" algn="l" defTabSz="914400" rtl="0" eaLnBrk="1" fontAlgn="auto" latinLnBrk="0" hangingPunct="1">
              <a:lnSpc>
                <a:spcPct val="100000"/>
              </a:lnSpc>
              <a:spcBef>
                <a:spcPts val="0"/>
              </a:spcBef>
              <a:spcAft>
                <a:spcPts val="0"/>
              </a:spcAft>
              <a:buClrTx/>
              <a:buSzTx/>
              <a:buFontTx/>
              <a:buNone/>
              <a:tabLst/>
              <a:defRPr/>
            </a:pPr>
            <a:r>
              <a:rPr lang="en-US" sz="1200" b="0" dirty="0"/>
              <a:t>The proposed hybrid design, with distributed SQL processing coupled with a columnar storage to analytic workload will ensure scalability, cost effectiveness, and excellent performance. Such an arrangement help to install the solution nationwide make the shift to capital spending to operational budgets and provide a datacentric database solution that is future proof.</a:t>
            </a:r>
            <a:br>
              <a:rPr lang="en-US" sz="1200" b="0" dirty="0"/>
            </a:br>
            <a:r>
              <a:rPr lang="en-US" dirty="0"/>
              <a:t>Overall, The capability and economic of the database are changed drastically by modern RDBMS technology. Cloud native solution like Amazon Aurora offer automatic maintenance and worldwide distribution which are critical in </a:t>
            </a:r>
            <a:r>
              <a:rPr lang="en-US" dirty="0" err="1"/>
              <a:t>SwiftWheel</a:t>
            </a:r>
            <a:r>
              <a:rPr lang="en-US" dirty="0"/>
              <a:t> multicity activity. Distributed SQL databases, such as Cockroach DB and </a:t>
            </a:r>
            <a:r>
              <a:rPr lang="en-US" dirty="0" err="1"/>
              <a:t>YugabyteDB</a:t>
            </a:r>
            <a:r>
              <a:rPr lang="en-US" dirty="0"/>
              <a:t> provide much more in the way of maintaining data consistency across geographically dispersing location whilst maintaining low latency access. The technologies make it possible to shift the paradigm of data being treated as a cost </a:t>
            </a:r>
            <a:r>
              <a:rPr lang="en-US" dirty="0" err="1"/>
              <a:t>centre</a:t>
            </a:r>
            <a:r>
              <a:rPr lang="en-US" dirty="0"/>
              <a:t> to the role of revenue generator (McKinsey, 2025).</a:t>
            </a:r>
            <a:endParaRPr lang="en-IN" sz="1200" b="0" dirty="0"/>
          </a:p>
        </p:txBody>
      </p:sp>
      <p:sp>
        <p:nvSpPr>
          <p:cNvPr id="4" name="Slide Number Placeholder 3"/>
          <p:cNvSpPr>
            <a:spLocks noGrp="1"/>
          </p:cNvSpPr>
          <p:nvPr>
            <p:ph type="sldNum" sz="quarter" idx="5"/>
          </p:nvPr>
        </p:nvSpPr>
        <p:spPr/>
        <p:txBody>
          <a:bodyPr/>
          <a:lstStyle/>
          <a:p>
            <a:fld id="{01C65AE7-7E6E-41C9-8C2C-ED15EBCDF0AB}" type="slidenum">
              <a:rPr lang="en-IN" smtClean="0"/>
              <a:t>7</a:t>
            </a:fld>
            <a:endParaRPr lang="en-IN"/>
          </a:p>
        </p:txBody>
      </p:sp>
    </p:spTree>
    <p:extLst>
      <p:ext uri="{BB962C8B-B14F-4D97-AF65-F5344CB8AC3E}">
        <p14:creationId xmlns:p14="http://schemas.microsoft.com/office/powerpoint/2010/main" val="3464678700"/>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IN"/>
          </a:p>
        </p:txBody>
      </p:sp>
      <p:sp>
        <p:nvSpPr>
          <p:cNvPr id="3" name="Notes Placeholder 2"/>
          <p:cNvSpPr>
            <a:spLocks noGrp="1"/>
          </p:cNvSpPr>
          <p:nvPr>
            <p:ph type="body" idx="1"/>
          </p:nvPr>
        </p:nvSpPr>
        <p:spPr/>
        <p:txBody>
          <a:bodyPr/>
          <a:lstStyle/>
          <a:p>
            <a:r>
              <a:rPr lang="en-US" dirty="0"/>
              <a:t>There are six major business entities within the system. Users must be registered and personal information is kept in Customers entity. The Scooters entity is a support of fleet resources and includes model, battery, and location data. The Trips entity captures the data of scooter usage including scooter origin, destination, duration, and cost. The Payments entity records amount of transaction, status, and method of payment. The Technicians organization records data about the roles of maintenance staff and activities. The Maintenance Issues unit maintain a record of the scooter fault, technician work and date of completion to maintain reliability of the fleet.</a:t>
            </a:r>
            <a:endParaRPr lang="en-IN" dirty="0"/>
          </a:p>
        </p:txBody>
      </p:sp>
      <p:sp>
        <p:nvSpPr>
          <p:cNvPr id="4" name="Slide Number Placeholder 3"/>
          <p:cNvSpPr>
            <a:spLocks noGrp="1"/>
          </p:cNvSpPr>
          <p:nvPr>
            <p:ph type="sldNum" sz="quarter" idx="5"/>
          </p:nvPr>
        </p:nvSpPr>
        <p:spPr/>
        <p:txBody>
          <a:bodyPr/>
          <a:lstStyle/>
          <a:p>
            <a:fld id="{01C65AE7-7E6E-41C9-8C2C-ED15EBCDF0AB}" type="slidenum">
              <a:rPr lang="en-IN" smtClean="0"/>
              <a:t>8</a:t>
            </a:fld>
            <a:endParaRPr lang="en-IN"/>
          </a:p>
        </p:txBody>
      </p:sp>
    </p:spTree>
    <p:extLst>
      <p:ext uri="{BB962C8B-B14F-4D97-AF65-F5344CB8AC3E}">
        <p14:creationId xmlns:p14="http://schemas.microsoft.com/office/powerpoint/2010/main" val="863246454"/>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IN"/>
          </a:p>
        </p:txBody>
      </p:sp>
      <p:sp>
        <p:nvSpPr>
          <p:cNvPr id="3" name="Notes Placeholder 2"/>
          <p:cNvSpPr>
            <a:spLocks noGrp="1"/>
          </p:cNvSpPr>
          <p:nvPr>
            <p:ph type="body" idx="1"/>
          </p:nvPr>
        </p:nvSpPr>
        <p:spPr/>
        <p:txBody>
          <a:bodyPr/>
          <a:lstStyle/>
          <a:p>
            <a:r>
              <a:rPr lang="en-US" b="0" dirty="0">
                <a:latin typeface="Times New Roman" panose="02020603050405020304" pitchFamily="18" charset="0"/>
                <a:cs typeface="Times New Roman" panose="02020603050405020304" pitchFamily="18" charset="0"/>
              </a:rPr>
              <a:t>The Data Flow Diagram (DFD) that is in the Scooter Rental and Management System provide a high level view of how data flow between external data, internal process and internal data repository. The key external parti, including Customer, Scooter Internet of Things (IoT) device, Technician, and Management have the system boundary and must coordinate the interaction.  </a:t>
            </a:r>
          </a:p>
          <a:p>
            <a:r>
              <a:rPr lang="en-US" b="0" dirty="0">
                <a:latin typeface="Times New Roman" panose="02020603050405020304" pitchFamily="18" charset="0"/>
                <a:cs typeface="Times New Roman" panose="02020603050405020304" pitchFamily="18" charset="0"/>
              </a:rPr>
              <a:t>At the internal level of the system, it focuses on two major process including Process Rental and Generate Report. Process Rental control the validation of requests the processing of payments, the execution of trips and the finalization of transactions and thus produce auditable transactional data. Generate Report consolidate trip, payment and maintenance record to create management report to aid performance monitoring and strategic planning.  </a:t>
            </a:r>
          </a:p>
          <a:p>
            <a:pPr marL="0" marR="0" lvl="0" indent="0" algn="l" defTabSz="914400" rtl="0" eaLnBrk="1" fontAlgn="auto" latinLnBrk="0" hangingPunct="1">
              <a:lnSpc>
                <a:spcPct val="100000"/>
              </a:lnSpc>
              <a:spcBef>
                <a:spcPts val="0"/>
              </a:spcBef>
              <a:spcAft>
                <a:spcPts val="0"/>
              </a:spcAft>
              <a:buClrTx/>
              <a:buSzTx/>
              <a:buFontTx/>
              <a:buNone/>
              <a:tabLst/>
              <a:defRPr/>
            </a:pPr>
            <a:r>
              <a:rPr lang="en-US" b="0" dirty="0">
                <a:latin typeface="Times New Roman" panose="02020603050405020304" pitchFamily="18" charset="0"/>
                <a:cs typeface="Times New Roman" panose="02020603050405020304" pitchFamily="18" charset="0"/>
              </a:rPr>
              <a:t>The system embrace a hybrid data storage system. Trip data is stored in CSV and JSON, payment log are stored using Application Programming Interface (APIs), maintenance records are stored in spreadsheet document and real time scooter location data are collected using IoT stream mechanism over the cloud. </a:t>
            </a:r>
            <a:r>
              <a:rPr lang="en-US" sz="1200" kern="1200" dirty="0">
                <a:solidFill>
                  <a:schemeClr val="tx1"/>
                </a:solidFill>
                <a:effectLst/>
                <a:latin typeface="+mn-lt"/>
                <a:ea typeface="+mn-ea"/>
                <a:cs typeface="+mn-cs"/>
              </a:rPr>
              <a:t>The data flow diagram considered collectively describe not only a modular, data driven architecture that will support real time operation and informed decision making but also reveal the possibility of the further integration of data and automation.</a:t>
            </a:r>
            <a:endParaRPr lang="en-IN" b="0" dirty="0">
              <a:latin typeface="Times New Roman" panose="02020603050405020304" pitchFamily="18" charset="0"/>
              <a:cs typeface="Times New Roman" panose="02020603050405020304" pitchFamily="18" charset="0"/>
            </a:endParaRPr>
          </a:p>
        </p:txBody>
      </p:sp>
      <p:sp>
        <p:nvSpPr>
          <p:cNvPr id="4" name="Slide Number Placeholder 3"/>
          <p:cNvSpPr>
            <a:spLocks noGrp="1"/>
          </p:cNvSpPr>
          <p:nvPr>
            <p:ph type="sldNum" sz="quarter" idx="5"/>
          </p:nvPr>
        </p:nvSpPr>
        <p:spPr/>
        <p:txBody>
          <a:bodyPr/>
          <a:lstStyle/>
          <a:p>
            <a:fld id="{01C65AE7-7E6E-41C9-8C2C-ED15EBCDF0AB}" type="slidenum">
              <a:rPr lang="en-IN" smtClean="0"/>
              <a:t>9</a:t>
            </a:fld>
            <a:endParaRPr lang="en-IN"/>
          </a:p>
        </p:txBody>
      </p:sp>
    </p:spTree>
    <p:extLst>
      <p:ext uri="{BB962C8B-B14F-4D97-AF65-F5344CB8AC3E}">
        <p14:creationId xmlns:p14="http://schemas.microsoft.com/office/powerpoint/2010/main" val="2750141643"/>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IN"/>
          </a:p>
        </p:txBody>
      </p:sp>
      <p:sp>
        <p:nvSpPr>
          <p:cNvPr id="3" name="Notes Placeholder 2"/>
          <p:cNvSpPr>
            <a:spLocks noGrp="1"/>
          </p:cNvSpPr>
          <p:nvPr>
            <p:ph type="body" idx="1"/>
          </p:nvPr>
        </p:nvSpPr>
        <p:spPr/>
        <p:txBody>
          <a:bodyPr/>
          <a:lstStyle/>
          <a:p>
            <a:r>
              <a:rPr lang="en-US" b="0" dirty="0">
                <a:latin typeface="Times New Roman" panose="02020603050405020304" pitchFamily="18" charset="0"/>
                <a:cs typeface="Times New Roman" panose="02020603050405020304" pitchFamily="18" charset="0"/>
              </a:rPr>
              <a:t>The presented Entity Relationship Diagram (ERD) explain a strict conceptual data model of a scooter rental and control system, outlining the main entities, their relevant characteristics and size constraint that are critical to the area. Customer entity is a central node and its primary key is </a:t>
            </a:r>
            <a:r>
              <a:rPr lang="en-US" b="0" dirty="0" err="1">
                <a:latin typeface="Times New Roman" panose="02020603050405020304" pitchFamily="18" charset="0"/>
                <a:cs typeface="Times New Roman" panose="02020603050405020304" pitchFamily="18" charset="0"/>
              </a:rPr>
              <a:t>CustomerID</a:t>
            </a:r>
            <a:r>
              <a:rPr lang="en-US" b="0" dirty="0">
                <a:latin typeface="Times New Roman" panose="02020603050405020304" pitchFamily="18" charset="0"/>
                <a:cs typeface="Times New Roman" panose="02020603050405020304" pitchFamily="18" charset="0"/>
              </a:rPr>
              <a:t>, which is an indicator of demographic and membership details including Name, Email, Membership type and City. Being the center on which transactional data converge, every customer has a one to many relationship with Trip and </a:t>
            </a:r>
            <a:r>
              <a:rPr lang="en-US" b="0" dirty="0" err="1">
                <a:latin typeface="Times New Roman" panose="02020603050405020304" pitchFamily="18" charset="0"/>
                <a:cs typeface="Times New Roman" panose="02020603050405020304" pitchFamily="18" charset="0"/>
              </a:rPr>
              <a:t>Payment.Thus</a:t>
            </a:r>
            <a:r>
              <a:rPr lang="en-US" b="0" dirty="0">
                <a:latin typeface="Times New Roman" panose="02020603050405020304" pitchFamily="18" charset="0"/>
                <a:cs typeface="Times New Roman" panose="02020603050405020304" pitchFamily="18" charset="0"/>
              </a:rPr>
              <a:t> documenting the amount of rentals they have made and the financial transactions they have made.  </a:t>
            </a:r>
          </a:p>
          <a:p>
            <a:r>
              <a:rPr lang="en-US" b="0" dirty="0">
                <a:latin typeface="Times New Roman" panose="02020603050405020304" pitchFamily="18" charset="0"/>
                <a:cs typeface="Times New Roman" panose="02020603050405020304" pitchFamily="18" charset="0"/>
              </a:rPr>
              <a:t>The Trip table is an entity that captures the granular resource of any given rental including </a:t>
            </a:r>
            <a:r>
              <a:rPr lang="en-US" b="0" dirty="0" err="1">
                <a:latin typeface="Times New Roman" panose="02020603050405020304" pitchFamily="18" charset="0"/>
                <a:cs typeface="Times New Roman" panose="02020603050405020304" pitchFamily="18" charset="0"/>
              </a:rPr>
              <a:t>StartTime</a:t>
            </a:r>
            <a:r>
              <a:rPr lang="en-US" b="0" dirty="0">
                <a:latin typeface="Times New Roman" panose="02020603050405020304" pitchFamily="18" charset="0"/>
                <a:cs typeface="Times New Roman" panose="02020603050405020304" pitchFamily="18" charset="0"/>
              </a:rPr>
              <a:t>, </a:t>
            </a:r>
            <a:r>
              <a:rPr lang="en-US" b="0" dirty="0" err="1">
                <a:latin typeface="Times New Roman" panose="02020603050405020304" pitchFamily="18" charset="0"/>
                <a:cs typeface="Times New Roman" panose="02020603050405020304" pitchFamily="18" charset="0"/>
              </a:rPr>
              <a:t>EndTime</a:t>
            </a:r>
            <a:r>
              <a:rPr lang="en-US" b="0" dirty="0">
                <a:latin typeface="Times New Roman" panose="02020603050405020304" pitchFamily="18" charset="0"/>
                <a:cs typeface="Times New Roman" panose="02020603050405020304" pitchFamily="18" charset="0"/>
              </a:rPr>
              <a:t>, Distance traveled, cost, and includes foreign key reference of </a:t>
            </a:r>
            <a:r>
              <a:rPr lang="en-US" b="0" dirty="0" err="1">
                <a:latin typeface="Times New Roman" panose="02020603050405020304" pitchFamily="18" charset="0"/>
                <a:cs typeface="Times New Roman" panose="02020603050405020304" pitchFamily="18" charset="0"/>
              </a:rPr>
              <a:t>CustomerID</a:t>
            </a:r>
            <a:r>
              <a:rPr lang="en-US" b="0" dirty="0">
                <a:latin typeface="Times New Roman" panose="02020603050405020304" pitchFamily="18" charset="0"/>
                <a:cs typeface="Times New Roman" panose="02020603050405020304" pitchFamily="18" charset="0"/>
              </a:rPr>
              <a:t> and </a:t>
            </a:r>
            <a:r>
              <a:rPr lang="en-US" b="0" dirty="0" err="1">
                <a:latin typeface="Times New Roman" panose="02020603050405020304" pitchFamily="18" charset="0"/>
                <a:cs typeface="Times New Roman" panose="02020603050405020304" pitchFamily="18" charset="0"/>
              </a:rPr>
              <a:t>ScooterID</a:t>
            </a:r>
            <a:r>
              <a:rPr lang="en-US" b="0" dirty="0">
                <a:latin typeface="Times New Roman" panose="02020603050405020304" pitchFamily="18" charset="0"/>
                <a:cs typeface="Times New Roman" panose="02020603050405020304" pitchFamily="18" charset="0"/>
              </a:rPr>
              <a:t>. These connections allow exhaustive traceability of both customer and scooter level of the rental </a:t>
            </a:r>
            <a:r>
              <a:rPr lang="en-US" b="0" dirty="0" err="1">
                <a:latin typeface="Times New Roman" panose="02020603050405020304" pitchFamily="18" charset="0"/>
                <a:cs typeface="Times New Roman" panose="02020603050405020304" pitchFamily="18" charset="0"/>
              </a:rPr>
              <a:t>activity.Which</a:t>
            </a:r>
            <a:r>
              <a:rPr lang="en-US" b="0" dirty="0">
                <a:latin typeface="Times New Roman" panose="02020603050405020304" pitchFamily="18" charset="0"/>
                <a:cs typeface="Times New Roman" panose="02020603050405020304" pitchFamily="18" charset="0"/>
              </a:rPr>
              <a:t> contributes to advanced analytics of usage and operation monitoring in the system.  </a:t>
            </a:r>
          </a:p>
          <a:p>
            <a:r>
              <a:rPr lang="en-US" b="0" dirty="0">
                <a:latin typeface="Times New Roman" panose="02020603050405020304" pitchFamily="18" charset="0"/>
                <a:cs typeface="Times New Roman" panose="02020603050405020304" pitchFamily="18" charset="0"/>
              </a:rPr>
              <a:t>The Scooter entity is the collection of assets which are clearly identified by the </a:t>
            </a:r>
            <a:r>
              <a:rPr lang="en-US" b="0" dirty="0" err="1">
                <a:latin typeface="Times New Roman" panose="02020603050405020304" pitchFamily="18" charset="0"/>
                <a:cs typeface="Times New Roman" panose="02020603050405020304" pitchFamily="18" charset="0"/>
              </a:rPr>
              <a:t>ScooterID</a:t>
            </a:r>
            <a:r>
              <a:rPr lang="en-US" b="0" dirty="0">
                <a:latin typeface="Times New Roman" panose="02020603050405020304" pitchFamily="18" charset="0"/>
                <a:cs typeface="Times New Roman" panose="02020603050405020304" pitchFamily="18" charset="0"/>
              </a:rPr>
              <a:t> and have such characteristic as Model, </a:t>
            </a:r>
            <a:r>
              <a:rPr lang="en-US" b="0" dirty="0" err="1">
                <a:latin typeface="Times New Roman" panose="02020603050405020304" pitchFamily="18" charset="0"/>
                <a:cs typeface="Times New Roman" panose="02020603050405020304" pitchFamily="18" charset="0"/>
              </a:rPr>
              <a:t>PurchaseDate</a:t>
            </a:r>
            <a:r>
              <a:rPr lang="en-US" b="0" dirty="0">
                <a:latin typeface="Times New Roman" panose="02020603050405020304" pitchFamily="18" charset="0"/>
                <a:cs typeface="Times New Roman" panose="02020603050405020304" pitchFamily="18" charset="0"/>
              </a:rPr>
              <a:t>, Status the operational state and </a:t>
            </a:r>
            <a:r>
              <a:rPr lang="en-US" b="0" dirty="0" err="1">
                <a:latin typeface="Times New Roman" panose="02020603050405020304" pitchFamily="18" charset="0"/>
                <a:cs typeface="Times New Roman" panose="02020603050405020304" pitchFamily="18" charset="0"/>
              </a:rPr>
              <a:t>CurrentCity</a:t>
            </a:r>
            <a:r>
              <a:rPr lang="en-US" b="0" dirty="0">
                <a:latin typeface="Times New Roman" panose="02020603050405020304" pitchFamily="18" charset="0"/>
                <a:cs typeface="Times New Roman" panose="02020603050405020304" pitchFamily="18" charset="0"/>
              </a:rPr>
              <a:t>, a geographic indicator. In addition to being linked with Trip, the scooter also has one to many relationship with the Maintenance entity, thus supporting the scooter asset life cycle management. Maintenance records store the metadata of interventions including </a:t>
            </a:r>
            <a:r>
              <a:rPr lang="en-US" b="0" dirty="0" err="1">
                <a:latin typeface="Times New Roman" panose="02020603050405020304" pitchFamily="18" charset="0"/>
                <a:cs typeface="Times New Roman" panose="02020603050405020304" pitchFamily="18" charset="0"/>
              </a:rPr>
              <a:t>ReportDate</a:t>
            </a:r>
            <a:r>
              <a:rPr lang="en-US" b="0" dirty="0">
                <a:latin typeface="Times New Roman" panose="02020603050405020304" pitchFamily="18" charset="0"/>
                <a:cs typeface="Times New Roman" panose="02020603050405020304" pitchFamily="18" charset="0"/>
              </a:rPr>
              <a:t>, </a:t>
            </a:r>
            <a:r>
              <a:rPr lang="en-US" b="0" dirty="0" err="1">
                <a:latin typeface="Times New Roman" panose="02020603050405020304" pitchFamily="18" charset="0"/>
                <a:cs typeface="Times New Roman" panose="02020603050405020304" pitchFamily="18" charset="0"/>
              </a:rPr>
              <a:t>IssueDescription</a:t>
            </a:r>
            <a:r>
              <a:rPr lang="en-US" b="0" dirty="0">
                <a:latin typeface="Times New Roman" panose="02020603050405020304" pitchFamily="18" charset="0"/>
                <a:cs typeface="Times New Roman" panose="02020603050405020304" pitchFamily="18" charset="0"/>
              </a:rPr>
              <a:t>, and </a:t>
            </a:r>
            <a:r>
              <a:rPr lang="en-US" b="0" dirty="0" err="1">
                <a:latin typeface="Times New Roman" panose="02020603050405020304" pitchFamily="18" charset="0"/>
                <a:cs typeface="Times New Roman" panose="02020603050405020304" pitchFamily="18" charset="0"/>
              </a:rPr>
              <a:t>CurrentStatus</a:t>
            </a:r>
            <a:r>
              <a:rPr lang="en-US" b="0" dirty="0">
                <a:latin typeface="Times New Roman" panose="02020603050405020304" pitchFamily="18" charset="0"/>
                <a:cs typeface="Times New Roman" panose="02020603050405020304" pitchFamily="18" charset="0"/>
              </a:rPr>
              <a:t>, which contributes to reliability of the assets and offers a sustainable history of services.  </a:t>
            </a:r>
          </a:p>
          <a:p>
            <a:r>
              <a:rPr lang="en-US" b="0" dirty="0">
                <a:latin typeface="Times New Roman" panose="02020603050405020304" pitchFamily="18" charset="0"/>
                <a:cs typeface="Times New Roman" panose="02020603050405020304" pitchFamily="18" charset="0"/>
              </a:rPr>
              <a:t>The Technician entity, which has the TechnicianID, represents the individual in the maintenance work, and the attribute include the Name and City. Technician and Maintenance entities are linked with one to many relationship, therefore, controlling the distribution of manpower and </a:t>
            </a:r>
            <a:r>
              <a:rPr lang="en-US" b="0" dirty="0" err="1">
                <a:latin typeface="Times New Roman" panose="02020603050405020304" pitchFamily="18" charset="0"/>
                <a:cs typeface="Times New Roman" panose="02020603050405020304" pitchFamily="18" charset="0"/>
              </a:rPr>
              <a:t>regulation.Financial</a:t>
            </a:r>
            <a:r>
              <a:rPr lang="en-US" b="0" dirty="0">
                <a:latin typeface="Times New Roman" panose="02020603050405020304" pitchFamily="18" charset="0"/>
                <a:cs typeface="Times New Roman" panose="02020603050405020304" pitchFamily="18" charset="0"/>
              </a:rPr>
              <a:t> transaction which include a great number of them are stored in the Payment entity which refer to the Customer through </a:t>
            </a:r>
            <a:r>
              <a:rPr lang="en-US" b="0" dirty="0" err="1">
                <a:latin typeface="Times New Roman" panose="02020603050405020304" pitchFamily="18" charset="0"/>
                <a:cs typeface="Times New Roman" panose="02020603050405020304" pitchFamily="18" charset="0"/>
              </a:rPr>
              <a:t>CustomerID</a:t>
            </a:r>
            <a:r>
              <a:rPr lang="en-US" b="0" dirty="0">
                <a:latin typeface="Times New Roman" panose="02020603050405020304" pitchFamily="18" charset="0"/>
                <a:cs typeface="Times New Roman" panose="02020603050405020304" pitchFamily="18" charset="0"/>
              </a:rPr>
              <a:t>. Such attributes as Amount, Date, and Status provide full survey and add to the operations of revenue management.  </a:t>
            </a:r>
          </a:p>
          <a:p>
            <a:r>
              <a:rPr lang="en-US" b="0" dirty="0">
                <a:latin typeface="Times New Roman" panose="02020603050405020304" pitchFamily="18" charset="0"/>
                <a:cs typeface="Times New Roman" panose="02020603050405020304" pitchFamily="18" charset="0"/>
              </a:rPr>
              <a:t>Overall, the ERD is a </a:t>
            </a:r>
            <a:r>
              <a:rPr lang="en-US" b="0" dirty="0" err="1">
                <a:latin typeface="Times New Roman" panose="02020603050405020304" pitchFamily="18" charset="0"/>
                <a:cs typeface="Times New Roman" panose="02020603050405020304" pitchFamily="18" charset="0"/>
              </a:rPr>
              <a:t>normalised</a:t>
            </a:r>
            <a:r>
              <a:rPr lang="en-US" b="0" dirty="0">
                <a:latin typeface="Times New Roman" panose="02020603050405020304" pitchFamily="18" charset="0"/>
                <a:cs typeface="Times New Roman" panose="02020603050405020304" pitchFamily="18" charset="0"/>
              </a:rPr>
              <a:t> relational schema which imposes referential integrity by primary key constraint and foreign key constraint to improve data consistency and reduce redundancy. This direct specification of one to many relationship is a reflection of underlying business processes in the scooter rental business and it provides a basis of scalable data management, high performance querying, and built in reporting features that cannot be denied by operational, financial, and maintenance decision support system.</a:t>
            </a:r>
            <a:endParaRPr lang="en-IN" b="0" dirty="0">
              <a:latin typeface="Times New Roman" panose="02020603050405020304" pitchFamily="18" charset="0"/>
              <a:cs typeface="Times New Roman" panose="02020603050405020304" pitchFamily="18" charset="0"/>
            </a:endParaRPr>
          </a:p>
        </p:txBody>
      </p:sp>
      <p:sp>
        <p:nvSpPr>
          <p:cNvPr id="4" name="Slide Number Placeholder 3"/>
          <p:cNvSpPr>
            <a:spLocks noGrp="1"/>
          </p:cNvSpPr>
          <p:nvPr>
            <p:ph type="sldNum" sz="quarter" idx="5"/>
          </p:nvPr>
        </p:nvSpPr>
        <p:spPr/>
        <p:txBody>
          <a:bodyPr/>
          <a:lstStyle/>
          <a:p>
            <a:fld id="{01C65AE7-7E6E-41C9-8C2C-ED15EBCDF0AB}" type="slidenum">
              <a:rPr lang="en-IN" smtClean="0"/>
              <a:t>10</a:t>
            </a:fld>
            <a:endParaRPr lang="en-IN"/>
          </a:p>
        </p:txBody>
      </p:sp>
    </p:spTree>
    <p:extLst>
      <p:ext uri="{BB962C8B-B14F-4D97-AF65-F5344CB8AC3E}">
        <p14:creationId xmlns:p14="http://schemas.microsoft.com/office/powerpoint/2010/main" val="3784333120"/>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IN"/>
          </a:p>
        </p:txBody>
      </p:sp>
      <p:sp>
        <p:nvSpPr>
          <p:cNvPr id="3" name="Notes Placeholder 2"/>
          <p:cNvSpPr>
            <a:spLocks noGrp="1"/>
          </p:cNvSpPr>
          <p:nvPr>
            <p:ph type="body" idx="1"/>
          </p:nvPr>
        </p:nvSpPr>
        <p:spPr/>
        <p:txBody>
          <a:bodyPr/>
          <a:lstStyle/>
          <a:p>
            <a:r>
              <a:rPr lang="en-US" sz="1200" b="0" i="0" kern="1200" dirty="0">
                <a:solidFill>
                  <a:schemeClr val="tx1"/>
                </a:solidFill>
                <a:effectLst/>
                <a:latin typeface="+mn-lt"/>
                <a:ea typeface="+mn-ea"/>
                <a:cs typeface="+mn-cs"/>
              </a:rPr>
              <a:t>This are main tables of customer, scooter and staff. Message in email not are not unnecessary scooter status features like in repair or available.</a:t>
            </a:r>
            <a:br>
              <a:rPr lang="en-US" sz="1200" b="0" i="0" kern="1200" dirty="0">
                <a:solidFill>
                  <a:schemeClr val="tx1"/>
                </a:solidFill>
                <a:effectLst/>
                <a:latin typeface="+mn-lt"/>
                <a:ea typeface="+mn-ea"/>
                <a:cs typeface="+mn-cs"/>
              </a:rPr>
            </a:br>
            <a:br>
              <a:rPr lang="en-US" sz="1200" b="0" i="0" kern="1200" dirty="0">
                <a:solidFill>
                  <a:schemeClr val="tx1"/>
                </a:solidFill>
                <a:effectLst/>
                <a:latin typeface="+mn-lt"/>
                <a:ea typeface="+mn-ea"/>
                <a:cs typeface="+mn-cs"/>
              </a:rPr>
            </a:br>
            <a:endParaRPr lang="en-IN" dirty="0"/>
          </a:p>
        </p:txBody>
      </p:sp>
      <p:sp>
        <p:nvSpPr>
          <p:cNvPr id="4" name="Slide Number Placeholder 3"/>
          <p:cNvSpPr>
            <a:spLocks noGrp="1"/>
          </p:cNvSpPr>
          <p:nvPr>
            <p:ph type="sldNum" sz="quarter" idx="5"/>
          </p:nvPr>
        </p:nvSpPr>
        <p:spPr/>
        <p:txBody>
          <a:bodyPr/>
          <a:lstStyle/>
          <a:p>
            <a:fld id="{01C65AE7-7E6E-41C9-8C2C-ED15EBCDF0AB}" type="slidenum">
              <a:rPr lang="en-IN" smtClean="0"/>
              <a:t>11</a:t>
            </a:fld>
            <a:endParaRPr lang="en-IN"/>
          </a:p>
        </p:txBody>
      </p:sp>
    </p:spTree>
    <p:extLst>
      <p:ext uri="{BB962C8B-B14F-4D97-AF65-F5344CB8AC3E}">
        <p14:creationId xmlns:p14="http://schemas.microsoft.com/office/powerpoint/2010/main" val="2019375008"/>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IN"/>
          </a:p>
        </p:txBody>
      </p:sp>
      <p:sp>
        <p:nvSpPr>
          <p:cNvPr id="3" name="Notes Placeholder 2"/>
          <p:cNvSpPr>
            <a:spLocks noGrp="1"/>
          </p:cNvSpPr>
          <p:nvPr>
            <p:ph type="body" idx="1"/>
          </p:nvPr>
        </p:nvSpPr>
        <p:spPr/>
        <p:txBody>
          <a:bodyPr/>
          <a:lstStyle/>
          <a:p>
            <a:r>
              <a:rPr lang="en-US" sz="1200" b="0" i="0" kern="1200" dirty="0">
                <a:solidFill>
                  <a:schemeClr val="tx1"/>
                </a:solidFill>
                <a:effectLst/>
                <a:latin typeface="+mn-lt"/>
                <a:ea typeface="+mn-ea"/>
                <a:cs typeface="+mn-cs"/>
              </a:rPr>
              <a:t>This table are used to support transitional operation and relational refer Scooters are connected to their customer by trip and payment are connected to the specific trip. Maintenance record follow the activity of technician.</a:t>
            </a:r>
            <a:endParaRPr lang="en-IN" dirty="0"/>
          </a:p>
        </p:txBody>
      </p:sp>
      <p:sp>
        <p:nvSpPr>
          <p:cNvPr id="4" name="Slide Number Placeholder 3"/>
          <p:cNvSpPr>
            <a:spLocks noGrp="1"/>
          </p:cNvSpPr>
          <p:nvPr>
            <p:ph type="sldNum" sz="quarter" idx="5"/>
          </p:nvPr>
        </p:nvSpPr>
        <p:spPr/>
        <p:txBody>
          <a:bodyPr/>
          <a:lstStyle/>
          <a:p>
            <a:fld id="{01C65AE7-7E6E-41C9-8C2C-ED15EBCDF0AB}" type="slidenum">
              <a:rPr lang="en-IN" smtClean="0"/>
              <a:t>12</a:t>
            </a:fld>
            <a:endParaRPr lang="en-IN"/>
          </a:p>
        </p:txBody>
      </p:sp>
    </p:spTree>
    <p:extLst>
      <p:ext uri="{BB962C8B-B14F-4D97-AF65-F5344CB8AC3E}">
        <p14:creationId xmlns:p14="http://schemas.microsoft.com/office/powerpoint/2010/main" val="310481286"/>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IN"/>
          </a:p>
        </p:txBody>
      </p:sp>
      <p:sp>
        <p:nvSpPr>
          <p:cNvPr id="3" name="Notes Placeholder 2"/>
          <p:cNvSpPr>
            <a:spLocks noGrp="1"/>
          </p:cNvSpPr>
          <p:nvPr>
            <p:ph type="body" idx="1"/>
          </p:nvPr>
        </p:nvSpPr>
        <p:spPr/>
        <p:txBody>
          <a:bodyPr/>
          <a:lstStyle/>
          <a:p>
            <a:r>
              <a:rPr lang="en-IN" dirty="0"/>
              <a:t>This data sample data support real analysis across cities, memberships type and staff.</a:t>
            </a:r>
          </a:p>
        </p:txBody>
      </p:sp>
      <p:sp>
        <p:nvSpPr>
          <p:cNvPr id="4" name="Slide Number Placeholder 3"/>
          <p:cNvSpPr>
            <a:spLocks noGrp="1"/>
          </p:cNvSpPr>
          <p:nvPr>
            <p:ph type="sldNum" sz="quarter" idx="5"/>
          </p:nvPr>
        </p:nvSpPr>
        <p:spPr/>
        <p:txBody>
          <a:bodyPr/>
          <a:lstStyle/>
          <a:p>
            <a:fld id="{01C65AE7-7E6E-41C9-8C2C-ED15EBCDF0AB}" type="slidenum">
              <a:rPr lang="en-IN" smtClean="0"/>
              <a:t>13</a:t>
            </a:fld>
            <a:endParaRPr lang="en-IN"/>
          </a:p>
        </p:txBody>
      </p:sp>
    </p:spTree>
    <p:extLst>
      <p:ext uri="{BB962C8B-B14F-4D97-AF65-F5344CB8AC3E}">
        <p14:creationId xmlns:p14="http://schemas.microsoft.com/office/powerpoint/2010/main" val="2770135840"/>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IN"/>
          </a:p>
        </p:txBody>
      </p:sp>
      <p:sp>
        <p:nvSpPr>
          <p:cNvPr id="3" name="Notes Placeholder 2"/>
          <p:cNvSpPr>
            <a:spLocks noGrp="1"/>
          </p:cNvSpPr>
          <p:nvPr>
            <p:ph type="body" idx="1"/>
          </p:nvPr>
        </p:nvSpPr>
        <p:spPr/>
        <p:txBody>
          <a:bodyPr/>
          <a:lstStyle/>
          <a:p>
            <a:r>
              <a:rPr lang="en-US" dirty="0"/>
              <a:t>This slide summarized trip, payment and maintenance logs to reflect the actual scooter sharing activities. The data can be used in multicity analysis and evaluation of operational performance.</a:t>
            </a:r>
            <a:br>
              <a:rPr lang="en-US" dirty="0"/>
            </a:br>
            <a:endParaRPr lang="en-IN" dirty="0"/>
          </a:p>
        </p:txBody>
      </p:sp>
      <p:sp>
        <p:nvSpPr>
          <p:cNvPr id="4" name="Slide Number Placeholder 3"/>
          <p:cNvSpPr>
            <a:spLocks noGrp="1"/>
          </p:cNvSpPr>
          <p:nvPr>
            <p:ph type="sldNum" sz="quarter" idx="5"/>
          </p:nvPr>
        </p:nvSpPr>
        <p:spPr/>
        <p:txBody>
          <a:bodyPr/>
          <a:lstStyle/>
          <a:p>
            <a:fld id="{01C65AE7-7E6E-41C9-8C2C-ED15EBCDF0AB}" type="slidenum">
              <a:rPr lang="en-IN" smtClean="0"/>
              <a:t>14</a:t>
            </a:fld>
            <a:endParaRPr lang="en-IN"/>
          </a:p>
        </p:txBody>
      </p:sp>
    </p:spTree>
    <p:extLst>
      <p:ext uri="{BB962C8B-B14F-4D97-AF65-F5344CB8AC3E}">
        <p14:creationId xmlns:p14="http://schemas.microsoft.com/office/powerpoint/2010/main" val="300136695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IN"/>
          </a:p>
        </p:txBody>
      </p:sp>
      <p:sp>
        <p:nvSpPr>
          <p:cNvPr id="3" name="Notes Placeholder 2"/>
          <p:cNvSpPr>
            <a:spLocks noGrp="1"/>
          </p:cNvSpPr>
          <p:nvPr>
            <p:ph type="body" idx="1"/>
          </p:nvPr>
        </p:nvSpPr>
        <p:spPr/>
        <p:txBody>
          <a:bodyPr/>
          <a:lstStyle/>
          <a:p>
            <a:r>
              <a:rPr lang="en-US" dirty="0"/>
              <a:t>In this business query identify which city has most demand. Well London and Cardiff have highest use and Leeds and </a:t>
            </a:r>
            <a:r>
              <a:rPr lang="en-US" dirty="0">
                <a:latin typeface="Times New Roman" panose="02020603050405020304" pitchFamily="18" charset="0"/>
                <a:cs typeface="Times New Roman" panose="02020603050405020304" pitchFamily="18" charset="0"/>
              </a:rPr>
              <a:t>Edinburgh have less use.</a:t>
            </a:r>
            <a:endParaRPr lang="en-IN" dirty="0"/>
          </a:p>
        </p:txBody>
      </p:sp>
      <p:sp>
        <p:nvSpPr>
          <p:cNvPr id="4" name="Slide Number Placeholder 3"/>
          <p:cNvSpPr>
            <a:spLocks noGrp="1"/>
          </p:cNvSpPr>
          <p:nvPr>
            <p:ph type="sldNum" sz="quarter" idx="5"/>
          </p:nvPr>
        </p:nvSpPr>
        <p:spPr/>
        <p:txBody>
          <a:bodyPr/>
          <a:lstStyle/>
          <a:p>
            <a:fld id="{01C65AE7-7E6E-41C9-8C2C-ED15EBCDF0AB}" type="slidenum">
              <a:rPr lang="en-IN" smtClean="0"/>
              <a:t>15</a:t>
            </a:fld>
            <a:endParaRPr lang="en-IN"/>
          </a:p>
        </p:txBody>
      </p:sp>
    </p:spTree>
    <p:extLst>
      <p:ext uri="{BB962C8B-B14F-4D97-AF65-F5344CB8AC3E}">
        <p14:creationId xmlns:p14="http://schemas.microsoft.com/office/powerpoint/2010/main" val="1746058783"/>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IN"/>
          </a:p>
        </p:txBody>
      </p:sp>
      <p:sp>
        <p:nvSpPr>
          <p:cNvPr id="3" name="Notes Placeholder 2"/>
          <p:cNvSpPr>
            <a:spLocks noGrp="1"/>
          </p:cNvSpPr>
          <p:nvPr>
            <p:ph type="body" idx="1"/>
          </p:nvPr>
        </p:nvSpPr>
        <p:spPr/>
        <p:txBody>
          <a:bodyPr/>
          <a:lstStyle/>
          <a:p>
            <a:r>
              <a:rPr lang="en-IN" dirty="0"/>
              <a:t>In this slide show that</a:t>
            </a:r>
            <a:r>
              <a:rPr lang="en-US" dirty="0"/>
              <a:t> Marcus Thor and Titan Williams had completed three and one job respectively and then the cohort was followed by Alice Hender who completed two jobs. The other members of the staff recorded zero number of jobs completed within the period of observation. The membership levels, Gold members had the short average trip time of about 13.75 minutes, then there were Standard members with an average trip time of about 15.75 minutes and finally there were Basic members whose time spent on an average trip was 20.00 minutes.</a:t>
            </a:r>
            <a:endParaRPr lang="en-IN" dirty="0"/>
          </a:p>
        </p:txBody>
      </p:sp>
      <p:sp>
        <p:nvSpPr>
          <p:cNvPr id="4" name="Slide Number Placeholder 3"/>
          <p:cNvSpPr>
            <a:spLocks noGrp="1"/>
          </p:cNvSpPr>
          <p:nvPr>
            <p:ph type="sldNum" sz="quarter" idx="5"/>
          </p:nvPr>
        </p:nvSpPr>
        <p:spPr/>
        <p:txBody>
          <a:bodyPr/>
          <a:lstStyle/>
          <a:p>
            <a:fld id="{01C65AE7-7E6E-41C9-8C2C-ED15EBCDF0AB}" type="slidenum">
              <a:rPr lang="en-IN" smtClean="0"/>
              <a:t>16</a:t>
            </a:fld>
            <a:endParaRPr lang="en-IN"/>
          </a:p>
        </p:txBody>
      </p:sp>
    </p:spTree>
    <p:extLst>
      <p:ext uri="{BB962C8B-B14F-4D97-AF65-F5344CB8AC3E}">
        <p14:creationId xmlns:p14="http://schemas.microsoft.com/office/powerpoint/2010/main" val="319421740"/>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IN"/>
          </a:p>
        </p:txBody>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IN" sz="1200" dirty="0">
                <a:latin typeface="Times New Roman" panose="02020603050405020304" pitchFamily="18" charset="0"/>
                <a:cs typeface="Times New Roman" panose="02020603050405020304" pitchFamily="18" charset="0"/>
              </a:rPr>
              <a:t>In this slide Overdue payment customer is Young Lee and Holly Ling Both have overdue payment is 4.20 and 2.10 pound. However, Most used model is X1 and apparat from that A2 and Z3 is most used model of </a:t>
            </a:r>
            <a:r>
              <a:rPr lang="en-US" sz="1200" dirty="0" err="1">
                <a:latin typeface="Times New Roman" panose="02020603050405020304" pitchFamily="18" charset="0"/>
                <a:cs typeface="Times New Roman" panose="02020603050405020304" pitchFamily="18" charset="0"/>
              </a:rPr>
              <a:t>SwiftWheel</a:t>
            </a:r>
            <a:r>
              <a:rPr lang="en-US" sz="1200" dirty="0">
                <a:latin typeface="Times New Roman" panose="02020603050405020304" pitchFamily="18" charset="0"/>
                <a:cs typeface="Times New Roman" panose="02020603050405020304" pitchFamily="18" charset="0"/>
              </a:rPr>
              <a:t>.</a:t>
            </a:r>
            <a:endParaRPr lang="en-IN" sz="1200" dirty="0">
              <a:latin typeface="Times New Roman" panose="02020603050405020304" pitchFamily="18" charset="0"/>
              <a:cs typeface="Times New Roman" panose="02020603050405020304" pitchFamily="18" charset="0"/>
            </a:endParaRPr>
          </a:p>
          <a:p>
            <a:endParaRPr lang="en-IN" dirty="0"/>
          </a:p>
        </p:txBody>
      </p:sp>
      <p:sp>
        <p:nvSpPr>
          <p:cNvPr id="4" name="Slide Number Placeholder 3"/>
          <p:cNvSpPr>
            <a:spLocks noGrp="1"/>
          </p:cNvSpPr>
          <p:nvPr>
            <p:ph type="sldNum" sz="quarter" idx="5"/>
          </p:nvPr>
        </p:nvSpPr>
        <p:spPr/>
        <p:txBody>
          <a:bodyPr/>
          <a:lstStyle/>
          <a:p>
            <a:fld id="{01C65AE7-7E6E-41C9-8C2C-ED15EBCDF0AB}" type="slidenum">
              <a:rPr lang="en-IN" smtClean="0"/>
              <a:t>17</a:t>
            </a:fld>
            <a:endParaRPr lang="en-IN"/>
          </a:p>
        </p:txBody>
      </p:sp>
    </p:spTree>
    <p:extLst>
      <p:ext uri="{BB962C8B-B14F-4D97-AF65-F5344CB8AC3E}">
        <p14:creationId xmlns:p14="http://schemas.microsoft.com/office/powerpoint/2010/main" val="4204872687"/>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IN"/>
          </a:p>
        </p:txBody>
      </p:sp>
      <p:sp>
        <p:nvSpPr>
          <p:cNvPr id="3" name="Notes Placeholder 2"/>
          <p:cNvSpPr>
            <a:spLocks noGrp="1"/>
          </p:cNvSpPr>
          <p:nvPr>
            <p:ph type="body" idx="1"/>
          </p:nvPr>
        </p:nvSpPr>
        <p:spPr/>
        <p:txBody>
          <a:bodyPr/>
          <a:lstStyle/>
          <a:p>
            <a:r>
              <a:rPr lang="en-US" dirty="0"/>
              <a:t>This slide involve performance enhancement through the lessening of the collection process. KPI that are backed by monthly revenue table are the dashboard and operational KPI.</a:t>
            </a:r>
            <a:endParaRPr lang="en-IN" dirty="0"/>
          </a:p>
        </p:txBody>
      </p:sp>
      <p:sp>
        <p:nvSpPr>
          <p:cNvPr id="4" name="Slide Number Placeholder 3"/>
          <p:cNvSpPr>
            <a:spLocks noGrp="1"/>
          </p:cNvSpPr>
          <p:nvPr>
            <p:ph type="sldNum" sz="quarter" idx="5"/>
          </p:nvPr>
        </p:nvSpPr>
        <p:spPr/>
        <p:txBody>
          <a:bodyPr/>
          <a:lstStyle/>
          <a:p>
            <a:fld id="{01C65AE7-7E6E-41C9-8C2C-ED15EBCDF0AB}" type="slidenum">
              <a:rPr lang="en-IN" smtClean="0"/>
              <a:t>18</a:t>
            </a:fld>
            <a:endParaRPr lang="en-IN"/>
          </a:p>
        </p:txBody>
      </p:sp>
    </p:spTree>
    <p:extLst>
      <p:ext uri="{BB962C8B-B14F-4D97-AF65-F5344CB8AC3E}">
        <p14:creationId xmlns:p14="http://schemas.microsoft.com/office/powerpoint/2010/main" val="1615291235"/>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IN"/>
          </a:p>
        </p:txBody>
      </p:sp>
      <p:sp>
        <p:nvSpPr>
          <p:cNvPr id="3" name="Notes Placeholder 2"/>
          <p:cNvSpPr>
            <a:spLocks noGrp="1"/>
          </p:cNvSpPr>
          <p:nvPr>
            <p:ph type="body" idx="1"/>
          </p:nvPr>
        </p:nvSpPr>
        <p:spPr/>
        <p:txBody>
          <a:bodyPr/>
          <a:lstStyle/>
          <a:p>
            <a:r>
              <a:rPr lang="en-US" dirty="0"/>
              <a:t>Data analysis using the technology review shows that, the use of Python Pandas is better suited to complex transformations of data because of its rich Application Programming Interface (API) and integration with the Python ecosystem, while AWS Glue has superior capabilities in data integration, orchestration and scalable computing using serverless Spark. Regarding </a:t>
            </a:r>
            <a:r>
              <a:rPr lang="en-US" dirty="0" err="1"/>
              <a:t>SwiftWheel's</a:t>
            </a:r>
            <a:r>
              <a:rPr lang="en-US" dirty="0"/>
              <a:t> requirements, Pandas can meet the need for advanced customer segmentation and fleet optimization algorithm processing, while AWS Glue will address the problem of integrating data from multiple source systems. This complementary relationship between Pandas and AWS Glue makes it clear that there should be an integrated solution developed, rather than one or the other being chosen exclusively, consistent with current data architecture design patterns (Coherent Solutions, 2025).</a:t>
            </a:r>
            <a:endParaRPr lang="en-IN" dirty="0"/>
          </a:p>
        </p:txBody>
      </p:sp>
      <p:sp>
        <p:nvSpPr>
          <p:cNvPr id="4" name="Slide Number Placeholder 3"/>
          <p:cNvSpPr>
            <a:spLocks noGrp="1"/>
          </p:cNvSpPr>
          <p:nvPr>
            <p:ph type="sldNum" sz="quarter" idx="5"/>
          </p:nvPr>
        </p:nvSpPr>
        <p:spPr/>
        <p:txBody>
          <a:bodyPr/>
          <a:lstStyle/>
          <a:p>
            <a:fld id="{01C65AE7-7E6E-41C9-8C2C-ED15EBCDF0AB}" type="slidenum">
              <a:rPr lang="en-IN" smtClean="0"/>
              <a:t>19</a:t>
            </a:fld>
            <a:endParaRPr lang="en-IN"/>
          </a:p>
        </p:txBody>
      </p:sp>
    </p:spTree>
    <p:extLst>
      <p:ext uri="{BB962C8B-B14F-4D97-AF65-F5344CB8AC3E}">
        <p14:creationId xmlns:p14="http://schemas.microsoft.com/office/powerpoint/2010/main" val="3170383758"/>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IN"/>
          </a:p>
        </p:txBody>
      </p:sp>
      <p:sp>
        <p:nvSpPr>
          <p:cNvPr id="3" name="Notes Placeholder 2"/>
          <p:cNvSpPr>
            <a:spLocks noGrp="1"/>
          </p:cNvSpPr>
          <p:nvPr>
            <p:ph type="body" idx="1"/>
          </p:nvPr>
        </p:nvSpPr>
        <p:spPr/>
        <p:txBody>
          <a:bodyPr/>
          <a:lstStyle/>
          <a:p>
            <a:r>
              <a:rPr lang="en-US" dirty="0"/>
              <a:t>The suggested hybrid architecture uses AWS Glue because it offers features of data integration, cataloguing and server less coordination and Python Pandas is used as a part of Glue jobs or a single containerized infrastructure to perform complex transformation. Such methodology is based on the principle of the right tool in the right job and it is acknowledged that there is no single technology that can good meet all the data processing requirement in modern architectures (</a:t>
            </a:r>
            <a:r>
              <a:rPr lang="en-US" dirty="0" err="1"/>
              <a:t>Rivery</a:t>
            </a:r>
            <a:r>
              <a:rPr lang="en-US" dirty="0"/>
              <a:t>, 2025). The staged implementation ease complexity but create incremental value, where Phase 1 is aimed at improving the most urgent challenge faced by </a:t>
            </a:r>
            <a:r>
              <a:rPr lang="en-US" dirty="0" err="1"/>
              <a:t>SwiftWheel</a:t>
            </a:r>
            <a:r>
              <a:rPr lang="en-US" dirty="0"/>
              <a:t>, which is fractured data sources.	</a:t>
            </a:r>
            <a:endParaRPr lang="en-IN" dirty="0"/>
          </a:p>
        </p:txBody>
      </p:sp>
      <p:sp>
        <p:nvSpPr>
          <p:cNvPr id="4" name="Slide Number Placeholder 3"/>
          <p:cNvSpPr>
            <a:spLocks noGrp="1"/>
          </p:cNvSpPr>
          <p:nvPr>
            <p:ph type="sldNum" sz="quarter" idx="5"/>
          </p:nvPr>
        </p:nvSpPr>
        <p:spPr/>
        <p:txBody>
          <a:bodyPr/>
          <a:lstStyle/>
          <a:p>
            <a:fld id="{01C65AE7-7E6E-41C9-8C2C-ED15EBCDF0AB}" type="slidenum">
              <a:rPr lang="en-IN" smtClean="0"/>
              <a:t>20</a:t>
            </a:fld>
            <a:endParaRPr lang="en-IN"/>
          </a:p>
        </p:txBody>
      </p:sp>
    </p:spTree>
    <p:extLst>
      <p:ext uri="{BB962C8B-B14F-4D97-AF65-F5344CB8AC3E}">
        <p14:creationId xmlns:p14="http://schemas.microsoft.com/office/powerpoint/2010/main" val="2238877347"/>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IN"/>
          </a:p>
        </p:txBody>
      </p:sp>
      <p:sp>
        <p:nvSpPr>
          <p:cNvPr id="3" name="Notes Placeholder 2"/>
          <p:cNvSpPr>
            <a:spLocks noGrp="1"/>
          </p:cNvSpPr>
          <p:nvPr>
            <p:ph type="body" idx="1"/>
          </p:nvPr>
        </p:nvSpPr>
        <p:spPr/>
        <p:txBody>
          <a:bodyPr/>
          <a:lstStyle/>
          <a:p>
            <a:r>
              <a:rPr lang="en-US" sz="1200" b="0" i="0" kern="1200" dirty="0">
                <a:solidFill>
                  <a:schemeClr val="tx1"/>
                </a:solidFill>
                <a:effectLst/>
                <a:latin typeface="+mn-lt"/>
                <a:ea typeface="+mn-ea"/>
                <a:cs typeface="+mn-cs"/>
              </a:rPr>
              <a:t>This Python bases implementation is used raw data into helpful customer lifetime value system. By categorizing the user into High, Medium and Low value group based on aggregate spending and frequency. The organization move towards a one size fits all approach to one that is based on the Marketing Efficiency model. This Python script allow creating high ROI, individualized loyalty program in the highest value segment (whales) and simultaneously using </a:t>
            </a:r>
            <a:r>
              <a:rPr lang="en-US" sz="1200" b="0" i="0" kern="1200" dirty="0" err="1">
                <a:solidFill>
                  <a:schemeClr val="tx1"/>
                </a:solidFill>
                <a:effectLst/>
                <a:latin typeface="+mn-lt"/>
                <a:ea typeface="+mn-ea"/>
                <a:cs typeface="+mn-cs"/>
              </a:rPr>
              <a:t>lowcost</a:t>
            </a:r>
            <a:r>
              <a:rPr lang="en-US" sz="1200" b="0" i="0" kern="1200" dirty="0">
                <a:solidFill>
                  <a:schemeClr val="tx1"/>
                </a:solidFill>
                <a:effectLst/>
                <a:latin typeface="+mn-lt"/>
                <a:ea typeface="+mn-ea"/>
                <a:cs typeface="+mn-cs"/>
              </a:rPr>
              <a:t> automation mechanism to serve the lower value segment. The key business impact is an informative approach toward Retention and Growth. By identifying the best customer, the business will be able to implement proactive mitigation of churn, e.g. preferential treatment or special privileges. Besides, the methodology identifies users of the Medium Value category as the best to be targeted to focus on precision upselling and therefore make marketing resources to be focused on areas with the highest potential rewards, instead of wasting resources on accounts that have minimal impact.</a:t>
            </a:r>
            <a:endParaRPr lang="en-IN" dirty="0"/>
          </a:p>
        </p:txBody>
      </p:sp>
      <p:sp>
        <p:nvSpPr>
          <p:cNvPr id="4" name="Slide Number Placeholder 3"/>
          <p:cNvSpPr>
            <a:spLocks noGrp="1"/>
          </p:cNvSpPr>
          <p:nvPr>
            <p:ph type="sldNum" sz="quarter" idx="5"/>
          </p:nvPr>
        </p:nvSpPr>
        <p:spPr/>
        <p:txBody>
          <a:bodyPr/>
          <a:lstStyle/>
          <a:p>
            <a:fld id="{01C65AE7-7E6E-41C9-8C2C-ED15EBCDF0AB}" type="slidenum">
              <a:rPr lang="en-IN" smtClean="0"/>
              <a:t>21</a:t>
            </a:fld>
            <a:endParaRPr lang="en-IN"/>
          </a:p>
        </p:txBody>
      </p:sp>
    </p:spTree>
    <p:extLst>
      <p:ext uri="{BB962C8B-B14F-4D97-AF65-F5344CB8AC3E}">
        <p14:creationId xmlns:p14="http://schemas.microsoft.com/office/powerpoint/2010/main" val="2398744076"/>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IN"/>
          </a:p>
        </p:txBody>
      </p:sp>
      <p:sp>
        <p:nvSpPr>
          <p:cNvPr id="3" name="Notes Placeholder 2"/>
          <p:cNvSpPr>
            <a:spLocks noGrp="1"/>
          </p:cNvSpPr>
          <p:nvPr>
            <p:ph type="body" idx="1"/>
          </p:nvPr>
        </p:nvSpPr>
        <p:spPr/>
        <p:txBody>
          <a:bodyPr/>
          <a:lstStyle/>
          <a:p>
            <a:r>
              <a:rPr lang="en-US" sz="1200" b="0" i="0" kern="1200" dirty="0">
                <a:solidFill>
                  <a:schemeClr val="tx1"/>
                </a:solidFill>
                <a:effectLst/>
                <a:latin typeface="+mn-lt"/>
                <a:ea typeface="+mn-ea"/>
                <a:cs typeface="+mn-cs"/>
              </a:rPr>
              <a:t>The Harvard referencing style is used throughout the paper and the source are divided by type (industry reports, technical guides, market research). Every reference justifies certain assertions in the presentation especially on the market trends, technology potentials and implementation plans. The sources show that it has been interacting with the contemporary industry thinking and has given authoritative backing to recommendations.</a:t>
            </a:r>
            <a:endParaRPr lang="en-IN" dirty="0"/>
          </a:p>
        </p:txBody>
      </p:sp>
      <p:sp>
        <p:nvSpPr>
          <p:cNvPr id="4" name="Slide Number Placeholder 3"/>
          <p:cNvSpPr>
            <a:spLocks noGrp="1"/>
          </p:cNvSpPr>
          <p:nvPr>
            <p:ph type="sldNum" sz="quarter" idx="5"/>
          </p:nvPr>
        </p:nvSpPr>
        <p:spPr/>
        <p:txBody>
          <a:bodyPr/>
          <a:lstStyle/>
          <a:p>
            <a:fld id="{01C65AE7-7E6E-41C9-8C2C-ED15EBCDF0AB}" type="slidenum">
              <a:rPr lang="en-IN" smtClean="0"/>
              <a:t>22</a:t>
            </a:fld>
            <a:endParaRPr lang="en-IN"/>
          </a:p>
        </p:txBody>
      </p:sp>
    </p:spTree>
    <p:extLst>
      <p:ext uri="{BB962C8B-B14F-4D97-AF65-F5344CB8AC3E}">
        <p14:creationId xmlns:p14="http://schemas.microsoft.com/office/powerpoint/2010/main" val="3877589085"/>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IN"/>
          </a:p>
        </p:txBody>
      </p:sp>
      <p:sp>
        <p:nvSpPr>
          <p:cNvPr id="3" name="Notes Placeholder 2"/>
          <p:cNvSpPr>
            <a:spLocks noGrp="1"/>
          </p:cNvSpPr>
          <p:nvPr>
            <p:ph type="body" idx="1"/>
          </p:nvPr>
        </p:nvSpPr>
        <p:spPr/>
        <p:txBody>
          <a:bodyPr/>
          <a:lstStyle/>
          <a:p>
            <a:r>
              <a:rPr lang="en-US" dirty="0"/>
              <a:t>This implementation is also in the appendix, both in SQL and Python Pandas transformation code. The Python code is a tangible execution of the transformation logic that was defined in Task 3 that shows how the Pandas would clean up, transform, and analyze the data at </a:t>
            </a:r>
            <a:r>
              <a:rPr lang="en-US" dirty="0" err="1"/>
              <a:t>SwiftWheel</a:t>
            </a:r>
            <a:r>
              <a:rPr lang="en-US" dirty="0"/>
              <a:t>. The complete files would be handed along with this presentation to provide executable implementations.</a:t>
            </a:r>
            <a:endParaRPr lang="en-IN" dirty="0"/>
          </a:p>
        </p:txBody>
      </p:sp>
      <p:sp>
        <p:nvSpPr>
          <p:cNvPr id="4" name="Slide Number Placeholder 3"/>
          <p:cNvSpPr>
            <a:spLocks noGrp="1"/>
          </p:cNvSpPr>
          <p:nvPr>
            <p:ph type="sldNum" sz="quarter" idx="5"/>
          </p:nvPr>
        </p:nvSpPr>
        <p:spPr/>
        <p:txBody>
          <a:bodyPr/>
          <a:lstStyle/>
          <a:p>
            <a:fld id="{01C65AE7-7E6E-41C9-8C2C-ED15EBCDF0AB}" type="slidenum">
              <a:rPr lang="en-IN" smtClean="0"/>
              <a:t>23</a:t>
            </a:fld>
            <a:endParaRPr lang="en-IN"/>
          </a:p>
        </p:txBody>
      </p:sp>
    </p:spTree>
    <p:extLst>
      <p:ext uri="{BB962C8B-B14F-4D97-AF65-F5344CB8AC3E}">
        <p14:creationId xmlns:p14="http://schemas.microsoft.com/office/powerpoint/2010/main" val="2468028132"/>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pic>
        <p:nvPicPr>
          <p:cNvPr id="7" name="Picture 6" descr="HD-ShadowLong.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 y="4242851"/>
            <a:ext cx="8968084" cy="275942"/>
          </a:xfrm>
          <a:prstGeom prst="rect">
            <a:avLst/>
          </a:prstGeom>
        </p:spPr>
      </p:pic>
      <p:pic>
        <p:nvPicPr>
          <p:cNvPr id="8" name="Picture 7" descr="HD-ShadowShort.png"/>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111716" y="4243845"/>
            <a:ext cx="3077108" cy="276940"/>
          </a:xfrm>
          <a:prstGeom prst="rect">
            <a:avLst/>
          </a:prstGeom>
        </p:spPr>
      </p:pic>
      <p:sp>
        <p:nvSpPr>
          <p:cNvPr id="9" name="Rectangle 8"/>
          <p:cNvSpPr/>
          <p:nvPr/>
        </p:nvSpPr>
        <p:spPr bwMode="ltGray">
          <a:xfrm>
            <a:off x="0" y="2590078"/>
            <a:ext cx="8968085" cy="1660332"/>
          </a:xfrm>
          <a:prstGeom prst="rect">
            <a:avLst/>
          </a:prstGeom>
          <a:solidFill>
            <a:schemeClr val="bg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IN"/>
          </a:p>
        </p:txBody>
      </p:sp>
      <p:sp>
        <p:nvSpPr>
          <p:cNvPr id="10" name="Rectangle 9"/>
          <p:cNvSpPr/>
          <p:nvPr/>
        </p:nvSpPr>
        <p:spPr>
          <a:xfrm>
            <a:off x="9111715" y="2590078"/>
            <a:ext cx="3077109" cy="1660332"/>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IN"/>
          </a:p>
        </p:txBody>
      </p:sp>
      <p:sp>
        <p:nvSpPr>
          <p:cNvPr id="2" name="Title 1"/>
          <p:cNvSpPr>
            <a:spLocks noGrp="1"/>
          </p:cNvSpPr>
          <p:nvPr>
            <p:ph type="ctrTitle"/>
          </p:nvPr>
        </p:nvSpPr>
        <p:spPr>
          <a:xfrm>
            <a:off x="680322" y="2733709"/>
            <a:ext cx="8144134" cy="1373070"/>
          </a:xfrm>
        </p:spPr>
        <p:txBody>
          <a:bodyPr anchor="b">
            <a:noAutofit/>
          </a:bodyPr>
          <a:lstStyle>
            <a:lvl1pPr algn="r">
              <a:defRPr sz="5400"/>
            </a:lvl1pPr>
          </a:lstStyle>
          <a:p>
            <a:r>
              <a:rPr lang="en-US"/>
              <a:t>Click to edit Master title style</a:t>
            </a:r>
            <a:endParaRPr lang="en-US" dirty="0"/>
          </a:p>
        </p:txBody>
      </p:sp>
      <p:sp>
        <p:nvSpPr>
          <p:cNvPr id="3" name="Subtitle 2"/>
          <p:cNvSpPr>
            <a:spLocks noGrp="1"/>
          </p:cNvSpPr>
          <p:nvPr>
            <p:ph type="subTitle" idx="1"/>
          </p:nvPr>
        </p:nvSpPr>
        <p:spPr>
          <a:xfrm>
            <a:off x="680322" y="4394039"/>
            <a:ext cx="8144134" cy="1117687"/>
          </a:xfrm>
        </p:spPr>
        <p:txBody>
          <a:bodyPr>
            <a:normAutofit/>
          </a:bodyPr>
          <a:lstStyle>
            <a:lvl1pPr marL="0" indent="0" algn="r">
              <a:buNone/>
              <a:defRPr sz="20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3CC13380-9748-4652-9032-5612F4CA0E48}" type="datetimeFigureOut">
              <a:rPr lang="en-IN" smtClean="0"/>
              <a:t>28-01-2026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a:xfrm>
            <a:off x="9255346" y="2750337"/>
            <a:ext cx="1171888" cy="1356442"/>
          </a:xfrm>
        </p:spPr>
        <p:txBody>
          <a:bodyPr/>
          <a:lstStyle/>
          <a:p>
            <a:fld id="{43024221-E973-44AC-B32E-B489B21B5E01}" type="slidenum">
              <a:rPr lang="en-IN" smtClean="0"/>
              <a:t>‹#›</a:t>
            </a:fld>
            <a:endParaRPr lang="en-IN"/>
          </a:p>
        </p:txBody>
      </p:sp>
    </p:spTree>
    <p:extLst>
      <p:ext uri="{BB962C8B-B14F-4D97-AF65-F5344CB8AC3E}">
        <p14:creationId xmlns:p14="http://schemas.microsoft.com/office/powerpoint/2010/main" val="100285416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pic>
        <p:nvPicPr>
          <p:cNvPr id="15" name="Picture 14" descr="HD-ShadowLong.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 y="1970240"/>
            <a:ext cx="10437812" cy="321164"/>
          </a:xfrm>
          <a:prstGeom prst="rect">
            <a:avLst/>
          </a:prstGeom>
        </p:spPr>
      </p:pic>
      <p:pic>
        <p:nvPicPr>
          <p:cNvPr id="16" name="Picture 15" descr="HD-ShadowShort.png"/>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585826" y="1971234"/>
            <a:ext cx="1602997" cy="144270"/>
          </a:xfrm>
          <a:prstGeom prst="rect">
            <a:avLst/>
          </a:prstGeom>
        </p:spPr>
      </p:pic>
      <p:sp>
        <p:nvSpPr>
          <p:cNvPr id="17" name="Rectangle 16"/>
          <p:cNvSpPr/>
          <p:nvPr/>
        </p:nvSpPr>
        <p:spPr bwMode="ltGray">
          <a:xfrm>
            <a:off x="0" y="609600"/>
            <a:ext cx="10437812" cy="1368198"/>
          </a:xfrm>
          <a:prstGeom prst="rect">
            <a:avLst/>
          </a:prstGeom>
          <a:solidFill>
            <a:schemeClr val="bg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IN"/>
          </a:p>
        </p:txBody>
      </p:sp>
      <p:sp>
        <p:nvSpPr>
          <p:cNvPr id="18" name="Rectangle 17"/>
          <p:cNvSpPr/>
          <p:nvPr/>
        </p:nvSpPr>
        <p:spPr>
          <a:xfrm>
            <a:off x="10585827" y="609600"/>
            <a:ext cx="1602997" cy="136819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IN"/>
          </a:p>
        </p:txBody>
      </p:sp>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3CC13380-9748-4652-9032-5612F4CA0E48}" type="datetimeFigureOut">
              <a:rPr lang="en-IN" smtClean="0"/>
              <a:t>28-01-2026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43024221-E973-44AC-B32E-B489B21B5E01}" type="slidenum">
              <a:rPr lang="en-IN" smtClean="0"/>
              <a:t>‹#›</a:t>
            </a:fld>
            <a:endParaRPr lang="en-IN"/>
          </a:p>
        </p:txBody>
      </p:sp>
    </p:spTree>
    <p:extLst>
      <p:ext uri="{BB962C8B-B14F-4D97-AF65-F5344CB8AC3E}">
        <p14:creationId xmlns:p14="http://schemas.microsoft.com/office/powerpoint/2010/main" val="127629627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pic>
        <p:nvPicPr>
          <p:cNvPr id="7" name="Picture 6" descr="HD-ShadowLong.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 y="4086907"/>
            <a:ext cx="10437812" cy="321164"/>
          </a:xfrm>
          <a:prstGeom prst="rect">
            <a:avLst/>
          </a:prstGeom>
        </p:spPr>
      </p:pic>
      <p:pic>
        <p:nvPicPr>
          <p:cNvPr id="8" name="Picture 7" descr="HD-ShadowShort.png"/>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585824" y="4087901"/>
            <a:ext cx="1602997" cy="144270"/>
          </a:xfrm>
          <a:prstGeom prst="rect">
            <a:avLst/>
          </a:prstGeom>
        </p:spPr>
      </p:pic>
      <p:sp>
        <p:nvSpPr>
          <p:cNvPr id="9" name="Rectangle 8"/>
          <p:cNvSpPr/>
          <p:nvPr/>
        </p:nvSpPr>
        <p:spPr bwMode="ltGray">
          <a:xfrm>
            <a:off x="-2" y="2726267"/>
            <a:ext cx="10437812" cy="1368198"/>
          </a:xfrm>
          <a:prstGeom prst="rect">
            <a:avLst/>
          </a:prstGeom>
          <a:solidFill>
            <a:schemeClr val="bg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IN"/>
          </a:p>
        </p:txBody>
      </p:sp>
      <p:sp>
        <p:nvSpPr>
          <p:cNvPr id="10" name="Rectangle 9"/>
          <p:cNvSpPr/>
          <p:nvPr/>
        </p:nvSpPr>
        <p:spPr>
          <a:xfrm>
            <a:off x="10585825" y="2726267"/>
            <a:ext cx="1602997" cy="136819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IN"/>
          </a:p>
        </p:txBody>
      </p:sp>
      <p:sp>
        <p:nvSpPr>
          <p:cNvPr id="2" name="Title 1"/>
          <p:cNvSpPr>
            <a:spLocks noGrp="1"/>
          </p:cNvSpPr>
          <p:nvPr>
            <p:ph type="title"/>
          </p:nvPr>
        </p:nvSpPr>
        <p:spPr>
          <a:xfrm>
            <a:off x="680322" y="2869895"/>
            <a:ext cx="9613860" cy="1090788"/>
          </a:xfrm>
        </p:spPr>
        <p:txBody>
          <a:bodyPr anchor="ctr">
            <a:normAutofit/>
          </a:bodyPr>
          <a:lstStyle>
            <a:lvl1pPr algn="r">
              <a:defRPr sz="3600"/>
            </a:lvl1pPr>
          </a:lstStyle>
          <a:p>
            <a:r>
              <a:rPr lang="en-US"/>
              <a:t>Click to edit Master title style</a:t>
            </a:r>
            <a:endParaRPr lang="en-US" dirty="0"/>
          </a:p>
        </p:txBody>
      </p:sp>
      <p:sp>
        <p:nvSpPr>
          <p:cNvPr id="3" name="Text Placeholder 2"/>
          <p:cNvSpPr>
            <a:spLocks noGrp="1"/>
          </p:cNvSpPr>
          <p:nvPr>
            <p:ph type="body" idx="1"/>
          </p:nvPr>
        </p:nvSpPr>
        <p:spPr>
          <a:xfrm>
            <a:off x="680322" y="4232171"/>
            <a:ext cx="9613860" cy="1704017"/>
          </a:xfrm>
        </p:spPr>
        <p:txBody>
          <a:bodyPr>
            <a:normAutofit/>
          </a:bodyPr>
          <a:lstStyle>
            <a:lvl1pPr marL="0" indent="0" algn="r">
              <a:buNone/>
              <a:defRPr sz="20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3CC13380-9748-4652-9032-5612F4CA0E48}" type="datetimeFigureOut">
              <a:rPr lang="en-IN" smtClean="0"/>
              <a:t>28-01-2026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a:xfrm>
            <a:off x="10729455" y="2869895"/>
            <a:ext cx="1154151" cy="1090789"/>
          </a:xfrm>
        </p:spPr>
        <p:txBody>
          <a:bodyPr/>
          <a:lstStyle/>
          <a:p>
            <a:fld id="{43024221-E973-44AC-B32E-B489B21B5E01}" type="slidenum">
              <a:rPr lang="en-IN" smtClean="0"/>
              <a:t>‹#›</a:t>
            </a:fld>
            <a:endParaRPr lang="en-IN"/>
          </a:p>
        </p:txBody>
      </p:sp>
    </p:spTree>
    <p:extLst>
      <p:ext uri="{BB962C8B-B14F-4D97-AF65-F5344CB8AC3E}">
        <p14:creationId xmlns:p14="http://schemas.microsoft.com/office/powerpoint/2010/main" val="246866879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pic>
        <p:nvPicPr>
          <p:cNvPr id="8" name="Picture 7" descr="HD-ShadowLong.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 y="1970240"/>
            <a:ext cx="10437812" cy="321164"/>
          </a:xfrm>
          <a:prstGeom prst="rect">
            <a:avLst/>
          </a:prstGeom>
        </p:spPr>
      </p:pic>
      <p:pic>
        <p:nvPicPr>
          <p:cNvPr id="9" name="Picture 8" descr="HD-ShadowShort.png"/>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585826" y="1971234"/>
            <a:ext cx="1602997" cy="144270"/>
          </a:xfrm>
          <a:prstGeom prst="rect">
            <a:avLst/>
          </a:prstGeom>
        </p:spPr>
      </p:pic>
      <p:sp>
        <p:nvSpPr>
          <p:cNvPr id="10" name="Rectangle 9"/>
          <p:cNvSpPr/>
          <p:nvPr/>
        </p:nvSpPr>
        <p:spPr bwMode="ltGray">
          <a:xfrm>
            <a:off x="0" y="609600"/>
            <a:ext cx="10437812" cy="1368198"/>
          </a:xfrm>
          <a:prstGeom prst="rect">
            <a:avLst/>
          </a:prstGeom>
          <a:solidFill>
            <a:schemeClr val="bg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IN"/>
          </a:p>
        </p:txBody>
      </p:sp>
      <p:sp>
        <p:nvSpPr>
          <p:cNvPr id="11" name="Rectangle 10"/>
          <p:cNvSpPr/>
          <p:nvPr/>
        </p:nvSpPr>
        <p:spPr>
          <a:xfrm>
            <a:off x="10585827" y="609600"/>
            <a:ext cx="1602997" cy="136819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IN"/>
          </a:p>
        </p:txBody>
      </p:sp>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680320" y="2336873"/>
            <a:ext cx="4698358" cy="359931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5594123" y="2336873"/>
            <a:ext cx="4700058" cy="359931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3CC13380-9748-4652-9032-5612F4CA0E48}" type="datetimeFigureOut">
              <a:rPr lang="en-IN" smtClean="0"/>
              <a:t>28-01-2026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43024221-E973-44AC-B32E-B489B21B5E01}" type="slidenum">
              <a:rPr lang="en-IN" smtClean="0"/>
              <a:t>‹#›</a:t>
            </a:fld>
            <a:endParaRPr lang="en-IN"/>
          </a:p>
        </p:txBody>
      </p:sp>
    </p:spTree>
    <p:extLst>
      <p:ext uri="{BB962C8B-B14F-4D97-AF65-F5344CB8AC3E}">
        <p14:creationId xmlns:p14="http://schemas.microsoft.com/office/powerpoint/2010/main" val="355737353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pic>
        <p:nvPicPr>
          <p:cNvPr id="10" name="Picture 9" descr="HD-ShadowLong.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 y="1970240"/>
            <a:ext cx="10437812" cy="321164"/>
          </a:xfrm>
          <a:prstGeom prst="rect">
            <a:avLst/>
          </a:prstGeom>
        </p:spPr>
      </p:pic>
      <p:pic>
        <p:nvPicPr>
          <p:cNvPr id="11" name="Picture 10" descr="HD-ShadowShort.png"/>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585826" y="1971234"/>
            <a:ext cx="1602997" cy="144270"/>
          </a:xfrm>
          <a:prstGeom prst="rect">
            <a:avLst/>
          </a:prstGeom>
        </p:spPr>
      </p:pic>
      <p:sp>
        <p:nvSpPr>
          <p:cNvPr id="12" name="Rectangle 11"/>
          <p:cNvSpPr/>
          <p:nvPr/>
        </p:nvSpPr>
        <p:spPr bwMode="ltGray">
          <a:xfrm>
            <a:off x="0" y="609600"/>
            <a:ext cx="10437812" cy="1368198"/>
          </a:xfrm>
          <a:prstGeom prst="rect">
            <a:avLst/>
          </a:prstGeom>
          <a:solidFill>
            <a:schemeClr val="bg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IN"/>
          </a:p>
        </p:txBody>
      </p:sp>
      <p:sp>
        <p:nvSpPr>
          <p:cNvPr id="13" name="Rectangle 12"/>
          <p:cNvSpPr/>
          <p:nvPr/>
        </p:nvSpPr>
        <p:spPr>
          <a:xfrm>
            <a:off x="10585827" y="609600"/>
            <a:ext cx="1602997" cy="136819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IN"/>
          </a:p>
        </p:txBody>
      </p:sp>
      <p:sp>
        <p:nvSpPr>
          <p:cNvPr id="2" name="Title 1"/>
          <p:cNvSpPr>
            <a:spLocks noGrp="1"/>
          </p:cNvSpPr>
          <p:nvPr>
            <p:ph type="title"/>
          </p:nvPr>
        </p:nvSpPr>
        <p:spPr>
          <a:xfrm>
            <a:off x="680319" y="753229"/>
            <a:ext cx="9613863" cy="1080937"/>
          </a:xfrm>
        </p:spPr>
        <p:txBody>
          <a:bodyPr/>
          <a:lstStyle/>
          <a:p>
            <a:r>
              <a:rPr lang="en-US"/>
              <a:t>Click to edit Master title style</a:t>
            </a:r>
            <a:endParaRPr lang="en-US" dirty="0"/>
          </a:p>
        </p:txBody>
      </p:sp>
      <p:sp>
        <p:nvSpPr>
          <p:cNvPr id="3" name="Text Placeholder 2"/>
          <p:cNvSpPr>
            <a:spLocks noGrp="1"/>
          </p:cNvSpPr>
          <p:nvPr>
            <p:ph type="body" idx="1"/>
          </p:nvPr>
        </p:nvSpPr>
        <p:spPr>
          <a:xfrm>
            <a:off x="906350" y="2336873"/>
            <a:ext cx="4472327" cy="693135"/>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80322" y="3030008"/>
            <a:ext cx="4698355" cy="2906179"/>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5820154" y="2336873"/>
            <a:ext cx="4474028" cy="692076"/>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5594123" y="3030008"/>
            <a:ext cx="4700059" cy="2906179"/>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3CC13380-9748-4652-9032-5612F4CA0E48}" type="datetimeFigureOut">
              <a:rPr lang="en-IN" smtClean="0"/>
              <a:t>28-01-2026</a:t>
            </a:fld>
            <a:endParaRPr lang="en-IN"/>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fld id="{43024221-E973-44AC-B32E-B489B21B5E01}" type="slidenum">
              <a:rPr lang="en-IN" smtClean="0"/>
              <a:t>‹#›</a:t>
            </a:fld>
            <a:endParaRPr lang="en-IN"/>
          </a:p>
        </p:txBody>
      </p:sp>
    </p:spTree>
    <p:extLst>
      <p:ext uri="{BB962C8B-B14F-4D97-AF65-F5344CB8AC3E}">
        <p14:creationId xmlns:p14="http://schemas.microsoft.com/office/powerpoint/2010/main" val="57522402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pic>
        <p:nvPicPr>
          <p:cNvPr id="6" name="Picture 5" descr="HD-ShadowLong.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 y="1970240"/>
            <a:ext cx="10437812" cy="321164"/>
          </a:xfrm>
          <a:prstGeom prst="rect">
            <a:avLst/>
          </a:prstGeom>
        </p:spPr>
      </p:pic>
      <p:pic>
        <p:nvPicPr>
          <p:cNvPr id="7" name="Picture 6" descr="HD-ShadowShort.png"/>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585826" y="1971234"/>
            <a:ext cx="1602997" cy="144270"/>
          </a:xfrm>
          <a:prstGeom prst="rect">
            <a:avLst/>
          </a:prstGeom>
        </p:spPr>
      </p:pic>
      <p:sp>
        <p:nvSpPr>
          <p:cNvPr id="8" name="Rectangle 7"/>
          <p:cNvSpPr/>
          <p:nvPr/>
        </p:nvSpPr>
        <p:spPr bwMode="ltGray">
          <a:xfrm>
            <a:off x="0" y="609600"/>
            <a:ext cx="10437812" cy="1368198"/>
          </a:xfrm>
          <a:prstGeom prst="rect">
            <a:avLst/>
          </a:prstGeom>
          <a:solidFill>
            <a:schemeClr val="bg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IN"/>
          </a:p>
        </p:txBody>
      </p:sp>
      <p:sp>
        <p:nvSpPr>
          <p:cNvPr id="9" name="Rectangle 8"/>
          <p:cNvSpPr/>
          <p:nvPr/>
        </p:nvSpPr>
        <p:spPr>
          <a:xfrm>
            <a:off x="10585827" y="609600"/>
            <a:ext cx="1602997" cy="136819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IN"/>
          </a:p>
        </p:txBody>
      </p:sp>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3CC13380-9748-4652-9032-5612F4CA0E48}" type="datetimeFigureOut">
              <a:rPr lang="en-IN" smtClean="0"/>
              <a:t>28-01-2026</a:t>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43024221-E973-44AC-B32E-B489B21B5E01}" type="slidenum">
              <a:rPr lang="en-IN" smtClean="0"/>
              <a:t>‹#›</a:t>
            </a:fld>
            <a:endParaRPr lang="en-IN"/>
          </a:p>
        </p:txBody>
      </p:sp>
    </p:spTree>
    <p:extLst>
      <p:ext uri="{BB962C8B-B14F-4D97-AF65-F5344CB8AC3E}">
        <p14:creationId xmlns:p14="http://schemas.microsoft.com/office/powerpoint/2010/main" val="238460740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pic>
        <p:nvPicPr>
          <p:cNvPr id="5" name="Picture 4" descr="HD-ShadowShort.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585826" y="1971234"/>
            <a:ext cx="1602997" cy="144270"/>
          </a:xfrm>
          <a:prstGeom prst="rect">
            <a:avLst/>
          </a:prstGeom>
        </p:spPr>
      </p:pic>
      <p:sp>
        <p:nvSpPr>
          <p:cNvPr id="6" name="Rectangle 5"/>
          <p:cNvSpPr/>
          <p:nvPr/>
        </p:nvSpPr>
        <p:spPr>
          <a:xfrm>
            <a:off x="10585827" y="609600"/>
            <a:ext cx="1602997" cy="136819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IN"/>
          </a:p>
        </p:txBody>
      </p:sp>
      <p:sp>
        <p:nvSpPr>
          <p:cNvPr id="2" name="Date Placeholder 1"/>
          <p:cNvSpPr>
            <a:spLocks noGrp="1"/>
          </p:cNvSpPr>
          <p:nvPr>
            <p:ph type="dt" sz="half" idx="10"/>
          </p:nvPr>
        </p:nvSpPr>
        <p:spPr/>
        <p:txBody>
          <a:bodyPr/>
          <a:lstStyle/>
          <a:p>
            <a:fld id="{3CC13380-9748-4652-9032-5612F4CA0E48}" type="datetimeFigureOut">
              <a:rPr lang="en-IN" smtClean="0"/>
              <a:t>28-01-2026</a:t>
            </a:fld>
            <a:endParaRPr lang="en-IN"/>
          </a:p>
        </p:txBody>
      </p:sp>
      <p:sp>
        <p:nvSpPr>
          <p:cNvPr id="3" name="Footer Placeholder 2"/>
          <p:cNvSpPr>
            <a:spLocks noGrp="1"/>
          </p:cNvSpPr>
          <p:nvPr>
            <p:ph type="ftr" sz="quarter" idx="11"/>
          </p:nvPr>
        </p:nvSpPr>
        <p:spPr/>
        <p:txBody>
          <a:bodyPr/>
          <a:lstStyle/>
          <a:p>
            <a:endParaRPr lang="en-IN"/>
          </a:p>
        </p:txBody>
      </p:sp>
      <p:sp>
        <p:nvSpPr>
          <p:cNvPr id="4" name="Slide Number Placeholder 3"/>
          <p:cNvSpPr>
            <a:spLocks noGrp="1"/>
          </p:cNvSpPr>
          <p:nvPr>
            <p:ph type="sldNum" sz="quarter" idx="12"/>
          </p:nvPr>
        </p:nvSpPr>
        <p:spPr/>
        <p:txBody>
          <a:bodyPr/>
          <a:lstStyle/>
          <a:p>
            <a:fld id="{43024221-E973-44AC-B32E-B489B21B5E01}" type="slidenum">
              <a:rPr lang="en-IN" smtClean="0"/>
              <a:t>‹#›</a:t>
            </a:fld>
            <a:endParaRPr lang="en-IN"/>
          </a:p>
        </p:txBody>
      </p:sp>
    </p:spTree>
    <p:extLst>
      <p:ext uri="{BB962C8B-B14F-4D97-AF65-F5344CB8AC3E}">
        <p14:creationId xmlns:p14="http://schemas.microsoft.com/office/powerpoint/2010/main" val="109436283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pic>
        <p:nvPicPr>
          <p:cNvPr id="8" name="Picture 7" descr="HD-ShadowLong.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 y="1970240"/>
            <a:ext cx="10437812" cy="321164"/>
          </a:xfrm>
          <a:prstGeom prst="rect">
            <a:avLst/>
          </a:prstGeom>
        </p:spPr>
      </p:pic>
      <p:pic>
        <p:nvPicPr>
          <p:cNvPr id="9" name="Picture 8" descr="HD-ShadowShort.png"/>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585826" y="1971234"/>
            <a:ext cx="1602997" cy="144270"/>
          </a:xfrm>
          <a:prstGeom prst="rect">
            <a:avLst/>
          </a:prstGeom>
        </p:spPr>
      </p:pic>
      <p:sp>
        <p:nvSpPr>
          <p:cNvPr id="10" name="Rectangle 9"/>
          <p:cNvSpPr/>
          <p:nvPr/>
        </p:nvSpPr>
        <p:spPr bwMode="ltGray">
          <a:xfrm>
            <a:off x="0" y="609600"/>
            <a:ext cx="10437812" cy="1368198"/>
          </a:xfrm>
          <a:prstGeom prst="rect">
            <a:avLst/>
          </a:prstGeom>
          <a:solidFill>
            <a:schemeClr val="bg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IN"/>
          </a:p>
        </p:txBody>
      </p:sp>
      <p:sp>
        <p:nvSpPr>
          <p:cNvPr id="11" name="Rectangle 10"/>
          <p:cNvSpPr/>
          <p:nvPr/>
        </p:nvSpPr>
        <p:spPr>
          <a:xfrm>
            <a:off x="10585827" y="609600"/>
            <a:ext cx="1602997" cy="136819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IN"/>
          </a:p>
        </p:txBody>
      </p:sp>
      <p:sp>
        <p:nvSpPr>
          <p:cNvPr id="2" name="Title 1"/>
          <p:cNvSpPr>
            <a:spLocks noGrp="1"/>
          </p:cNvSpPr>
          <p:nvPr>
            <p:ph type="title"/>
          </p:nvPr>
        </p:nvSpPr>
        <p:spPr>
          <a:xfrm>
            <a:off x="680321" y="753227"/>
            <a:ext cx="9613859" cy="1080940"/>
          </a:xfrm>
        </p:spPr>
        <p:txBody>
          <a:bodyPr anchor="ctr">
            <a:normAutofit/>
          </a:bodyPr>
          <a:lstStyle>
            <a:lvl1pPr>
              <a:defRPr sz="3600"/>
            </a:lvl1pPr>
          </a:lstStyle>
          <a:p>
            <a:r>
              <a:rPr lang="en-US"/>
              <a:t>Click to edit Master title style</a:t>
            </a:r>
            <a:endParaRPr lang="en-US" dirty="0"/>
          </a:p>
        </p:txBody>
      </p:sp>
      <p:sp>
        <p:nvSpPr>
          <p:cNvPr id="3" name="Content Placeholder 2"/>
          <p:cNvSpPr>
            <a:spLocks noGrp="1"/>
          </p:cNvSpPr>
          <p:nvPr>
            <p:ph idx="1"/>
          </p:nvPr>
        </p:nvSpPr>
        <p:spPr>
          <a:xfrm>
            <a:off x="4685846" y="2336873"/>
            <a:ext cx="5608336" cy="359931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680322" y="2336872"/>
            <a:ext cx="3790078" cy="3599317"/>
          </a:xfrm>
        </p:spPr>
        <p:txBody>
          <a:bodyPr anchor="ct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3CC13380-9748-4652-9032-5612F4CA0E48}" type="datetimeFigureOut">
              <a:rPr lang="en-IN" smtClean="0"/>
              <a:t>28-01-2026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43024221-E973-44AC-B32E-B489B21B5E01}" type="slidenum">
              <a:rPr lang="en-IN" smtClean="0"/>
              <a:t>‹#›</a:t>
            </a:fld>
            <a:endParaRPr lang="en-IN"/>
          </a:p>
        </p:txBody>
      </p:sp>
    </p:spTree>
    <p:extLst>
      <p:ext uri="{BB962C8B-B14F-4D97-AF65-F5344CB8AC3E}">
        <p14:creationId xmlns:p14="http://schemas.microsoft.com/office/powerpoint/2010/main" val="350956928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pic>
        <p:nvPicPr>
          <p:cNvPr id="8" name="Picture 7" descr="HD-ShadowLong.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 y="1970240"/>
            <a:ext cx="10437812" cy="321164"/>
          </a:xfrm>
          <a:prstGeom prst="rect">
            <a:avLst/>
          </a:prstGeom>
        </p:spPr>
      </p:pic>
      <p:pic>
        <p:nvPicPr>
          <p:cNvPr id="9" name="Picture 8" descr="HD-ShadowShort.png"/>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585826" y="1971234"/>
            <a:ext cx="1602997" cy="144270"/>
          </a:xfrm>
          <a:prstGeom prst="rect">
            <a:avLst/>
          </a:prstGeom>
        </p:spPr>
      </p:pic>
      <p:sp>
        <p:nvSpPr>
          <p:cNvPr id="10" name="Rectangle 9"/>
          <p:cNvSpPr/>
          <p:nvPr/>
        </p:nvSpPr>
        <p:spPr bwMode="ltGray">
          <a:xfrm>
            <a:off x="0" y="609600"/>
            <a:ext cx="10437812" cy="1368198"/>
          </a:xfrm>
          <a:prstGeom prst="rect">
            <a:avLst/>
          </a:prstGeom>
          <a:solidFill>
            <a:schemeClr val="bg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IN"/>
          </a:p>
        </p:txBody>
      </p:sp>
      <p:sp>
        <p:nvSpPr>
          <p:cNvPr id="11" name="Rectangle 10"/>
          <p:cNvSpPr/>
          <p:nvPr/>
        </p:nvSpPr>
        <p:spPr>
          <a:xfrm>
            <a:off x="10585827" y="609600"/>
            <a:ext cx="1602997" cy="136819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IN"/>
          </a:p>
        </p:txBody>
      </p:sp>
      <p:sp>
        <p:nvSpPr>
          <p:cNvPr id="2" name="Title 1"/>
          <p:cNvSpPr>
            <a:spLocks noGrp="1"/>
          </p:cNvSpPr>
          <p:nvPr>
            <p:ph type="title"/>
          </p:nvPr>
        </p:nvSpPr>
        <p:spPr>
          <a:xfrm>
            <a:off x="680323" y="753228"/>
            <a:ext cx="9613857" cy="1080938"/>
          </a:xfrm>
        </p:spPr>
        <p:txBody>
          <a:bodyPr anchor="ctr">
            <a:normAutofit/>
          </a:bodyPr>
          <a:lstStyle>
            <a:lvl1pPr>
              <a:defRPr sz="3600"/>
            </a:lvl1pPr>
          </a:lstStyle>
          <a:p>
            <a:r>
              <a:rPr lang="en-US"/>
              <a:t>Click to edit Master title style</a:t>
            </a:r>
            <a:endParaRPr lang="en-US" dirty="0"/>
          </a:p>
        </p:txBody>
      </p:sp>
      <p:sp>
        <p:nvSpPr>
          <p:cNvPr id="3" name="Picture Placeholder 2"/>
          <p:cNvSpPr>
            <a:spLocks noGrp="1" noChangeAspect="1"/>
          </p:cNvSpPr>
          <p:nvPr>
            <p:ph type="pic" idx="1"/>
          </p:nvPr>
        </p:nvSpPr>
        <p:spPr>
          <a:xfrm>
            <a:off x="4868333" y="2336874"/>
            <a:ext cx="5425849" cy="3599312"/>
          </a:xfrm>
          <a:noFill/>
          <a:ln>
            <a:noFill/>
          </a:ln>
          <a:effectLst>
            <a:outerShdw blurRad="76200" dist="63500" dir="5040000" algn="tl" rotWithShape="0">
              <a:srgbClr val="000000">
                <a:alpha val="41000"/>
              </a:srgbClr>
            </a:outerShdw>
          </a:effectLst>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680323" y="2336873"/>
            <a:ext cx="3876256" cy="3599315"/>
          </a:xfrm>
        </p:spPr>
        <p:txBody>
          <a:bodyPr anchor="ct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3CC13380-9748-4652-9032-5612F4CA0E48}" type="datetimeFigureOut">
              <a:rPr lang="en-IN" smtClean="0"/>
              <a:t>28-01-2026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43024221-E973-44AC-B32E-B489B21B5E01}" type="slidenum">
              <a:rPr lang="en-IN" smtClean="0"/>
              <a:t>‹#›</a:t>
            </a:fld>
            <a:endParaRPr lang="en-IN"/>
          </a:p>
        </p:txBody>
      </p:sp>
    </p:spTree>
    <p:extLst>
      <p:ext uri="{BB962C8B-B14F-4D97-AF65-F5344CB8AC3E}">
        <p14:creationId xmlns:p14="http://schemas.microsoft.com/office/powerpoint/2010/main" val="335523505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pic>
        <p:nvPicPr>
          <p:cNvPr id="8" name="Picture 7" descr="HD-ShadowLong.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 y="5928628"/>
            <a:ext cx="10437812" cy="321164"/>
          </a:xfrm>
          <a:prstGeom prst="rect">
            <a:avLst/>
          </a:prstGeom>
        </p:spPr>
      </p:pic>
      <p:pic>
        <p:nvPicPr>
          <p:cNvPr id="9" name="Picture 8" descr="HD-ShadowShort.png"/>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585826" y="5929622"/>
            <a:ext cx="1602997" cy="144270"/>
          </a:xfrm>
          <a:prstGeom prst="rect">
            <a:avLst/>
          </a:prstGeom>
        </p:spPr>
      </p:pic>
      <p:sp>
        <p:nvSpPr>
          <p:cNvPr id="10" name="Rectangle 9"/>
          <p:cNvSpPr/>
          <p:nvPr/>
        </p:nvSpPr>
        <p:spPr bwMode="ltGray">
          <a:xfrm>
            <a:off x="0" y="4567988"/>
            <a:ext cx="10437812" cy="1368198"/>
          </a:xfrm>
          <a:prstGeom prst="rect">
            <a:avLst/>
          </a:prstGeom>
          <a:solidFill>
            <a:schemeClr val="bg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IN"/>
          </a:p>
        </p:txBody>
      </p:sp>
      <p:sp>
        <p:nvSpPr>
          <p:cNvPr id="11" name="Rectangle 10"/>
          <p:cNvSpPr/>
          <p:nvPr/>
        </p:nvSpPr>
        <p:spPr>
          <a:xfrm>
            <a:off x="10585827" y="4567988"/>
            <a:ext cx="1602997" cy="136819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IN"/>
          </a:p>
        </p:txBody>
      </p:sp>
      <p:sp>
        <p:nvSpPr>
          <p:cNvPr id="2" name="Title 1"/>
          <p:cNvSpPr>
            <a:spLocks noGrp="1"/>
          </p:cNvSpPr>
          <p:nvPr>
            <p:ph type="title"/>
          </p:nvPr>
        </p:nvSpPr>
        <p:spPr>
          <a:xfrm>
            <a:off x="680322" y="4711616"/>
            <a:ext cx="9613859" cy="453051"/>
          </a:xfrm>
        </p:spPr>
        <p:txBody>
          <a:bodyPr anchor="b">
            <a:normAutofit/>
          </a:bodyPr>
          <a:lstStyle>
            <a:lvl1pPr>
              <a:defRPr sz="2400"/>
            </a:lvl1pPr>
          </a:lstStyle>
          <a:p>
            <a:r>
              <a:rPr lang="en-US"/>
              <a:t>Click to edit Master title style</a:t>
            </a:r>
            <a:endParaRPr lang="en-US" dirty="0"/>
          </a:p>
        </p:txBody>
      </p:sp>
      <p:sp>
        <p:nvSpPr>
          <p:cNvPr id="3" name="Picture Placeholder 2"/>
          <p:cNvSpPr>
            <a:spLocks noGrp="1" noChangeAspect="1"/>
          </p:cNvSpPr>
          <p:nvPr>
            <p:ph type="pic" idx="1"/>
          </p:nvPr>
        </p:nvSpPr>
        <p:spPr>
          <a:xfrm>
            <a:off x="680322" y="609597"/>
            <a:ext cx="9613859" cy="3589575"/>
          </a:xfrm>
          <a:noFill/>
          <a:ln>
            <a:noFill/>
          </a:ln>
          <a:effectLst>
            <a:outerShdw blurRad="76200" dist="63500" dir="5040000" algn="tl" rotWithShape="0">
              <a:srgbClr val="000000">
                <a:alpha val="41000"/>
              </a:srgbClr>
            </a:outerShdw>
          </a:effectLst>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680319" y="5169583"/>
            <a:ext cx="9613862" cy="622971"/>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3CC13380-9748-4652-9032-5612F4CA0E48}" type="datetimeFigureOut">
              <a:rPr lang="en-IN" smtClean="0"/>
              <a:t>28-01-2026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a:xfrm>
            <a:off x="10729455" y="4711309"/>
            <a:ext cx="1154151" cy="1090789"/>
          </a:xfrm>
        </p:spPr>
        <p:txBody>
          <a:bodyPr/>
          <a:lstStyle/>
          <a:p>
            <a:fld id="{43024221-E973-44AC-B32E-B489B21B5E01}" type="slidenum">
              <a:rPr lang="en-IN" smtClean="0"/>
              <a:t>‹#›</a:t>
            </a:fld>
            <a:endParaRPr lang="en-IN"/>
          </a:p>
        </p:txBody>
      </p:sp>
    </p:spTree>
    <p:extLst>
      <p:ext uri="{BB962C8B-B14F-4D97-AF65-F5344CB8AC3E}">
        <p14:creationId xmlns:p14="http://schemas.microsoft.com/office/powerpoint/2010/main" val="113858503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pic>
        <p:nvPicPr>
          <p:cNvPr id="8" name="Picture 7" descr="HD-ShadowLong.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 y="5928628"/>
            <a:ext cx="10437812" cy="321164"/>
          </a:xfrm>
          <a:prstGeom prst="rect">
            <a:avLst/>
          </a:prstGeom>
        </p:spPr>
      </p:pic>
      <p:pic>
        <p:nvPicPr>
          <p:cNvPr id="9" name="Picture 8" descr="HD-ShadowShort.png"/>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585826" y="5929622"/>
            <a:ext cx="1602997" cy="144270"/>
          </a:xfrm>
          <a:prstGeom prst="rect">
            <a:avLst/>
          </a:prstGeom>
        </p:spPr>
      </p:pic>
      <p:sp>
        <p:nvSpPr>
          <p:cNvPr id="10" name="Rectangle 9"/>
          <p:cNvSpPr/>
          <p:nvPr/>
        </p:nvSpPr>
        <p:spPr bwMode="ltGray">
          <a:xfrm>
            <a:off x="0" y="4567988"/>
            <a:ext cx="10437812" cy="1368198"/>
          </a:xfrm>
          <a:prstGeom prst="rect">
            <a:avLst/>
          </a:prstGeom>
          <a:solidFill>
            <a:schemeClr val="bg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IN"/>
          </a:p>
        </p:txBody>
      </p:sp>
      <p:sp>
        <p:nvSpPr>
          <p:cNvPr id="11" name="Rectangle 10"/>
          <p:cNvSpPr/>
          <p:nvPr/>
        </p:nvSpPr>
        <p:spPr>
          <a:xfrm>
            <a:off x="10585827" y="4567988"/>
            <a:ext cx="1602997" cy="136819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IN"/>
          </a:p>
        </p:txBody>
      </p:sp>
      <p:sp>
        <p:nvSpPr>
          <p:cNvPr id="2" name="Title 1"/>
          <p:cNvSpPr>
            <a:spLocks noGrp="1"/>
          </p:cNvSpPr>
          <p:nvPr>
            <p:ph type="title"/>
          </p:nvPr>
        </p:nvSpPr>
        <p:spPr>
          <a:xfrm>
            <a:off x="680322" y="609597"/>
            <a:ext cx="9613858" cy="3592750"/>
          </a:xfrm>
        </p:spPr>
        <p:txBody>
          <a:bodyPr anchor="ctr"/>
          <a:lstStyle>
            <a:lvl1pPr>
              <a:defRPr sz="3200"/>
            </a:lvl1pPr>
          </a:lstStyle>
          <a:p>
            <a:r>
              <a:rPr lang="en-US"/>
              <a:t>Click to edit Master title style</a:t>
            </a:r>
            <a:endParaRPr lang="en-US" dirty="0"/>
          </a:p>
        </p:txBody>
      </p:sp>
      <p:sp>
        <p:nvSpPr>
          <p:cNvPr id="4" name="Text Placeholder 3"/>
          <p:cNvSpPr>
            <a:spLocks noGrp="1"/>
          </p:cNvSpPr>
          <p:nvPr>
            <p:ph type="body" sz="half" idx="2"/>
          </p:nvPr>
        </p:nvSpPr>
        <p:spPr>
          <a:xfrm>
            <a:off x="680322" y="4711615"/>
            <a:ext cx="9613859" cy="1090789"/>
          </a:xfrm>
        </p:spPr>
        <p:txBody>
          <a:bodyPr anchor="ct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3CC13380-9748-4652-9032-5612F4CA0E48}" type="datetimeFigureOut">
              <a:rPr lang="en-IN" smtClean="0"/>
              <a:t>28-01-2026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a:xfrm>
            <a:off x="10729455" y="4711615"/>
            <a:ext cx="1154151" cy="1090789"/>
          </a:xfrm>
        </p:spPr>
        <p:txBody>
          <a:bodyPr/>
          <a:lstStyle/>
          <a:p>
            <a:fld id="{43024221-E973-44AC-B32E-B489B21B5E01}" type="slidenum">
              <a:rPr lang="en-IN" smtClean="0"/>
              <a:t>‹#›</a:t>
            </a:fld>
            <a:endParaRPr lang="en-IN"/>
          </a:p>
        </p:txBody>
      </p:sp>
    </p:spTree>
    <p:extLst>
      <p:ext uri="{BB962C8B-B14F-4D97-AF65-F5344CB8AC3E}">
        <p14:creationId xmlns:p14="http://schemas.microsoft.com/office/powerpoint/2010/main" val="25570636"/>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pic>
        <p:nvPicPr>
          <p:cNvPr id="11" name="Picture 10" descr="HD-ShadowLong.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 y="5928628"/>
            <a:ext cx="10437812" cy="321164"/>
          </a:xfrm>
          <a:prstGeom prst="rect">
            <a:avLst/>
          </a:prstGeom>
        </p:spPr>
      </p:pic>
      <p:pic>
        <p:nvPicPr>
          <p:cNvPr id="13" name="Picture 12" descr="HD-ShadowShort.png"/>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585826" y="5929622"/>
            <a:ext cx="1602997" cy="144270"/>
          </a:xfrm>
          <a:prstGeom prst="rect">
            <a:avLst/>
          </a:prstGeom>
        </p:spPr>
      </p:pic>
      <p:sp>
        <p:nvSpPr>
          <p:cNvPr id="14" name="Rectangle 13"/>
          <p:cNvSpPr/>
          <p:nvPr/>
        </p:nvSpPr>
        <p:spPr bwMode="ltGray">
          <a:xfrm>
            <a:off x="0" y="4567988"/>
            <a:ext cx="10437812" cy="1368198"/>
          </a:xfrm>
          <a:prstGeom prst="rect">
            <a:avLst/>
          </a:prstGeom>
          <a:solidFill>
            <a:schemeClr val="bg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IN"/>
          </a:p>
        </p:txBody>
      </p:sp>
      <p:sp>
        <p:nvSpPr>
          <p:cNvPr id="15" name="Rectangle 14"/>
          <p:cNvSpPr/>
          <p:nvPr/>
        </p:nvSpPr>
        <p:spPr>
          <a:xfrm>
            <a:off x="10585827" y="4567988"/>
            <a:ext cx="1602997" cy="136819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IN"/>
          </a:p>
        </p:txBody>
      </p:sp>
      <p:sp>
        <p:nvSpPr>
          <p:cNvPr id="2" name="Title 1"/>
          <p:cNvSpPr>
            <a:spLocks noGrp="1"/>
          </p:cNvSpPr>
          <p:nvPr>
            <p:ph type="title"/>
          </p:nvPr>
        </p:nvSpPr>
        <p:spPr>
          <a:xfrm>
            <a:off x="1127856" y="609598"/>
            <a:ext cx="8718877" cy="3036061"/>
          </a:xfrm>
        </p:spPr>
        <p:txBody>
          <a:bodyPr anchor="ctr"/>
          <a:lstStyle>
            <a:lvl1pPr>
              <a:defRPr sz="3200"/>
            </a:lvl1pPr>
          </a:lstStyle>
          <a:p>
            <a:r>
              <a:rPr lang="en-US"/>
              <a:t>Click to edit Master title style</a:t>
            </a:r>
            <a:endParaRPr lang="en-US" dirty="0"/>
          </a:p>
        </p:txBody>
      </p:sp>
      <p:sp>
        <p:nvSpPr>
          <p:cNvPr id="12" name="Text Placeholder 3"/>
          <p:cNvSpPr>
            <a:spLocks noGrp="1"/>
          </p:cNvSpPr>
          <p:nvPr>
            <p:ph type="body" sz="half" idx="13"/>
          </p:nvPr>
        </p:nvSpPr>
        <p:spPr>
          <a:xfrm>
            <a:off x="1402288" y="3653379"/>
            <a:ext cx="8156579" cy="548968"/>
          </a:xfrm>
        </p:spPr>
        <p:txBody>
          <a:bodyPr anchor="t">
            <a:normAutofit/>
          </a:bodyPr>
          <a:lstStyle>
            <a:lvl1pPr marL="0" indent="0">
              <a:buNone/>
              <a:defRPr sz="14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4" name="Text Placeholder 3"/>
          <p:cNvSpPr>
            <a:spLocks noGrp="1"/>
          </p:cNvSpPr>
          <p:nvPr>
            <p:ph type="body" sz="half" idx="2"/>
          </p:nvPr>
        </p:nvSpPr>
        <p:spPr>
          <a:xfrm>
            <a:off x="680322" y="4711615"/>
            <a:ext cx="9613859" cy="1090789"/>
          </a:xfrm>
        </p:spPr>
        <p:txBody>
          <a:bodyPr anchor="ctr">
            <a:normAutofit/>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3CC13380-9748-4652-9032-5612F4CA0E48}" type="datetimeFigureOut">
              <a:rPr lang="en-IN" smtClean="0"/>
              <a:t>28-01-2026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a:xfrm>
            <a:off x="10729455" y="4709925"/>
            <a:ext cx="1154151" cy="1090789"/>
          </a:xfrm>
        </p:spPr>
        <p:txBody>
          <a:bodyPr/>
          <a:lstStyle/>
          <a:p>
            <a:fld id="{43024221-E973-44AC-B32E-B489B21B5E01}" type="slidenum">
              <a:rPr lang="en-IN" smtClean="0"/>
              <a:t>‹#›</a:t>
            </a:fld>
            <a:endParaRPr lang="en-IN"/>
          </a:p>
        </p:txBody>
      </p:sp>
      <p:sp>
        <p:nvSpPr>
          <p:cNvPr id="16" name="TextBox 15"/>
          <p:cNvSpPr txBox="1"/>
          <p:nvPr/>
        </p:nvSpPr>
        <p:spPr>
          <a:xfrm>
            <a:off x="583572" y="748116"/>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r>
              <a:rPr lang="en-US" sz="7200" dirty="0">
                <a:solidFill>
                  <a:schemeClr val="tx1"/>
                </a:solidFill>
                <a:effectLst/>
              </a:rPr>
              <a:t>“</a:t>
            </a:r>
          </a:p>
        </p:txBody>
      </p:sp>
      <p:sp>
        <p:nvSpPr>
          <p:cNvPr id="17" name="TextBox 16"/>
          <p:cNvSpPr txBox="1"/>
          <p:nvPr/>
        </p:nvSpPr>
        <p:spPr>
          <a:xfrm>
            <a:off x="9662809" y="3033524"/>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7200" dirty="0">
                <a:solidFill>
                  <a:schemeClr val="tx1"/>
                </a:solidFill>
                <a:effectLst/>
              </a:rPr>
              <a:t>”</a:t>
            </a:r>
          </a:p>
        </p:txBody>
      </p:sp>
    </p:spTree>
    <p:extLst>
      <p:ext uri="{BB962C8B-B14F-4D97-AF65-F5344CB8AC3E}">
        <p14:creationId xmlns:p14="http://schemas.microsoft.com/office/powerpoint/2010/main" val="3655191177"/>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pic>
        <p:nvPicPr>
          <p:cNvPr id="9" name="Picture 8" descr="HD-ShadowLong.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 y="5928628"/>
            <a:ext cx="10437812" cy="321164"/>
          </a:xfrm>
          <a:prstGeom prst="rect">
            <a:avLst/>
          </a:prstGeom>
        </p:spPr>
      </p:pic>
      <p:pic>
        <p:nvPicPr>
          <p:cNvPr id="10" name="Picture 9" descr="HD-ShadowShort.png"/>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585826" y="5929622"/>
            <a:ext cx="1602997" cy="144270"/>
          </a:xfrm>
          <a:prstGeom prst="rect">
            <a:avLst/>
          </a:prstGeom>
        </p:spPr>
      </p:pic>
      <p:sp>
        <p:nvSpPr>
          <p:cNvPr id="11" name="Rectangle 10"/>
          <p:cNvSpPr/>
          <p:nvPr/>
        </p:nvSpPr>
        <p:spPr bwMode="ltGray">
          <a:xfrm>
            <a:off x="0" y="4567988"/>
            <a:ext cx="10437812" cy="1368198"/>
          </a:xfrm>
          <a:prstGeom prst="rect">
            <a:avLst/>
          </a:prstGeom>
          <a:solidFill>
            <a:schemeClr val="bg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IN"/>
          </a:p>
        </p:txBody>
      </p:sp>
      <p:sp>
        <p:nvSpPr>
          <p:cNvPr id="12" name="Rectangle 11"/>
          <p:cNvSpPr/>
          <p:nvPr/>
        </p:nvSpPr>
        <p:spPr>
          <a:xfrm>
            <a:off x="10585827" y="4567988"/>
            <a:ext cx="1602997" cy="136819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IN"/>
          </a:p>
        </p:txBody>
      </p:sp>
      <p:sp>
        <p:nvSpPr>
          <p:cNvPr id="2" name="Title 1"/>
          <p:cNvSpPr>
            <a:spLocks noGrp="1"/>
          </p:cNvSpPr>
          <p:nvPr>
            <p:ph type="title"/>
          </p:nvPr>
        </p:nvSpPr>
        <p:spPr>
          <a:xfrm>
            <a:off x="680319" y="4711615"/>
            <a:ext cx="9613862" cy="588535"/>
          </a:xfrm>
        </p:spPr>
        <p:txBody>
          <a:bodyPr anchor="b"/>
          <a:lstStyle>
            <a:lvl1pPr>
              <a:defRPr sz="3200"/>
            </a:lvl1pPr>
          </a:lstStyle>
          <a:p>
            <a:r>
              <a:rPr lang="en-US"/>
              <a:t>Click to edit Master title style</a:t>
            </a:r>
            <a:endParaRPr lang="en-US" dirty="0"/>
          </a:p>
        </p:txBody>
      </p:sp>
      <p:sp>
        <p:nvSpPr>
          <p:cNvPr id="4" name="Text Placeholder 3"/>
          <p:cNvSpPr>
            <a:spLocks noGrp="1"/>
          </p:cNvSpPr>
          <p:nvPr>
            <p:ph type="body" sz="half" idx="2"/>
          </p:nvPr>
        </p:nvSpPr>
        <p:spPr>
          <a:xfrm>
            <a:off x="680320" y="5300149"/>
            <a:ext cx="9613862" cy="502255"/>
          </a:xfrm>
        </p:spPr>
        <p:txBody>
          <a:bodyPr anchor="t"/>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3CC13380-9748-4652-9032-5612F4CA0E48}" type="datetimeFigureOut">
              <a:rPr lang="en-IN" smtClean="0"/>
              <a:t>28-01-2026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a:xfrm>
            <a:off x="10729455" y="4709925"/>
            <a:ext cx="1154151" cy="1090789"/>
          </a:xfrm>
        </p:spPr>
        <p:txBody>
          <a:bodyPr/>
          <a:lstStyle/>
          <a:p>
            <a:fld id="{43024221-E973-44AC-B32E-B489B21B5E01}" type="slidenum">
              <a:rPr lang="en-IN" smtClean="0"/>
              <a:t>‹#›</a:t>
            </a:fld>
            <a:endParaRPr lang="en-IN"/>
          </a:p>
        </p:txBody>
      </p:sp>
    </p:spTree>
    <p:extLst>
      <p:ext uri="{BB962C8B-B14F-4D97-AF65-F5344CB8AC3E}">
        <p14:creationId xmlns:p14="http://schemas.microsoft.com/office/powerpoint/2010/main" val="2379893844"/>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3 Column">
    <p:spTree>
      <p:nvGrpSpPr>
        <p:cNvPr id="1" name=""/>
        <p:cNvGrpSpPr/>
        <p:nvPr/>
      </p:nvGrpSpPr>
      <p:grpSpPr>
        <a:xfrm>
          <a:off x="0" y="0"/>
          <a:ext cx="0" cy="0"/>
          <a:chOff x="0" y="0"/>
          <a:chExt cx="0" cy="0"/>
        </a:xfrm>
      </p:grpSpPr>
      <p:pic>
        <p:nvPicPr>
          <p:cNvPr id="13" name="Picture 12" descr="HD-ShadowLong.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 y="1970240"/>
            <a:ext cx="10437812" cy="321164"/>
          </a:xfrm>
          <a:prstGeom prst="rect">
            <a:avLst/>
          </a:prstGeom>
        </p:spPr>
      </p:pic>
      <p:pic>
        <p:nvPicPr>
          <p:cNvPr id="14" name="Picture 13" descr="HD-ShadowShort.png"/>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585826" y="1971234"/>
            <a:ext cx="1602997" cy="144270"/>
          </a:xfrm>
          <a:prstGeom prst="rect">
            <a:avLst/>
          </a:prstGeom>
        </p:spPr>
      </p:pic>
      <p:sp>
        <p:nvSpPr>
          <p:cNvPr id="16" name="Rectangle 15"/>
          <p:cNvSpPr/>
          <p:nvPr/>
        </p:nvSpPr>
        <p:spPr bwMode="ltGray">
          <a:xfrm>
            <a:off x="0" y="609600"/>
            <a:ext cx="10437812" cy="1368198"/>
          </a:xfrm>
          <a:prstGeom prst="rect">
            <a:avLst/>
          </a:prstGeom>
          <a:solidFill>
            <a:schemeClr val="bg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IN"/>
          </a:p>
        </p:txBody>
      </p:sp>
      <p:sp>
        <p:nvSpPr>
          <p:cNvPr id="17" name="Rectangle 16"/>
          <p:cNvSpPr/>
          <p:nvPr/>
        </p:nvSpPr>
        <p:spPr>
          <a:xfrm>
            <a:off x="10585827" y="609600"/>
            <a:ext cx="1602997" cy="136819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IN"/>
          </a:p>
        </p:txBody>
      </p:sp>
      <p:sp>
        <p:nvSpPr>
          <p:cNvPr id="15" name="Title 1"/>
          <p:cNvSpPr>
            <a:spLocks noGrp="1"/>
          </p:cNvSpPr>
          <p:nvPr>
            <p:ph type="title"/>
          </p:nvPr>
        </p:nvSpPr>
        <p:spPr>
          <a:xfrm>
            <a:off x="669222" y="753228"/>
            <a:ext cx="9624960" cy="1080938"/>
          </a:xfrm>
        </p:spPr>
        <p:txBody>
          <a:bodyPr/>
          <a:lstStyle/>
          <a:p>
            <a:r>
              <a:rPr lang="en-US"/>
              <a:t>Click to edit Master title style</a:t>
            </a:r>
            <a:endParaRPr lang="en-US" dirty="0"/>
          </a:p>
        </p:txBody>
      </p:sp>
      <p:sp>
        <p:nvSpPr>
          <p:cNvPr id="7" name="Text Placeholder 2"/>
          <p:cNvSpPr>
            <a:spLocks noGrp="1"/>
          </p:cNvSpPr>
          <p:nvPr>
            <p:ph type="body" idx="1"/>
          </p:nvPr>
        </p:nvSpPr>
        <p:spPr>
          <a:xfrm>
            <a:off x="660946" y="2336873"/>
            <a:ext cx="3070034" cy="576262"/>
          </a:xfrm>
        </p:spPr>
        <p:txBody>
          <a:bodyPr anchor="b">
            <a:noAutofit/>
          </a:bodyPr>
          <a:lstStyle>
            <a:lvl1pPr marL="0" indent="0">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8" name="Text Placeholder 3"/>
          <p:cNvSpPr>
            <a:spLocks noGrp="1"/>
          </p:cNvSpPr>
          <p:nvPr>
            <p:ph type="body" sz="half" idx="15"/>
          </p:nvPr>
        </p:nvSpPr>
        <p:spPr>
          <a:xfrm>
            <a:off x="680322" y="3022673"/>
            <a:ext cx="3049702" cy="2913513"/>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9" name="Text Placeholder 4"/>
          <p:cNvSpPr>
            <a:spLocks noGrp="1"/>
          </p:cNvSpPr>
          <p:nvPr>
            <p:ph type="body" sz="quarter" idx="3"/>
          </p:nvPr>
        </p:nvSpPr>
        <p:spPr>
          <a:xfrm>
            <a:off x="3956025" y="2336873"/>
            <a:ext cx="3063240" cy="576262"/>
          </a:xfrm>
        </p:spPr>
        <p:txBody>
          <a:bodyPr anchor="b">
            <a:noAutofit/>
          </a:bodyPr>
          <a:lstStyle>
            <a:lvl1pPr marL="0" indent="0">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0" name="Text Placeholder 3"/>
          <p:cNvSpPr>
            <a:spLocks noGrp="1"/>
          </p:cNvSpPr>
          <p:nvPr>
            <p:ph type="body" sz="half" idx="16"/>
          </p:nvPr>
        </p:nvSpPr>
        <p:spPr>
          <a:xfrm>
            <a:off x="3945470" y="3022673"/>
            <a:ext cx="3063240" cy="2913513"/>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11" name="Text Placeholder 4"/>
          <p:cNvSpPr>
            <a:spLocks noGrp="1"/>
          </p:cNvSpPr>
          <p:nvPr>
            <p:ph type="body" sz="quarter" idx="13"/>
          </p:nvPr>
        </p:nvSpPr>
        <p:spPr>
          <a:xfrm>
            <a:off x="7224156" y="2336873"/>
            <a:ext cx="3070025" cy="576262"/>
          </a:xfrm>
        </p:spPr>
        <p:txBody>
          <a:bodyPr anchor="b">
            <a:noAutofit/>
          </a:bodyPr>
          <a:lstStyle>
            <a:lvl1pPr marL="0" indent="0">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2" name="Text Placeholder 3"/>
          <p:cNvSpPr>
            <a:spLocks noGrp="1"/>
          </p:cNvSpPr>
          <p:nvPr>
            <p:ph type="body" sz="half" idx="17"/>
          </p:nvPr>
        </p:nvSpPr>
        <p:spPr>
          <a:xfrm>
            <a:off x="7224156" y="3022673"/>
            <a:ext cx="3070025" cy="2913513"/>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3" name="Date Placeholder 2"/>
          <p:cNvSpPr>
            <a:spLocks noGrp="1"/>
          </p:cNvSpPr>
          <p:nvPr>
            <p:ph type="dt" sz="half" idx="10"/>
          </p:nvPr>
        </p:nvSpPr>
        <p:spPr/>
        <p:txBody>
          <a:bodyPr/>
          <a:lstStyle/>
          <a:p>
            <a:fld id="{3CC13380-9748-4652-9032-5612F4CA0E48}" type="datetimeFigureOut">
              <a:rPr lang="en-IN" smtClean="0"/>
              <a:t>28-01-2026</a:t>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43024221-E973-44AC-B32E-B489B21B5E01}" type="slidenum">
              <a:rPr lang="en-IN" smtClean="0"/>
              <a:t>‹#›</a:t>
            </a:fld>
            <a:endParaRPr lang="en-IN"/>
          </a:p>
        </p:txBody>
      </p:sp>
    </p:spTree>
    <p:extLst>
      <p:ext uri="{BB962C8B-B14F-4D97-AF65-F5344CB8AC3E}">
        <p14:creationId xmlns:p14="http://schemas.microsoft.com/office/powerpoint/2010/main" val="406345696"/>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3 Picture Column">
    <p:spTree>
      <p:nvGrpSpPr>
        <p:cNvPr id="1" name=""/>
        <p:cNvGrpSpPr/>
        <p:nvPr/>
      </p:nvGrpSpPr>
      <p:grpSpPr>
        <a:xfrm>
          <a:off x="0" y="0"/>
          <a:ext cx="0" cy="0"/>
          <a:chOff x="0" y="0"/>
          <a:chExt cx="0" cy="0"/>
        </a:xfrm>
      </p:grpSpPr>
      <p:pic>
        <p:nvPicPr>
          <p:cNvPr id="15" name="Picture 14" descr="HD-ShadowLong.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 y="1970240"/>
            <a:ext cx="10437812" cy="321164"/>
          </a:xfrm>
          <a:prstGeom prst="rect">
            <a:avLst/>
          </a:prstGeom>
        </p:spPr>
      </p:pic>
      <p:pic>
        <p:nvPicPr>
          <p:cNvPr id="16" name="Picture 15" descr="HD-ShadowShort.png"/>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585826" y="1971234"/>
            <a:ext cx="1602997" cy="144270"/>
          </a:xfrm>
          <a:prstGeom prst="rect">
            <a:avLst/>
          </a:prstGeom>
        </p:spPr>
      </p:pic>
      <p:sp>
        <p:nvSpPr>
          <p:cNvPr id="17" name="Rectangle 16"/>
          <p:cNvSpPr/>
          <p:nvPr/>
        </p:nvSpPr>
        <p:spPr bwMode="ltGray">
          <a:xfrm>
            <a:off x="0" y="609600"/>
            <a:ext cx="10437812" cy="1368198"/>
          </a:xfrm>
          <a:prstGeom prst="rect">
            <a:avLst/>
          </a:prstGeom>
          <a:solidFill>
            <a:schemeClr val="bg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IN"/>
          </a:p>
        </p:txBody>
      </p:sp>
      <p:sp>
        <p:nvSpPr>
          <p:cNvPr id="18" name="Rectangle 17"/>
          <p:cNvSpPr/>
          <p:nvPr/>
        </p:nvSpPr>
        <p:spPr>
          <a:xfrm>
            <a:off x="10585827" y="609600"/>
            <a:ext cx="1602997" cy="136819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IN"/>
          </a:p>
        </p:txBody>
      </p:sp>
      <p:sp>
        <p:nvSpPr>
          <p:cNvPr id="30" name="Title 1"/>
          <p:cNvSpPr>
            <a:spLocks noGrp="1"/>
          </p:cNvSpPr>
          <p:nvPr>
            <p:ph type="title"/>
          </p:nvPr>
        </p:nvSpPr>
        <p:spPr>
          <a:xfrm>
            <a:off x="680322" y="753228"/>
            <a:ext cx="9613860" cy="1080938"/>
          </a:xfrm>
        </p:spPr>
        <p:txBody>
          <a:bodyPr/>
          <a:lstStyle/>
          <a:p>
            <a:r>
              <a:rPr lang="en-US"/>
              <a:t>Click to edit Master title style</a:t>
            </a:r>
            <a:endParaRPr lang="en-US" dirty="0"/>
          </a:p>
        </p:txBody>
      </p:sp>
      <p:sp>
        <p:nvSpPr>
          <p:cNvPr id="19" name="Text Placeholder 2"/>
          <p:cNvSpPr>
            <a:spLocks noGrp="1"/>
          </p:cNvSpPr>
          <p:nvPr>
            <p:ph type="body" idx="1"/>
          </p:nvPr>
        </p:nvSpPr>
        <p:spPr>
          <a:xfrm>
            <a:off x="680318" y="4297503"/>
            <a:ext cx="3049705" cy="576262"/>
          </a:xfrm>
        </p:spPr>
        <p:txBody>
          <a:bodyPr anchor="b">
            <a:noAutofit/>
          </a:bodyPr>
          <a:lstStyle>
            <a:lvl1pPr marL="0" indent="0">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0" name="Picture Placeholder 2"/>
          <p:cNvSpPr>
            <a:spLocks noGrp="1" noChangeAspect="1"/>
          </p:cNvSpPr>
          <p:nvPr>
            <p:ph type="pic" idx="15"/>
          </p:nvPr>
        </p:nvSpPr>
        <p:spPr>
          <a:xfrm>
            <a:off x="680318" y="2336873"/>
            <a:ext cx="3049705" cy="1524000"/>
          </a:xfrm>
          <a:prstGeom prst="roundRect">
            <a:avLst>
              <a:gd name="adj" fmla="val 0"/>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1" name="Text Placeholder 3"/>
          <p:cNvSpPr>
            <a:spLocks noGrp="1"/>
          </p:cNvSpPr>
          <p:nvPr>
            <p:ph type="body" sz="half" idx="18"/>
          </p:nvPr>
        </p:nvSpPr>
        <p:spPr>
          <a:xfrm>
            <a:off x="680318" y="4873765"/>
            <a:ext cx="3049705" cy="1062422"/>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22" name="Text Placeholder 4"/>
          <p:cNvSpPr>
            <a:spLocks noGrp="1"/>
          </p:cNvSpPr>
          <p:nvPr>
            <p:ph type="body" sz="quarter" idx="3"/>
          </p:nvPr>
        </p:nvSpPr>
        <p:spPr>
          <a:xfrm>
            <a:off x="3945471" y="4297503"/>
            <a:ext cx="3063240" cy="576262"/>
          </a:xfrm>
        </p:spPr>
        <p:txBody>
          <a:bodyPr anchor="b">
            <a:noAutofit/>
          </a:bodyPr>
          <a:lstStyle>
            <a:lvl1pPr marL="0" indent="0">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3" name="Picture Placeholder 2"/>
          <p:cNvSpPr>
            <a:spLocks noGrp="1" noChangeAspect="1"/>
          </p:cNvSpPr>
          <p:nvPr>
            <p:ph type="pic" idx="21"/>
          </p:nvPr>
        </p:nvSpPr>
        <p:spPr>
          <a:xfrm>
            <a:off x="3945470" y="2336873"/>
            <a:ext cx="3063240" cy="1524000"/>
          </a:xfrm>
          <a:prstGeom prst="roundRect">
            <a:avLst>
              <a:gd name="adj" fmla="val 0"/>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4" name="Text Placeholder 3"/>
          <p:cNvSpPr>
            <a:spLocks noGrp="1"/>
          </p:cNvSpPr>
          <p:nvPr>
            <p:ph type="body" sz="half" idx="19"/>
          </p:nvPr>
        </p:nvSpPr>
        <p:spPr>
          <a:xfrm>
            <a:off x="3944117" y="4873764"/>
            <a:ext cx="3067297" cy="1062422"/>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25" name="Text Placeholder 4"/>
          <p:cNvSpPr>
            <a:spLocks noGrp="1"/>
          </p:cNvSpPr>
          <p:nvPr>
            <p:ph type="body" sz="quarter" idx="13"/>
          </p:nvPr>
        </p:nvSpPr>
        <p:spPr>
          <a:xfrm>
            <a:off x="7230678" y="4297503"/>
            <a:ext cx="3063505" cy="576262"/>
          </a:xfrm>
        </p:spPr>
        <p:txBody>
          <a:bodyPr anchor="b">
            <a:noAutofit/>
          </a:bodyPr>
          <a:lstStyle>
            <a:lvl1pPr marL="0" indent="0">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6" name="Picture Placeholder 2"/>
          <p:cNvSpPr>
            <a:spLocks noGrp="1" noChangeAspect="1"/>
          </p:cNvSpPr>
          <p:nvPr>
            <p:ph type="pic" idx="22"/>
          </p:nvPr>
        </p:nvSpPr>
        <p:spPr>
          <a:xfrm>
            <a:off x="7230677" y="2336873"/>
            <a:ext cx="3063505" cy="1524000"/>
          </a:xfrm>
          <a:prstGeom prst="roundRect">
            <a:avLst>
              <a:gd name="adj" fmla="val 0"/>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7" name="Text Placeholder 3"/>
          <p:cNvSpPr>
            <a:spLocks noGrp="1"/>
          </p:cNvSpPr>
          <p:nvPr>
            <p:ph type="body" sz="half" idx="20"/>
          </p:nvPr>
        </p:nvSpPr>
        <p:spPr>
          <a:xfrm>
            <a:off x="7230553" y="4873762"/>
            <a:ext cx="3067563" cy="1062422"/>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3" name="Date Placeholder 2"/>
          <p:cNvSpPr>
            <a:spLocks noGrp="1"/>
          </p:cNvSpPr>
          <p:nvPr>
            <p:ph type="dt" sz="half" idx="10"/>
          </p:nvPr>
        </p:nvSpPr>
        <p:spPr/>
        <p:txBody>
          <a:bodyPr/>
          <a:lstStyle/>
          <a:p>
            <a:fld id="{3CC13380-9748-4652-9032-5612F4CA0E48}" type="datetimeFigureOut">
              <a:rPr lang="en-IN" smtClean="0"/>
              <a:t>28-01-2026</a:t>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43024221-E973-44AC-B32E-B489B21B5E01}" type="slidenum">
              <a:rPr lang="en-IN" smtClean="0"/>
              <a:t>‹#›</a:t>
            </a:fld>
            <a:endParaRPr lang="en-IN"/>
          </a:p>
        </p:txBody>
      </p:sp>
    </p:spTree>
    <p:extLst>
      <p:ext uri="{BB962C8B-B14F-4D97-AF65-F5344CB8AC3E}">
        <p14:creationId xmlns:p14="http://schemas.microsoft.com/office/powerpoint/2010/main" val="2027785377"/>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pic>
        <p:nvPicPr>
          <p:cNvPr id="7" name="Picture 6" descr="HD-ShadowLong.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 y="1970240"/>
            <a:ext cx="10437812" cy="321164"/>
          </a:xfrm>
          <a:prstGeom prst="rect">
            <a:avLst/>
          </a:prstGeom>
        </p:spPr>
      </p:pic>
      <p:pic>
        <p:nvPicPr>
          <p:cNvPr id="8" name="Picture 7" descr="HD-ShadowShort.png"/>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585826" y="1971234"/>
            <a:ext cx="1602997" cy="144270"/>
          </a:xfrm>
          <a:prstGeom prst="rect">
            <a:avLst/>
          </a:prstGeom>
        </p:spPr>
      </p:pic>
      <p:sp>
        <p:nvSpPr>
          <p:cNvPr id="9" name="Rectangle 8"/>
          <p:cNvSpPr/>
          <p:nvPr/>
        </p:nvSpPr>
        <p:spPr bwMode="ltGray">
          <a:xfrm>
            <a:off x="0" y="609600"/>
            <a:ext cx="10437812" cy="1368198"/>
          </a:xfrm>
          <a:prstGeom prst="rect">
            <a:avLst/>
          </a:prstGeom>
          <a:solidFill>
            <a:schemeClr val="bg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IN"/>
          </a:p>
        </p:txBody>
      </p:sp>
      <p:sp>
        <p:nvSpPr>
          <p:cNvPr id="10" name="Rectangle 9"/>
          <p:cNvSpPr/>
          <p:nvPr/>
        </p:nvSpPr>
        <p:spPr>
          <a:xfrm>
            <a:off x="10585827" y="609600"/>
            <a:ext cx="1602997" cy="136819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IN"/>
          </a:p>
        </p:txBody>
      </p:sp>
      <p:sp>
        <p:nvSpPr>
          <p:cNvPr id="2" name="Title 1"/>
          <p:cNvSpPr>
            <a:spLocks noGrp="1"/>
          </p:cNvSpPr>
          <p:nvPr>
            <p:ph type="title"/>
          </p:nvPr>
        </p:nvSpPr>
        <p:spPr/>
        <p:txBody>
          <a:bodyPr/>
          <a:lstStyle>
            <a:lvl1pPr algn="r">
              <a:defRPr/>
            </a:lvl1p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3CC13380-9748-4652-9032-5612F4CA0E48}" type="datetimeFigureOut">
              <a:rPr lang="en-IN" smtClean="0"/>
              <a:t>28-01-2026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43024221-E973-44AC-B32E-B489B21B5E01}" type="slidenum">
              <a:rPr lang="en-IN" smtClean="0"/>
              <a:t>‹#›</a:t>
            </a:fld>
            <a:endParaRPr lang="en-IN"/>
          </a:p>
        </p:txBody>
      </p:sp>
    </p:spTree>
    <p:extLst>
      <p:ext uri="{BB962C8B-B14F-4D97-AF65-F5344CB8AC3E}">
        <p14:creationId xmlns:p14="http://schemas.microsoft.com/office/powerpoint/2010/main" val="3913794082"/>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7" name="Rectangle 6"/>
          <p:cNvSpPr/>
          <p:nvPr/>
        </p:nvSpPr>
        <p:spPr bwMode="ltGray">
          <a:xfrm rot="5400000">
            <a:off x="8116207" y="1869395"/>
            <a:ext cx="5106988" cy="1368198"/>
          </a:xfrm>
          <a:prstGeom prst="rect">
            <a:avLst/>
          </a:prstGeom>
          <a:solidFill>
            <a:schemeClr val="bg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IN"/>
          </a:p>
        </p:txBody>
      </p:sp>
      <p:sp>
        <p:nvSpPr>
          <p:cNvPr id="8" name="Rectangle 7"/>
          <p:cNvSpPr/>
          <p:nvPr/>
        </p:nvSpPr>
        <p:spPr>
          <a:xfrm rot="5400000">
            <a:off x="9868202" y="5372403"/>
            <a:ext cx="1602997" cy="136819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IN"/>
          </a:p>
        </p:txBody>
      </p:sp>
      <p:sp>
        <p:nvSpPr>
          <p:cNvPr id="2" name="Vertical Title 1"/>
          <p:cNvSpPr>
            <a:spLocks noGrp="1"/>
          </p:cNvSpPr>
          <p:nvPr>
            <p:ph type="title" orient="vert"/>
          </p:nvPr>
        </p:nvSpPr>
        <p:spPr>
          <a:xfrm>
            <a:off x="10129231" y="609597"/>
            <a:ext cx="1073802" cy="4353760"/>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680322" y="609597"/>
            <a:ext cx="8870004" cy="5326589"/>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a:xfrm>
            <a:off x="6807126" y="5936187"/>
            <a:ext cx="2743200" cy="365125"/>
          </a:xfrm>
        </p:spPr>
        <p:txBody>
          <a:bodyPr/>
          <a:lstStyle/>
          <a:p>
            <a:fld id="{3CC13380-9748-4652-9032-5612F4CA0E48}" type="datetimeFigureOut">
              <a:rPr lang="en-IN" smtClean="0"/>
              <a:t>28-01-2026</a:t>
            </a:fld>
            <a:endParaRPr lang="en-IN"/>
          </a:p>
        </p:txBody>
      </p:sp>
      <p:sp>
        <p:nvSpPr>
          <p:cNvPr id="5" name="Footer Placeholder 4"/>
          <p:cNvSpPr>
            <a:spLocks noGrp="1"/>
          </p:cNvSpPr>
          <p:nvPr>
            <p:ph type="ftr" sz="quarter" idx="11"/>
          </p:nvPr>
        </p:nvSpPr>
        <p:spPr>
          <a:xfrm>
            <a:off x="680321" y="5936188"/>
            <a:ext cx="6126805" cy="365125"/>
          </a:xfrm>
        </p:spPr>
        <p:txBody>
          <a:bodyPr/>
          <a:lstStyle/>
          <a:p>
            <a:endParaRPr lang="en-IN"/>
          </a:p>
        </p:txBody>
      </p:sp>
      <p:sp>
        <p:nvSpPr>
          <p:cNvPr id="6" name="Slide Number Placeholder 5"/>
          <p:cNvSpPr>
            <a:spLocks noGrp="1"/>
          </p:cNvSpPr>
          <p:nvPr>
            <p:ph type="sldNum" sz="quarter" idx="12"/>
          </p:nvPr>
        </p:nvSpPr>
        <p:spPr>
          <a:xfrm>
            <a:off x="10097550" y="5398633"/>
            <a:ext cx="1154151" cy="1090789"/>
          </a:xfrm>
        </p:spPr>
        <p:txBody>
          <a:bodyPr anchor="t"/>
          <a:lstStyle>
            <a:lvl1pPr algn="ctr">
              <a:defRPr/>
            </a:lvl1pPr>
          </a:lstStyle>
          <a:p>
            <a:fld id="{43024221-E973-44AC-B32E-B489B21B5E01}" type="slidenum">
              <a:rPr lang="en-IN" smtClean="0"/>
              <a:t>‹#›</a:t>
            </a:fld>
            <a:endParaRPr lang="en-IN"/>
          </a:p>
        </p:txBody>
      </p:sp>
    </p:spTree>
    <p:extLst>
      <p:ext uri="{BB962C8B-B14F-4D97-AF65-F5344CB8AC3E}">
        <p14:creationId xmlns:p14="http://schemas.microsoft.com/office/powerpoint/2010/main" val="287488150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image" Target="../media/image1.png"/><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pic>
        <p:nvPicPr>
          <p:cNvPr id="7" name="Picture 6" descr="hashOverlay-FullResolve.png"/>
          <p:cNvPicPr>
            <a:picLocks noChangeAspect="1"/>
          </p:cNvPicPr>
          <p:nvPr/>
        </p:nvPicPr>
        <p:blipFill>
          <a:blip r:embed="rId19">
            <a:alphaModFix amt="10000"/>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Placeholder 1"/>
          <p:cNvSpPr>
            <a:spLocks noGrp="1"/>
          </p:cNvSpPr>
          <p:nvPr>
            <p:ph type="title"/>
          </p:nvPr>
        </p:nvSpPr>
        <p:spPr>
          <a:xfrm>
            <a:off x="680321" y="753228"/>
            <a:ext cx="9613861" cy="1080938"/>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680321" y="2336873"/>
            <a:ext cx="9613861" cy="3599316"/>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550981" y="5936187"/>
            <a:ext cx="2743200" cy="365125"/>
          </a:xfrm>
          <a:prstGeom prst="rect">
            <a:avLst/>
          </a:prstGeom>
        </p:spPr>
        <p:txBody>
          <a:bodyPr vert="horz" lIns="91440" tIns="45720" rIns="91440" bIns="45720" rtlCol="0" anchor="ctr"/>
          <a:lstStyle>
            <a:lvl1pPr algn="r">
              <a:defRPr sz="1050">
                <a:solidFill>
                  <a:schemeClr val="tx1">
                    <a:tint val="75000"/>
                  </a:schemeClr>
                </a:solidFill>
              </a:defRPr>
            </a:lvl1pPr>
          </a:lstStyle>
          <a:p>
            <a:fld id="{3CC13380-9748-4652-9032-5612F4CA0E48}" type="datetimeFigureOut">
              <a:rPr lang="en-IN" smtClean="0"/>
              <a:t>28-01-2026</a:t>
            </a:fld>
            <a:endParaRPr lang="en-IN"/>
          </a:p>
        </p:txBody>
      </p:sp>
      <p:sp>
        <p:nvSpPr>
          <p:cNvPr id="5" name="Footer Placeholder 4"/>
          <p:cNvSpPr>
            <a:spLocks noGrp="1"/>
          </p:cNvSpPr>
          <p:nvPr>
            <p:ph type="ftr" sz="quarter" idx="3"/>
          </p:nvPr>
        </p:nvSpPr>
        <p:spPr>
          <a:xfrm>
            <a:off x="680321" y="5936188"/>
            <a:ext cx="6870660" cy="365125"/>
          </a:xfrm>
          <a:prstGeom prst="rect">
            <a:avLst/>
          </a:prstGeom>
        </p:spPr>
        <p:txBody>
          <a:bodyPr vert="horz" lIns="91440" tIns="45720" rIns="91440" bIns="45720" rtlCol="0" anchor="ctr"/>
          <a:lstStyle>
            <a:lvl1pPr algn="l">
              <a:defRPr sz="1050">
                <a:solidFill>
                  <a:schemeClr val="tx1">
                    <a:tint val="75000"/>
                  </a:schemeClr>
                </a:solidFill>
              </a:defRPr>
            </a:lvl1pPr>
          </a:lstStyle>
          <a:p>
            <a:endParaRPr lang="en-IN"/>
          </a:p>
        </p:txBody>
      </p:sp>
      <p:sp>
        <p:nvSpPr>
          <p:cNvPr id="6" name="Slide Number Placeholder 5"/>
          <p:cNvSpPr>
            <a:spLocks noGrp="1"/>
          </p:cNvSpPr>
          <p:nvPr>
            <p:ph type="sldNum" sz="quarter" idx="4"/>
          </p:nvPr>
        </p:nvSpPr>
        <p:spPr>
          <a:xfrm>
            <a:off x="10729455" y="753227"/>
            <a:ext cx="1154151" cy="1090789"/>
          </a:xfrm>
          <a:prstGeom prst="rect">
            <a:avLst/>
          </a:prstGeom>
        </p:spPr>
        <p:txBody>
          <a:bodyPr vert="horz" lIns="91440" tIns="45720" rIns="91440" bIns="45720" rtlCol="0" anchor="ctr"/>
          <a:lstStyle>
            <a:lvl1pPr algn="l">
              <a:defRPr sz="3600">
                <a:solidFill>
                  <a:schemeClr val="tx1">
                    <a:tint val="75000"/>
                  </a:schemeClr>
                </a:solidFill>
              </a:defRPr>
            </a:lvl1pPr>
          </a:lstStyle>
          <a:p>
            <a:fld id="{43024221-E973-44AC-B32E-B489B21B5E01}" type="slidenum">
              <a:rPr lang="en-IN" smtClean="0"/>
              <a:t>‹#›</a:t>
            </a:fld>
            <a:endParaRPr lang="en-IN"/>
          </a:p>
        </p:txBody>
      </p:sp>
    </p:spTree>
    <p:extLst>
      <p:ext uri="{BB962C8B-B14F-4D97-AF65-F5344CB8AC3E}">
        <p14:creationId xmlns:p14="http://schemas.microsoft.com/office/powerpoint/2010/main" val="1142281582"/>
      </p:ext>
    </p:extLst>
  </p:cSld>
  <p:clrMap bg1="dk1" tx1="lt1" bg2="dk2" tx2="lt2" accent1="accent1" accent2="accent2" accent3="accent3" accent4="accent4" accent5="accent5" accent6="accent6" hlink="hlink" folHlink="folHlink"/>
  <p:sldLayoutIdLst>
    <p:sldLayoutId id="2147483691" r:id="rId1"/>
    <p:sldLayoutId id="2147483692" r:id="rId2"/>
    <p:sldLayoutId id="2147483693" r:id="rId3"/>
    <p:sldLayoutId id="2147483694" r:id="rId4"/>
    <p:sldLayoutId id="2147483695" r:id="rId5"/>
    <p:sldLayoutId id="2147483696" r:id="rId6"/>
    <p:sldLayoutId id="2147483697" r:id="rId7"/>
    <p:sldLayoutId id="2147483698" r:id="rId8"/>
    <p:sldLayoutId id="2147483699" r:id="rId9"/>
    <p:sldLayoutId id="2147483700" r:id="rId10"/>
    <p:sldLayoutId id="2147483701" r:id="rId11"/>
    <p:sldLayoutId id="2147483702" r:id="rId12"/>
    <p:sldLayoutId id="2147483703" r:id="rId13"/>
    <p:sldLayoutId id="2147483704" r:id="rId14"/>
    <p:sldLayoutId id="2147483705" r:id="rId15"/>
    <p:sldLayoutId id="2147483706" r:id="rId16"/>
    <p:sldLayoutId id="2147483707" r:id="rId17"/>
  </p:sldLayoutIdLst>
  <p:txStyles>
    <p:titleStyle>
      <a:lvl1pPr algn="l" defTabSz="914400" rtl="0" eaLnBrk="1" latinLnBrk="0" hangingPunct="1">
        <a:lnSpc>
          <a:spcPct val="90000"/>
        </a:lnSpc>
        <a:spcBef>
          <a:spcPct val="0"/>
        </a:spcBef>
        <a:buNone/>
        <a:defRPr sz="36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4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2.xml"/><Relationship Id="rId6" Type="http://schemas.openxmlformats.org/officeDocument/2006/relationships/image" Target="../media/image4.png"/><Relationship Id="rId5" Type="http://schemas.openxmlformats.org/officeDocument/2006/relationships/image" Target="../media/image3.png"/><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4.xml"/><Relationship Id="rId1" Type="http://schemas.openxmlformats.org/officeDocument/2006/relationships/slideLayout" Target="../slideLayouts/slideLayout2.xml"/><Relationship Id="rId4" Type="http://schemas.openxmlformats.org/officeDocument/2006/relationships/image" Target="../media/image6.svg"/></Relationships>
</file>

<file path=ppt/slides/_rels/slide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5.xml"/><Relationship Id="rId1" Type="http://schemas.openxmlformats.org/officeDocument/2006/relationships/slideLayout" Target="../slideLayouts/slideLayout2.xml"/><Relationship Id="rId6" Type="http://schemas.openxmlformats.org/officeDocument/2006/relationships/image" Target="../media/image8.svg"/><Relationship Id="rId5" Type="http://schemas.openxmlformats.org/officeDocument/2006/relationships/image" Target="../media/image7.png"/><Relationship Id="rId4" Type="http://schemas.openxmlformats.org/officeDocument/2006/relationships/image" Target="../media/image2.png"/></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7.xml"/><Relationship Id="rId1" Type="http://schemas.openxmlformats.org/officeDocument/2006/relationships/slideLayout" Target="../slideLayouts/slideLayout2.xml"/><Relationship Id="rId5" Type="http://schemas.openxmlformats.org/officeDocument/2006/relationships/image" Target="../media/image2.png"/><Relationship Id="rId4" Type="http://schemas.openxmlformats.org/officeDocument/2006/relationships/image" Target="../media/image9.jpeg"/></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0.xml"/><Relationship Id="rId1" Type="http://schemas.openxmlformats.org/officeDocument/2006/relationships/slideLayout" Target="../slideLayouts/slideLayout2.xml"/><Relationship Id="rId5" Type="http://schemas.openxmlformats.org/officeDocument/2006/relationships/image" Target="../media/image11.png"/><Relationship Id="rId4" Type="http://schemas.openxmlformats.org/officeDocument/2006/relationships/image" Target="../media/image2.png"/></Relationships>
</file>

<file path=ppt/slides/_rels/slide11.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1.xml"/><Relationship Id="rId1" Type="http://schemas.openxmlformats.org/officeDocument/2006/relationships/slideLayout" Target="../slideLayouts/slideLayout2.xml"/><Relationship Id="rId4" Type="http://schemas.openxmlformats.org/officeDocument/2006/relationships/image" Target="../media/image13.png"/></Relationships>
</file>

<file path=ppt/slides/_rels/slide12.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12.xml"/><Relationship Id="rId1" Type="http://schemas.openxmlformats.org/officeDocument/2006/relationships/slideLayout" Target="../slideLayouts/slideLayout2.xml"/><Relationship Id="rId4" Type="http://schemas.openxmlformats.org/officeDocument/2006/relationships/image" Target="../media/image15.png"/></Relationships>
</file>

<file path=ppt/slides/_rels/slide13.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13.xml"/><Relationship Id="rId1" Type="http://schemas.openxmlformats.org/officeDocument/2006/relationships/slideLayout" Target="../slideLayouts/slideLayout2.xml"/><Relationship Id="rId5" Type="http://schemas.openxmlformats.org/officeDocument/2006/relationships/image" Target="../media/image18.png"/><Relationship Id="rId4" Type="http://schemas.openxmlformats.org/officeDocument/2006/relationships/image" Target="../media/image17.png"/></Relationships>
</file>

<file path=ppt/slides/_rels/slide14.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14.xml"/><Relationship Id="rId1" Type="http://schemas.openxmlformats.org/officeDocument/2006/relationships/slideLayout" Target="../slideLayouts/slideLayout2.xml"/><Relationship Id="rId5" Type="http://schemas.openxmlformats.org/officeDocument/2006/relationships/image" Target="../media/image21.png"/><Relationship Id="rId4" Type="http://schemas.openxmlformats.org/officeDocument/2006/relationships/image" Target="../media/image20.png"/></Relationships>
</file>

<file path=ppt/slides/_rels/slide1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5.xml"/><Relationship Id="rId1" Type="http://schemas.openxmlformats.org/officeDocument/2006/relationships/slideLayout" Target="../slideLayouts/slideLayout2.xml"/><Relationship Id="rId5" Type="http://schemas.openxmlformats.org/officeDocument/2006/relationships/image" Target="../media/image22.png"/><Relationship Id="rId4" Type="http://schemas.openxmlformats.org/officeDocument/2006/relationships/image" Target="../media/image2.png"/></Relationships>
</file>

<file path=ppt/slides/_rels/slide16.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16.xml"/><Relationship Id="rId1" Type="http://schemas.openxmlformats.org/officeDocument/2006/relationships/slideLayout" Target="../slideLayouts/slideLayout2.xml"/><Relationship Id="rId4" Type="http://schemas.openxmlformats.org/officeDocument/2006/relationships/image" Target="../media/image24.png"/></Relationships>
</file>

<file path=ppt/slides/_rels/slide17.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17.xml"/><Relationship Id="rId1" Type="http://schemas.openxmlformats.org/officeDocument/2006/relationships/slideLayout" Target="../slideLayouts/slideLayout2.xml"/><Relationship Id="rId4" Type="http://schemas.openxmlformats.org/officeDocument/2006/relationships/image" Target="../media/image26.png"/></Relationships>
</file>

<file path=ppt/slides/_rels/slide18.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9.xml"/><Relationship Id="rId1" Type="http://schemas.openxmlformats.org/officeDocument/2006/relationships/slideLayout" Target="../slideLayouts/slideLayout2.xml"/><Relationship Id="rId4" Type="http://schemas.openxmlformats.org/officeDocument/2006/relationships/image" Target="../media/image2.png"/></Relationships>
</file>

<file path=ppt/slides/_rels/slide20.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hyperlink" Target="https://www.coherentsolutions.com/insights/the-future-and-current-trends-in-data-analytics-across-industries" TargetMode="External"/><Relationship Id="rId7" Type="http://schemas.openxmlformats.org/officeDocument/2006/relationships/hyperlink" Target="https://www.deloitte.com/us/en/services/consulting/articles/data-strategic-asset.html" TargetMode="External"/><Relationship Id="rId2" Type="http://schemas.openxmlformats.org/officeDocument/2006/relationships/notesSlide" Target="../notesSlides/notesSlide22.xml"/><Relationship Id="rId1" Type="http://schemas.openxmlformats.org/officeDocument/2006/relationships/slideLayout" Target="../slideLayouts/slideLayout2.xml"/><Relationship Id="rId6" Type="http://schemas.openxmlformats.org/officeDocument/2006/relationships/hyperlink" Target="https://www.statista.com/outlook/mmo/shared-mobility/e-scooter-sharing/worldwide" TargetMode="External"/><Relationship Id="rId5" Type="http://schemas.openxmlformats.org/officeDocument/2006/relationships/hyperlink" Target="https://rivery.io/downloads/data-management-trends/" TargetMode="External"/><Relationship Id="rId4" Type="http://schemas.openxmlformats.org/officeDocument/2006/relationships/hyperlink" Target="https://www.mckinsey.com/capabilities/tech-and-ai/our-insights/the-top-trends-in-tech" TargetMode="External"/></Relationships>
</file>

<file path=ppt/slides/_rels/slide23.xml.rels><?xml version="1.0" encoding="UTF-8" standalone="yes"?>
<Relationships xmlns="http://schemas.openxmlformats.org/package/2006/relationships"><Relationship Id="rId3" Type="http://schemas.openxmlformats.org/officeDocument/2006/relationships/hyperlink" Target="https://docs.google.com/document/d/19Ia4HRq-SpfYv6Z7tRfpUwjEcJNvKzhn2il0MGh9kk" TargetMode="External"/><Relationship Id="rId2" Type="http://schemas.openxmlformats.org/officeDocument/2006/relationships/notesSlide" Target="../notesSlides/notesSlide23.xml"/><Relationship Id="rId1" Type="http://schemas.openxmlformats.org/officeDocument/2006/relationships/slideLayout" Target="../slideLayouts/slideLayout2.xml"/><Relationship Id="rId5" Type="http://schemas.openxmlformats.org/officeDocument/2006/relationships/image" Target="../media/image30.emf"/><Relationship Id="rId4" Type="http://schemas.openxmlformats.org/officeDocument/2006/relationships/oleObject" Target="../embeddings/oleObject1.bin"/></Relationships>
</file>

<file path=ppt/slides/slide1.xml><?xml version="1.0" encoding="utf-8"?>
<p:sld xmlns:a="http://schemas.openxmlformats.org/drawingml/2006/main" xmlns:r="http://schemas.openxmlformats.org/officeDocument/2006/relationships" xmlns:p="http://schemas.openxmlformats.org/presentationml/2006/main">
  <p:cSld>
    <p:bg>
      <p:bgPr>
        <a:gradFill rotWithShape="1">
          <a:gsLst>
            <a:gs pos="0">
              <a:schemeClr val="bg2">
                <a:tint val="96000"/>
                <a:shade val="100000"/>
                <a:hueMod val="92000"/>
                <a:satMod val="200000"/>
                <a:lumMod val="128000"/>
              </a:schemeClr>
            </a:gs>
            <a:gs pos="50000">
              <a:schemeClr val="bg2">
                <a:shade val="100000"/>
                <a:hueMod val="100000"/>
                <a:satMod val="110000"/>
                <a:lumMod val="130000"/>
              </a:schemeClr>
            </a:gs>
            <a:gs pos="100000">
              <a:schemeClr val="bg2">
                <a:shade val="78000"/>
                <a:hueMod val="118000"/>
                <a:satMod val="120000"/>
                <a:lumMod val="69000"/>
              </a:schemeClr>
            </a:gs>
          </a:gsLst>
          <a:lin ang="2520000" scaled="0"/>
        </a:gradFill>
        <a:effectLst/>
      </p:bgPr>
    </p:bg>
    <p:spTree>
      <p:nvGrpSpPr>
        <p:cNvPr id="1" name=""/>
        <p:cNvGrpSpPr/>
        <p:nvPr/>
      </p:nvGrpSpPr>
      <p:grpSpPr>
        <a:xfrm>
          <a:off x="0" y="0"/>
          <a:ext cx="0" cy="0"/>
          <a:chOff x="0" y="0"/>
          <a:chExt cx="0" cy="0"/>
        </a:xfrm>
      </p:grpSpPr>
      <p:pic>
        <p:nvPicPr>
          <p:cNvPr id="10" name="Picture 9">
            <a:extLst>
              <a:ext uri="{FF2B5EF4-FFF2-40B4-BE49-F238E27FC236}">
                <a16:creationId xmlns:a16="http://schemas.microsoft.com/office/drawing/2014/main" id="{9B9C2B48-3899-4B1D-B526-C35DFD16BC01}"/>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a:blip r:embed="rId3">
            <a:alphaModFix amt="10000"/>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pic>
        <p:nvPicPr>
          <p:cNvPr id="12" name="Picture 11">
            <a:extLst>
              <a:ext uri="{FF2B5EF4-FFF2-40B4-BE49-F238E27FC236}">
                <a16:creationId xmlns:a16="http://schemas.microsoft.com/office/drawing/2014/main" id="{1A89A43D-53DA-411B-94AD-DEEF9B654AF3}"/>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a:blip r:embed="rId4">
            <a:extLst>
              <a:ext uri="{28A0092B-C50C-407E-A947-70E740481C1C}">
                <a14:useLocalDpi xmlns:a14="http://schemas.microsoft.com/office/drawing/2010/main" val="0"/>
              </a:ext>
            </a:extLst>
          </a:blip>
          <a:stretch>
            <a:fillRect/>
          </a:stretch>
        </p:blipFill>
        <p:spPr>
          <a:xfrm>
            <a:off x="1" y="4242851"/>
            <a:ext cx="8968084" cy="275942"/>
          </a:xfrm>
          <a:prstGeom prst="rect">
            <a:avLst/>
          </a:prstGeom>
        </p:spPr>
      </p:pic>
      <p:pic>
        <p:nvPicPr>
          <p:cNvPr id="14" name="Picture 13">
            <a:extLst>
              <a:ext uri="{FF2B5EF4-FFF2-40B4-BE49-F238E27FC236}">
                <a16:creationId xmlns:a16="http://schemas.microsoft.com/office/drawing/2014/main" id="{5D844A84-2EA4-4FF5-83FD-E14C9E8D7226}"/>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a:blip r:embed="rId5">
            <a:extLst>
              <a:ext uri="{28A0092B-C50C-407E-A947-70E740481C1C}">
                <a14:useLocalDpi xmlns:a14="http://schemas.microsoft.com/office/drawing/2010/main" val="0"/>
              </a:ext>
            </a:extLst>
          </a:blip>
          <a:stretch>
            <a:fillRect/>
          </a:stretch>
        </p:blipFill>
        <p:spPr>
          <a:xfrm>
            <a:off x="9111716" y="4243845"/>
            <a:ext cx="3077108" cy="276940"/>
          </a:xfrm>
          <a:prstGeom prst="rect">
            <a:avLst/>
          </a:prstGeom>
        </p:spPr>
      </p:pic>
      <p:sp>
        <p:nvSpPr>
          <p:cNvPr id="16" name="Rectangle 15">
            <a:extLst>
              <a:ext uri="{FF2B5EF4-FFF2-40B4-BE49-F238E27FC236}">
                <a16:creationId xmlns:a16="http://schemas.microsoft.com/office/drawing/2014/main" id="{6A23D1B2-B408-4913-9A1D-051C9DB38D5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2590078"/>
            <a:ext cx="8968085" cy="1660332"/>
          </a:xfrm>
          <a:prstGeom prst="rect">
            <a:avLst/>
          </a:prstGeom>
          <a:solidFill>
            <a:schemeClr val="bg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IN"/>
          </a:p>
        </p:txBody>
      </p:sp>
      <p:sp>
        <p:nvSpPr>
          <p:cNvPr id="18" name="Rectangle 17">
            <a:extLst>
              <a:ext uri="{FF2B5EF4-FFF2-40B4-BE49-F238E27FC236}">
                <a16:creationId xmlns:a16="http://schemas.microsoft.com/office/drawing/2014/main" id="{0189E329-C38B-4230-A181-B6B8BB9E143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9111715" y="2590078"/>
            <a:ext cx="3077109" cy="1660332"/>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IN"/>
          </a:p>
        </p:txBody>
      </p:sp>
      <p:sp useBgFill="1">
        <p:nvSpPr>
          <p:cNvPr id="20" name="Rectangle 19">
            <a:extLst>
              <a:ext uri="{FF2B5EF4-FFF2-40B4-BE49-F238E27FC236}">
                <a16:creationId xmlns:a16="http://schemas.microsoft.com/office/drawing/2014/main" id="{C267B0E0-0B85-4B6D-AFCD-0083F94E1F8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824"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22" name="Picture 21">
            <a:extLst>
              <a:ext uri="{FF2B5EF4-FFF2-40B4-BE49-F238E27FC236}">
                <a16:creationId xmlns:a16="http://schemas.microsoft.com/office/drawing/2014/main" id="{741DAC6C-9C47-44AD-89C8-BABF9484349B}"/>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a:blip r:embed="rId3">
            <a:alphaModFix amt="10000"/>
            <a:extLst>
              <a:ext uri="{28A0092B-C50C-407E-A947-70E740481C1C}">
                <a14:useLocalDpi xmlns:a14="http://schemas.microsoft.com/office/drawing/2010/main" val="0"/>
              </a:ext>
            </a:extLst>
          </a:blip>
          <a:stretch>
            <a:fillRect/>
          </a:stretch>
        </p:blipFill>
        <p:spPr>
          <a:xfrm>
            <a:off x="0" y="-8207"/>
            <a:ext cx="12192000" cy="6858000"/>
          </a:xfrm>
          <a:prstGeom prst="rect">
            <a:avLst/>
          </a:prstGeom>
        </p:spPr>
      </p:pic>
      <p:sp>
        <p:nvSpPr>
          <p:cNvPr id="24" name="Rectangle 23">
            <a:extLst>
              <a:ext uri="{FF2B5EF4-FFF2-40B4-BE49-F238E27FC236}">
                <a16:creationId xmlns:a16="http://schemas.microsoft.com/office/drawing/2014/main" id="{1879D0B7-5E33-4D25-B4AC-FAC80502FC2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096000" y="0"/>
            <a:ext cx="6092824" cy="6858001"/>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26" name="Picture 25">
            <a:extLst>
              <a:ext uri="{FF2B5EF4-FFF2-40B4-BE49-F238E27FC236}">
                <a16:creationId xmlns:a16="http://schemas.microsoft.com/office/drawing/2014/main" id="{34A3F9D9-DEBA-4F2F-B136-85B1AEF091F2}"/>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a:blip r:embed="rId4">
            <a:extLst>
              <a:ext uri="{28A0092B-C50C-407E-A947-70E740481C1C}">
                <a14:useLocalDpi xmlns:a14="http://schemas.microsoft.com/office/drawing/2010/main" val="0"/>
              </a:ext>
            </a:extLst>
          </a:blip>
          <a:stretch>
            <a:fillRect/>
          </a:stretch>
        </p:blipFill>
        <p:spPr>
          <a:xfrm>
            <a:off x="1" y="4688333"/>
            <a:ext cx="6400800" cy="185701"/>
          </a:xfrm>
          <a:prstGeom prst="rect">
            <a:avLst/>
          </a:prstGeom>
        </p:spPr>
      </p:pic>
      <p:sp>
        <p:nvSpPr>
          <p:cNvPr id="28" name="Rectangle 27">
            <a:extLst>
              <a:ext uri="{FF2B5EF4-FFF2-40B4-BE49-F238E27FC236}">
                <a16:creationId xmlns:a16="http://schemas.microsoft.com/office/drawing/2014/main" id="{E75F9095-798C-4EF6-ABD0-3498021F8E5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2162908"/>
            <a:ext cx="6411743" cy="2532185"/>
          </a:xfrm>
          <a:prstGeom prst="rect">
            <a:avLst/>
          </a:prstGeom>
          <a:solidFill>
            <a:schemeClr val="bg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IN"/>
          </a:p>
        </p:txBody>
      </p:sp>
      <p:sp>
        <p:nvSpPr>
          <p:cNvPr id="2" name="Title 1">
            <a:extLst>
              <a:ext uri="{FF2B5EF4-FFF2-40B4-BE49-F238E27FC236}">
                <a16:creationId xmlns:a16="http://schemas.microsoft.com/office/drawing/2014/main" id="{8D07872B-6514-2078-56D4-01E8C3CAE2E5}"/>
              </a:ext>
            </a:extLst>
          </p:cNvPr>
          <p:cNvSpPr>
            <a:spLocks noGrp="1"/>
          </p:cNvSpPr>
          <p:nvPr>
            <p:ph type="title"/>
          </p:nvPr>
        </p:nvSpPr>
        <p:spPr>
          <a:xfrm>
            <a:off x="646431" y="2855551"/>
            <a:ext cx="5192940" cy="922131"/>
          </a:xfrm>
        </p:spPr>
        <p:txBody>
          <a:bodyPr vert="horz" lIns="91440" tIns="45720" rIns="91440" bIns="45720" rtlCol="0" anchor="b">
            <a:normAutofit/>
          </a:bodyPr>
          <a:lstStyle/>
          <a:p>
            <a:pPr algn="ctr"/>
            <a:r>
              <a:rPr lang="en-US" sz="5400" dirty="0" err="1"/>
              <a:t>Frontsheet</a:t>
            </a:r>
            <a:endParaRPr lang="en-US" sz="5400" dirty="0"/>
          </a:p>
        </p:txBody>
      </p:sp>
      <p:pic>
        <p:nvPicPr>
          <p:cNvPr id="5" name="Picture 4">
            <a:extLst>
              <a:ext uri="{FF2B5EF4-FFF2-40B4-BE49-F238E27FC236}">
                <a16:creationId xmlns:a16="http://schemas.microsoft.com/office/drawing/2014/main" id="{778AAC88-5DD9-992F-8AB2-CCA899C70ABF}"/>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6511207" y="667634"/>
            <a:ext cx="5589092" cy="5522732"/>
          </a:xfrm>
          <a:prstGeom prst="rect">
            <a:avLst/>
          </a:prstGeom>
          <a:ln>
            <a:noFill/>
          </a:ln>
          <a:effectLst>
            <a:outerShdw blurRad="76200" dist="63500" dir="5040000" algn="tl" rotWithShape="0">
              <a:srgbClr val="000000">
                <a:alpha val="41000"/>
              </a:srgbClr>
            </a:outerShdw>
          </a:effectLst>
        </p:spPr>
      </p:pic>
    </p:spTree>
    <p:extLst>
      <p:ext uri="{BB962C8B-B14F-4D97-AF65-F5344CB8AC3E}">
        <p14:creationId xmlns:p14="http://schemas.microsoft.com/office/powerpoint/2010/main" val="124554739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gradFill flip="none" rotWithShape="1">
          <a:gsLst>
            <a:gs pos="0">
              <a:schemeClr val="bg2">
                <a:shade val="100000"/>
                <a:hueMod val="100000"/>
                <a:satMod val="110000"/>
                <a:lumMod val="79000"/>
                <a:lumOff val="21000"/>
              </a:schemeClr>
            </a:gs>
            <a:gs pos="100000">
              <a:schemeClr val="bg2">
                <a:shade val="78000"/>
                <a:hueMod val="44000"/>
                <a:satMod val="200000"/>
                <a:lumMod val="70000"/>
              </a:schemeClr>
            </a:gs>
          </a:gsLst>
          <a:lin ang="0" scaled="1"/>
          <a:tileRect/>
        </a:gradFill>
        <a:effectLst/>
      </p:bgPr>
    </p:bg>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8B1B45BD-D05B-47CB-97E5-994F293A158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bg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0" name="Picture 9">
            <a:extLst>
              <a:ext uri="{FF2B5EF4-FFF2-40B4-BE49-F238E27FC236}">
                <a16:creationId xmlns:a16="http://schemas.microsoft.com/office/drawing/2014/main" id="{57BDE151-4F7A-4E95-939F-18B2F607C742}"/>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a:blip r:embed="rId3">
            <a:alphaModFix amt="10000"/>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a:extLst>
              <a:ext uri="{FF2B5EF4-FFF2-40B4-BE49-F238E27FC236}">
                <a16:creationId xmlns:a16="http://schemas.microsoft.com/office/drawing/2014/main" id="{3AC1F6E8-5AB2-AE1D-385C-7A494D0EA510}"/>
              </a:ext>
            </a:extLst>
          </p:cNvPr>
          <p:cNvSpPr>
            <a:spLocks noGrp="1"/>
          </p:cNvSpPr>
          <p:nvPr>
            <p:ph type="ctrTitle"/>
          </p:nvPr>
        </p:nvSpPr>
        <p:spPr>
          <a:xfrm>
            <a:off x="965200" y="643467"/>
            <a:ext cx="8133812" cy="3603022"/>
          </a:xfrm>
        </p:spPr>
        <p:txBody>
          <a:bodyPr>
            <a:normAutofit/>
          </a:bodyPr>
          <a:lstStyle/>
          <a:p>
            <a:pPr algn="ctr"/>
            <a:r>
              <a:rPr lang="en-US" sz="6200" dirty="0">
                <a:latin typeface="Times New Roman" panose="02020603050405020304" pitchFamily="18" charset="0"/>
                <a:cs typeface="Times New Roman" panose="02020603050405020304" pitchFamily="18" charset="0"/>
              </a:rPr>
              <a:t>Data Strategy &amp; Analytics Consultation for SwiftWheel Mobility Solutions</a:t>
            </a:r>
            <a:endParaRPr lang="en-IN" sz="6200" dirty="0">
              <a:latin typeface="Times New Roman" panose="02020603050405020304" pitchFamily="18" charset="0"/>
              <a:cs typeface="Times New Roman" panose="02020603050405020304" pitchFamily="18" charset="0"/>
            </a:endParaRPr>
          </a:p>
        </p:txBody>
      </p:sp>
      <p:sp>
        <p:nvSpPr>
          <p:cNvPr id="12" name="Rectangle 11">
            <a:extLst>
              <a:ext uri="{FF2B5EF4-FFF2-40B4-BE49-F238E27FC236}">
                <a16:creationId xmlns:a16="http://schemas.microsoft.com/office/drawing/2014/main" id="{2D3E1E67-68B8-49AF-8DBA-E7E08CD3F88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grayWhite">
          <a:xfrm>
            <a:off x="0" y="4568225"/>
            <a:ext cx="12188824" cy="2289774"/>
          </a:xfrm>
          <a:prstGeom prst="rect">
            <a:avLst/>
          </a:prstGeom>
          <a:solidFill>
            <a:srgbClr val="181717">
              <a:alpha val="89804"/>
            </a:srgb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a:lstStyle/>
          <a:p>
            <a:endParaRPr lang="en-IN"/>
          </a:p>
        </p:txBody>
      </p:sp>
      <p:sp>
        <p:nvSpPr>
          <p:cNvPr id="3" name="Subtitle 2">
            <a:extLst>
              <a:ext uri="{FF2B5EF4-FFF2-40B4-BE49-F238E27FC236}">
                <a16:creationId xmlns:a16="http://schemas.microsoft.com/office/drawing/2014/main" id="{C079A30D-572F-0764-0B67-3394874E5CD6}"/>
              </a:ext>
            </a:extLst>
          </p:cNvPr>
          <p:cNvSpPr>
            <a:spLocks noGrp="1"/>
          </p:cNvSpPr>
          <p:nvPr>
            <p:ph type="subTitle" idx="1"/>
          </p:nvPr>
        </p:nvSpPr>
        <p:spPr>
          <a:xfrm>
            <a:off x="680322" y="4762275"/>
            <a:ext cx="8417262" cy="1561100"/>
          </a:xfrm>
        </p:spPr>
        <p:txBody>
          <a:bodyPr anchor="ctr">
            <a:normAutofit/>
          </a:bodyPr>
          <a:lstStyle/>
          <a:p>
            <a:r>
              <a:rPr lang="en-US" sz="2800" b="1" dirty="0">
                <a:solidFill>
                  <a:srgbClr val="FFFFFF"/>
                </a:solidFill>
              </a:rPr>
              <a:t>Prepared for:</a:t>
            </a:r>
            <a:r>
              <a:rPr lang="en-US" sz="2800" dirty="0">
                <a:solidFill>
                  <a:srgbClr val="FFFFFF"/>
                </a:solidFill>
              </a:rPr>
              <a:t> SwiftWheel Management Team</a:t>
            </a:r>
            <a:br>
              <a:rPr lang="en-US" sz="2800" dirty="0">
                <a:solidFill>
                  <a:srgbClr val="FFFFFF"/>
                </a:solidFill>
              </a:rPr>
            </a:br>
            <a:r>
              <a:rPr lang="en-US" sz="2800" b="1" dirty="0">
                <a:solidFill>
                  <a:srgbClr val="FFFFFF"/>
                </a:solidFill>
              </a:rPr>
              <a:t>Prepared by: Kaushal Waghmare</a:t>
            </a:r>
            <a:endParaRPr lang="en-IN" sz="2800" dirty="0">
              <a:solidFill>
                <a:srgbClr val="FFFFFF"/>
              </a:solidFill>
            </a:endParaRPr>
          </a:p>
        </p:txBody>
      </p:sp>
      <p:sp>
        <p:nvSpPr>
          <p:cNvPr id="14" name="Rectangle 13">
            <a:extLst>
              <a:ext uri="{FF2B5EF4-FFF2-40B4-BE49-F238E27FC236}">
                <a16:creationId xmlns:a16="http://schemas.microsoft.com/office/drawing/2014/main" id="{896FDE7C-B860-44EE-B294-C8358F7A8EB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9423921" y="4568225"/>
            <a:ext cx="2764903" cy="2289774"/>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IN"/>
          </a:p>
        </p:txBody>
      </p:sp>
    </p:spTree>
    <p:extLst>
      <p:ext uri="{BB962C8B-B14F-4D97-AF65-F5344CB8AC3E}">
        <p14:creationId xmlns:p14="http://schemas.microsoft.com/office/powerpoint/2010/main" val="227357955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EE3CA03-0913-C42C-7E7A-2A6CBA574523}"/>
              </a:ext>
            </a:extLst>
          </p:cNvPr>
          <p:cNvSpPr>
            <a:spLocks noGrp="1"/>
          </p:cNvSpPr>
          <p:nvPr>
            <p:ph type="title"/>
          </p:nvPr>
        </p:nvSpPr>
        <p:spPr/>
        <p:txBody>
          <a:bodyPr/>
          <a:lstStyle/>
          <a:p>
            <a:r>
              <a:rPr lang="en-IN" b="1" dirty="0"/>
              <a:t>Table of Contents</a:t>
            </a:r>
            <a:endParaRPr lang="en-IN" dirty="0"/>
          </a:p>
        </p:txBody>
      </p:sp>
      <p:sp>
        <p:nvSpPr>
          <p:cNvPr id="3" name="Content Placeholder 2">
            <a:extLst>
              <a:ext uri="{FF2B5EF4-FFF2-40B4-BE49-F238E27FC236}">
                <a16:creationId xmlns:a16="http://schemas.microsoft.com/office/drawing/2014/main" id="{23E0432E-7058-71D6-D17E-3BB01C104520}"/>
              </a:ext>
            </a:extLst>
          </p:cNvPr>
          <p:cNvSpPr>
            <a:spLocks noGrp="1"/>
          </p:cNvSpPr>
          <p:nvPr>
            <p:ph idx="1"/>
          </p:nvPr>
        </p:nvSpPr>
        <p:spPr/>
        <p:txBody>
          <a:bodyPr>
            <a:normAutofit/>
          </a:bodyPr>
          <a:lstStyle/>
          <a:p>
            <a:pPr marL="457200" indent="-457200">
              <a:buFont typeface="+mj-lt"/>
              <a:buAutoNum type="arabicPeriod"/>
            </a:pPr>
            <a:r>
              <a:rPr lang="en-IN" b="1" dirty="0"/>
              <a:t>Introduction &amp; Context</a:t>
            </a:r>
          </a:p>
          <a:p>
            <a:pPr marL="457200" indent="-457200">
              <a:buFont typeface="+mj-lt"/>
              <a:buAutoNum type="arabicPeriod"/>
            </a:pPr>
            <a:r>
              <a:rPr lang="en-IN" b="1" dirty="0"/>
              <a:t>Task 1: Current State &amp; Industry Analysis</a:t>
            </a:r>
            <a:endParaRPr lang="en-IN" dirty="0"/>
          </a:p>
          <a:p>
            <a:pPr marL="457200" indent="-457200">
              <a:buFont typeface="+mj-lt"/>
              <a:buAutoNum type="arabicPeriod"/>
            </a:pPr>
            <a:r>
              <a:rPr lang="en-IN" b="1" dirty="0"/>
              <a:t>Task 2: Database Design &amp; SQL Implementation</a:t>
            </a:r>
            <a:endParaRPr lang="en-IN" dirty="0"/>
          </a:p>
          <a:p>
            <a:pPr marL="457200" indent="-457200">
              <a:buFont typeface="+mj-lt"/>
              <a:buAutoNum type="arabicPeriod"/>
            </a:pPr>
            <a:r>
              <a:rPr lang="en-IN" b="1" dirty="0"/>
              <a:t>Task 3: Technology Transformation &amp; Analytics</a:t>
            </a:r>
            <a:endParaRPr lang="en-IN" dirty="0"/>
          </a:p>
          <a:p>
            <a:pPr marL="457200" indent="-457200">
              <a:buFont typeface="+mj-lt"/>
              <a:buAutoNum type="arabicPeriod"/>
            </a:pPr>
            <a:r>
              <a:rPr lang="en-IN" b="1" dirty="0"/>
              <a:t>Conclusion &amp; Recommendations</a:t>
            </a:r>
            <a:endParaRPr lang="en-IN" dirty="0"/>
          </a:p>
          <a:p>
            <a:pPr marL="457200" indent="-457200">
              <a:buFont typeface="+mj-lt"/>
              <a:buAutoNum type="arabicPeriod"/>
            </a:pPr>
            <a:r>
              <a:rPr lang="en-IN" b="1" dirty="0"/>
              <a:t>References &amp; Appendix</a:t>
            </a:r>
            <a:endParaRPr lang="en-IN" dirty="0"/>
          </a:p>
          <a:p>
            <a:pPr marL="457200" indent="-457200">
              <a:buFont typeface="+mj-lt"/>
              <a:buAutoNum type="arabicPeriod"/>
            </a:pPr>
            <a:endParaRPr lang="en-IN" dirty="0"/>
          </a:p>
        </p:txBody>
      </p:sp>
    </p:spTree>
    <p:extLst>
      <p:ext uri="{BB962C8B-B14F-4D97-AF65-F5344CB8AC3E}">
        <p14:creationId xmlns:p14="http://schemas.microsoft.com/office/powerpoint/2010/main" val="424202225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gradFill rotWithShape="1">
          <a:gsLst>
            <a:gs pos="0">
              <a:schemeClr val="bg2">
                <a:tint val="96000"/>
                <a:shade val="100000"/>
                <a:hueMod val="92000"/>
                <a:satMod val="200000"/>
                <a:lumMod val="128000"/>
              </a:schemeClr>
            </a:gs>
            <a:gs pos="50000">
              <a:schemeClr val="bg2">
                <a:shade val="100000"/>
                <a:hueMod val="100000"/>
                <a:satMod val="110000"/>
                <a:lumMod val="130000"/>
              </a:schemeClr>
            </a:gs>
            <a:gs pos="100000">
              <a:schemeClr val="bg2">
                <a:shade val="78000"/>
                <a:hueMod val="118000"/>
                <a:satMod val="120000"/>
                <a:lumMod val="69000"/>
              </a:schemeClr>
            </a:gs>
          </a:gsLst>
          <a:lin ang="2520000" scaled="0"/>
        </a:gra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4B99A8B-6E60-5201-A08B-C150B1F55EE2}"/>
              </a:ext>
            </a:extLst>
          </p:cNvPr>
          <p:cNvSpPr>
            <a:spLocks noGrp="1"/>
          </p:cNvSpPr>
          <p:nvPr>
            <p:ph type="title"/>
          </p:nvPr>
        </p:nvSpPr>
        <p:spPr>
          <a:xfrm>
            <a:off x="680321" y="753228"/>
            <a:ext cx="9613861" cy="1080938"/>
          </a:xfrm>
        </p:spPr>
        <p:txBody>
          <a:bodyPr>
            <a:normAutofit/>
          </a:bodyPr>
          <a:lstStyle/>
          <a:p>
            <a:r>
              <a:rPr lang="en-IN" b="1" dirty="0"/>
              <a:t>1.Introduction</a:t>
            </a:r>
            <a:endParaRPr lang="en-IN" dirty="0"/>
          </a:p>
        </p:txBody>
      </p:sp>
      <p:sp>
        <p:nvSpPr>
          <p:cNvPr id="3" name="Content Placeholder 2">
            <a:extLst>
              <a:ext uri="{FF2B5EF4-FFF2-40B4-BE49-F238E27FC236}">
                <a16:creationId xmlns:a16="http://schemas.microsoft.com/office/drawing/2014/main" id="{56A6593E-C1A0-FC2A-E4DC-1E85849F801A}"/>
              </a:ext>
            </a:extLst>
          </p:cNvPr>
          <p:cNvSpPr>
            <a:spLocks noGrp="1"/>
          </p:cNvSpPr>
          <p:nvPr>
            <p:ph idx="1"/>
          </p:nvPr>
        </p:nvSpPr>
        <p:spPr>
          <a:xfrm>
            <a:off x="4641272" y="2468897"/>
            <a:ext cx="6516509" cy="3334738"/>
          </a:xfrm>
        </p:spPr>
        <p:txBody>
          <a:bodyPr>
            <a:normAutofit/>
          </a:bodyPr>
          <a:lstStyle/>
          <a:p>
            <a:pPr algn="just"/>
            <a:r>
              <a:rPr lang="en-US" sz="1400" dirty="0">
                <a:latin typeface="Times New Roman" panose="02020603050405020304" pitchFamily="18" charset="0"/>
                <a:cs typeface="Times New Roman" panose="02020603050405020304" pitchFamily="18" charset="0"/>
              </a:rPr>
              <a:t>SwiftWheel Mobility Solutions Context:</a:t>
            </a:r>
          </a:p>
          <a:p>
            <a:pPr lvl="1" algn="just"/>
            <a:r>
              <a:rPr lang="en-US" sz="1400" dirty="0">
                <a:latin typeface="Times New Roman" panose="02020603050405020304" pitchFamily="18" charset="0"/>
                <a:cs typeface="Times New Roman" panose="02020603050405020304" pitchFamily="18" charset="0"/>
              </a:rPr>
              <a:t>The UK Service based company has its presence in London, Leeds, Cardiff and Edinburgh offering e-scooter services. It aims at decreasing traffic jams and carbon emissions. One of the major issues that faces the data is the siloed data streams of over five different sources that cannot be used in strategic decision-making. The strategic objective is therefore to transform data which is being </a:t>
            </a:r>
            <a:r>
              <a:rPr lang="en-US" sz="1400" dirty="0" err="1">
                <a:latin typeface="Times New Roman" panose="02020603050405020304" pitchFamily="18" charset="0"/>
                <a:cs typeface="Times New Roman" panose="02020603050405020304" pitchFamily="18" charset="0"/>
              </a:rPr>
              <a:t>utilised</a:t>
            </a:r>
            <a:r>
              <a:rPr lang="en-US" sz="1400" dirty="0">
                <a:latin typeface="Times New Roman" panose="02020603050405020304" pitchFamily="18" charset="0"/>
                <a:cs typeface="Times New Roman" panose="02020603050405020304" pitchFamily="18" charset="0"/>
              </a:rPr>
              <a:t> as an operational by product into a strategic asset.</a:t>
            </a:r>
          </a:p>
          <a:p>
            <a:pPr algn="just"/>
            <a:endParaRPr lang="en-US" sz="1400" dirty="0">
              <a:latin typeface="Times New Roman" panose="02020603050405020304" pitchFamily="18" charset="0"/>
              <a:cs typeface="Times New Roman" panose="02020603050405020304" pitchFamily="18" charset="0"/>
            </a:endParaRPr>
          </a:p>
          <a:p>
            <a:pPr algn="just"/>
            <a:r>
              <a:rPr lang="en-US" sz="1400" dirty="0">
                <a:latin typeface="Times New Roman" panose="02020603050405020304" pitchFamily="18" charset="0"/>
                <a:cs typeface="Times New Roman" panose="02020603050405020304" pitchFamily="18" charset="0"/>
              </a:rPr>
              <a:t>Market Context:</a:t>
            </a:r>
          </a:p>
          <a:p>
            <a:pPr lvl="1" algn="just"/>
            <a:r>
              <a:rPr lang="en-US" sz="1400" dirty="0">
                <a:latin typeface="Times New Roman" panose="02020603050405020304" pitchFamily="18" charset="0"/>
                <a:cs typeface="Times New Roman" panose="02020603050405020304" pitchFamily="18" charset="0"/>
              </a:rPr>
              <a:t>It is predicted that by 2025, the e-scooter sharing market will be valued at US 1.91 billion all over the globe (Statista, 2025). In the United Kingdom, the market will have a compound annual growth rate of 23 9 percent in 2023-2025. Within such a competitive environment, data-driven </a:t>
            </a:r>
            <a:r>
              <a:rPr lang="en-US" sz="1400" dirty="0" err="1">
                <a:latin typeface="Times New Roman" panose="02020603050405020304" pitchFamily="18" charset="0"/>
                <a:cs typeface="Times New Roman" panose="02020603050405020304" pitchFamily="18" charset="0"/>
              </a:rPr>
              <a:t>optimisation</a:t>
            </a:r>
            <a:r>
              <a:rPr lang="en-US" sz="1400" dirty="0">
                <a:latin typeface="Times New Roman" panose="02020603050405020304" pitchFamily="18" charset="0"/>
                <a:cs typeface="Times New Roman" panose="02020603050405020304" pitchFamily="18" charset="0"/>
              </a:rPr>
              <a:t> is a prerequisite of gaining a competitive edge.</a:t>
            </a:r>
            <a:endParaRPr lang="en-IN" sz="1400" dirty="0"/>
          </a:p>
        </p:txBody>
      </p:sp>
      <p:pic>
        <p:nvPicPr>
          <p:cNvPr id="9" name="Graphic 8" descr="Scooter">
            <a:extLst>
              <a:ext uri="{FF2B5EF4-FFF2-40B4-BE49-F238E27FC236}">
                <a16:creationId xmlns:a16="http://schemas.microsoft.com/office/drawing/2014/main" id="{556CDB56-6893-6623-E307-3C8636EB1647}"/>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794325" y="2789813"/>
            <a:ext cx="2692907" cy="2692907"/>
          </a:xfrm>
          <a:prstGeom prst="rect">
            <a:avLst/>
          </a:prstGeom>
          <a:ln>
            <a:noFill/>
          </a:ln>
          <a:effectLst>
            <a:outerShdw blurRad="76200" dist="63500" dir="5040000" algn="tl" rotWithShape="0">
              <a:srgbClr val="000000">
                <a:alpha val="41000"/>
              </a:srgbClr>
            </a:outerShdw>
          </a:effectLst>
        </p:spPr>
      </p:pic>
    </p:spTree>
    <p:extLst>
      <p:ext uri="{BB962C8B-B14F-4D97-AF65-F5344CB8AC3E}">
        <p14:creationId xmlns:p14="http://schemas.microsoft.com/office/powerpoint/2010/main" val="220568523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gradFill rotWithShape="1">
          <a:gsLst>
            <a:gs pos="0">
              <a:schemeClr val="bg2">
                <a:tint val="96000"/>
                <a:shade val="100000"/>
                <a:hueMod val="92000"/>
                <a:satMod val="200000"/>
                <a:lumMod val="128000"/>
              </a:schemeClr>
            </a:gs>
            <a:gs pos="50000">
              <a:schemeClr val="bg2">
                <a:shade val="100000"/>
                <a:hueMod val="100000"/>
                <a:satMod val="110000"/>
                <a:lumMod val="130000"/>
              </a:schemeClr>
            </a:gs>
            <a:gs pos="100000">
              <a:schemeClr val="bg2">
                <a:shade val="78000"/>
                <a:hueMod val="118000"/>
                <a:satMod val="120000"/>
                <a:lumMod val="69000"/>
              </a:schemeClr>
            </a:gs>
          </a:gsLst>
          <a:lin ang="2520000" scaled="0"/>
        </a:gradFill>
        <a:effectLst/>
      </p:bgPr>
    </p:bg>
    <p:spTree>
      <p:nvGrpSpPr>
        <p:cNvPr id="1" name=""/>
        <p:cNvGrpSpPr/>
        <p:nvPr/>
      </p:nvGrpSpPr>
      <p:grpSpPr>
        <a:xfrm>
          <a:off x="0" y="0"/>
          <a:ext cx="0" cy="0"/>
          <a:chOff x="0" y="0"/>
          <a:chExt cx="0" cy="0"/>
        </a:xfrm>
      </p:grpSpPr>
      <p:sp useBgFill="1">
        <p:nvSpPr>
          <p:cNvPr id="17" name="Rectangle 16">
            <a:extLst>
              <a:ext uri="{FF2B5EF4-FFF2-40B4-BE49-F238E27FC236}">
                <a16:creationId xmlns:a16="http://schemas.microsoft.com/office/drawing/2014/main" id="{3242BD3F-34D8-49D9-AD50-57D2CA82F4D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
            <a:ext cx="12188824" cy="6858001"/>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2" name="Picture 11">
            <a:extLst>
              <a:ext uri="{FF2B5EF4-FFF2-40B4-BE49-F238E27FC236}">
                <a16:creationId xmlns:a16="http://schemas.microsoft.com/office/drawing/2014/main" id="{01F64344-FAFE-4948-973B-8451CA558332}"/>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a:blip r:embed="rId3">
            <a:alphaModFix amt="10000"/>
            <a:extLst>
              <a:ext uri="{28A0092B-C50C-407E-A947-70E740481C1C}">
                <a14:useLocalDpi xmlns:a14="http://schemas.microsoft.com/office/drawing/2010/main" val="0"/>
              </a:ext>
            </a:extLst>
          </a:blip>
          <a:stretch>
            <a:fillRect/>
          </a:stretch>
        </p:blipFill>
        <p:spPr>
          <a:xfrm>
            <a:off x="-3176" y="0"/>
            <a:ext cx="12192000" cy="6858000"/>
          </a:xfrm>
          <a:prstGeom prst="rect">
            <a:avLst/>
          </a:prstGeom>
        </p:spPr>
      </p:pic>
      <p:sp>
        <p:nvSpPr>
          <p:cNvPr id="14" name="Rectangle 13">
            <a:extLst>
              <a:ext uri="{FF2B5EF4-FFF2-40B4-BE49-F238E27FC236}">
                <a16:creationId xmlns:a16="http://schemas.microsoft.com/office/drawing/2014/main" id="{1A6C6EF1-C706-4615-8C87-D960AC8CFAF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7598325" y="0"/>
            <a:ext cx="4636008" cy="6858001"/>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0950EF2F-D329-4C76-A186-2AC329484C1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grayWhite">
          <a:xfrm>
            <a:off x="2" y="609600"/>
            <a:ext cx="7876030" cy="1368198"/>
          </a:xfrm>
          <a:prstGeom prst="rect">
            <a:avLst/>
          </a:prstGeom>
          <a:solidFill>
            <a:schemeClr val="bg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IN"/>
          </a:p>
        </p:txBody>
      </p:sp>
      <p:sp>
        <p:nvSpPr>
          <p:cNvPr id="2" name="Title 1">
            <a:extLst>
              <a:ext uri="{FF2B5EF4-FFF2-40B4-BE49-F238E27FC236}">
                <a16:creationId xmlns:a16="http://schemas.microsoft.com/office/drawing/2014/main" id="{4512D8E8-EBE9-31BF-0146-2619CF647C2A}"/>
              </a:ext>
            </a:extLst>
          </p:cNvPr>
          <p:cNvSpPr>
            <a:spLocks noGrp="1"/>
          </p:cNvSpPr>
          <p:nvPr>
            <p:ph type="title"/>
          </p:nvPr>
        </p:nvSpPr>
        <p:spPr>
          <a:xfrm>
            <a:off x="680321" y="753228"/>
            <a:ext cx="7087552" cy="1080938"/>
          </a:xfrm>
        </p:spPr>
        <p:txBody>
          <a:bodyPr>
            <a:normAutofit/>
          </a:bodyPr>
          <a:lstStyle/>
          <a:p>
            <a:r>
              <a:rPr lang="en-IN" b="1" dirty="0"/>
              <a:t>2.Current Data State Analysis</a:t>
            </a:r>
            <a:endParaRPr lang="en-IN" dirty="0"/>
          </a:p>
        </p:txBody>
      </p:sp>
      <p:pic>
        <p:nvPicPr>
          <p:cNvPr id="18" name="Picture 17">
            <a:extLst>
              <a:ext uri="{FF2B5EF4-FFF2-40B4-BE49-F238E27FC236}">
                <a16:creationId xmlns:a16="http://schemas.microsoft.com/office/drawing/2014/main" id="{B427DF1C-7943-48BF-8180-3C8513057074}"/>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a:blip r:embed="rId4">
            <a:extLst>
              <a:ext uri="{28A0092B-C50C-407E-A947-70E740481C1C}">
                <a14:useLocalDpi xmlns:a14="http://schemas.microsoft.com/office/drawing/2010/main" val="0"/>
              </a:ext>
            </a:extLst>
          </a:blip>
          <a:stretch>
            <a:fillRect/>
          </a:stretch>
        </p:blipFill>
        <p:spPr>
          <a:xfrm>
            <a:off x="2" y="1970240"/>
            <a:ext cx="7967048" cy="321164"/>
          </a:xfrm>
          <a:prstGeom prst="rect">
            <a:avLst/>
          </a:prstGeom>
        </p:spPr>
      </p:pic>
      <p:sp>
        <p:nvSpPr>
          <p:cNvPr id="3" name="Content Placeholder 2">
            <a:extLst>
              <a:ext uri="{FF2B5EF4-FFF2-40B4-BE49-F238E27FC236}">
                <a16:creationId xmlns:a16="http://schemas.microsoft.com/office/drawing/2014/main" id="{24D9D844-B4EC-C9B7-5AD5-9582FC7FD6E6}"/>
              </a:ext>
            </a:extLst>
          </p:cNvPr>
          <p:cNvSpPr>
            <a:spLocks noGrp="1"/>
          </p:cNvSpPr>
          <p:nvPr>
            <p:ph idx="1"/>
          </p:nvPr>
        </p:nvSpPr>
        <p:spPr>
          <a:xfrm>
            <a:off x="680321" y="2336873"/>
            <a:ext cx="6423211" cy="3599316"/>
          </a:xfrm>
        </p:spPr>
        <p:txBody>
          <a:bodyPr>
            <a:normAutofit/>
          </a:bodyPr>
          <a:lstStyle/>
          <a:p>
            <a:pPr marL="0" indent="0">
              <a:buNone/>
            </a:pPr>
            <a:r>
              <a:rPr lang="en-US" sz="1400" b="1" dirty="0">
                <a:latin typeface="Times New Roman" panose="02020603050405020304" pitchFamily="18" charset="0"/>
                <a:cs typeface="Times New Roman" panose="02020603050405020304" pitchFamily="18" charset="0"/>
              </a:rPr>
              <a:t>Current Data Collection and Data storage: </a:t>
            </a:r>
          </a:p>
          <a:p>
            <a:pPr lvl="1"/>
            <a:r>
              <a:rPr lang="en-US" sz="1400" dirty="0">
                <a:latin typeface="Times New Roman" panose="02020603050405020304" pitchFamily="18" charset="0"/>
                <a:cs typeface="Times New Roman" panose="02020603050405020304" pitchFamily="18" charset="0"/>
              </a:rPr>
              <a:t>Mobile Application: No </a:t>
            </a:r>
            <a:r>
              <a:rPr lang="en-US" sz="1400" dirty="0" err="1">
                <a:latin typeface="Times New Roman" panose="02020603050405020304" pitchFamily="18" charset="0"/>
                <a:cs typeface="Times New Roman" panose="02020603050405020304" pitchFamily="18" charset="0"/>
              </a:rPr>
              <a:t>behavioural</a:t>
            </a:r>
            <a:r>
              <a:rPr lang="en-US" sz="1400" dirty="0">
                <a:latin typeface="Times New Roman" panose="02020603050405020304" pitchFamily="18" charset="0"/>
                <a:cs typeface="Times New Roman" panose="02020603050405020304" pitchFamily="18" charset="0"/>
              </a:rPr>
              <a:t> integration with basic user registration. </a:t>
            </a:r>
          </a:p>
          <a:p>
            <a:pPr lvl="1"/>
            <a:r>
              <a:rPr lang="en-US" sz="1400" dirty="0">
                <a:latin typeface="Times New Roman" panose="02020603050405020304" pitchFamily="18" charset="0"/>
                <a:cs typeface="Times New Roman" panose="02020603050405020304" pitchFamily="18" charset="0"/>
              </a:rPr>
              <a:t>Trip Data: Customer data in transactional silos: Temporal and </a:t>
            </a:r>
            <a:r>
              <a:rPr lang="en-US" sz="1400" dirty="0" err="1">
                <a:latin typeface="Times New Roman" panose="02020603050405020304" pitchFamily="18" charset="0"/>
                <a:cs typeface="Times New Roman" panose="02020603050405020304" pitchFamily="18" charset="0"/>
              </a:rPr>
              <a:t>spatil</a:t>
            </a:r>
            <a:r>
              <a:rPr lang="en-US" sz="1400" dirty="0">
                <a:latin typeface="Times New Roman" panose="02020603050405020304" pitchFamily="18" charset="0"/>
                <a:cs typeface="Times New Roman" panose="02020603050405020304" pitchFamily="18" charset="0"/>
              </a:rPr>
              <a:t>. </a:t>
            </a:r>
          </a:p>
          <a:p>
            <a:pPr lvl="1"/>
            <a:r>
              <a:rPr lang="en-US" sz="1400" dirty="0">
                <a:latin typeface="Times New Roman" panose="02020603050405020304" pitchFamily="18" charset="0"/>
                <a:cs typeface="Times New Roman" panose="02020603050405020304" pitchFamily="18" charset="0"/>
              </a:rPr>
              <a:t>Maintenance: Spreadsheet linked logs not to usage measures. </a:t>
            </a:r>
          </a:p>
          <a:p>
            <a:pPr lvl="1"/>
            <a:r>
              <a:rPr lang="en-US" sz="1400" dirty="0">
                <a:latin typeface="Times New Roman" panose="02020603050405020304" pitchFamily="18" charset="0"/>
                <a:cs typeface="Times New Roman" panose="02020603050405020304" pitchFamily="18" charset="0"/>
              </a:rPr>
              <a:t>Feedback: Qualitative feedback which is not quantitatively correlated. </a:t>
            </a:r>
          </a:p>
          <a:p>
            <a:pPr lvl="1"/>
            <a:r>
              <a:rPr lang="en-US" sz="1400" dirty="0">
                <a:latin typeface="Times New Roman" panose="02020603050405020304" pitchFamily="18" charset="0"/>
                <a:cs typeface="Times New Roman" panose="02020603050405020304" pitchFamily="18" charset="0"/>
              </a:rPr>
              <a:t>Payments: Unsorted and processed to be </a:t>
            </a:r>
            <a:r>
              <a:rPr lang="en-US" sz="1400" dirty="0" err="1">
                <a:latin typeface="Times New Roman" panose="02020603050405020304" pitchFamily="18" charset="0"/>
                <a:cs typeface="Times New Roman" panose="02020603050405020304" pitchFamily="18" charset="0"/>
              </a:rPr>
              <a:t>analysed</a:t>
            </a:r>
            <a:r>
              <a:rPr lang="en-US" sz="1400" dirty="0">
                <a:latin typeface="Times New Roman" panose="02020603050405020304" pitchFamily="18" charset="0"/>
                <a:cs typeface="Times New Roman" panose="02020603050405020304" pitchFamily="18" charset="0"/>
              </a:rPr>
              <a:t> by pattern.</a:t>
            </a:r>
          </a:p>
          <a:p>
            <a:pPr>
              <a:buFontTx/>
              <a:buChar char="-"/>
            </a:pPr>
            <a:endParaRPr lang="en-US" sz="1400" dirty="0">
              <a:latin typeface="Times New Roman" panose="02020603050405020304" pitchFamily="18" charset="0"/>
              <a:cs typeface="Times New Roman" panose="02020603050405020304" pitchFamily="18" charset="0"/>
            </a:endParaRPr>
          </a:p>
          <a:p>
            <a:pPr marL="0" indent="0">
              <a:buNone/>
            </a:pPr>
            <a:r>
              <a:rPr lang="en-IN" sz="1400" b="1" dirty="0">
                <a:latin typeface="Times New Roman" panose="02020603050405020304" pitchFamily="18" charset="0"/>
                <a:cs typeface="Times New Roman" panose="02020603050405020304" pitchFamily="18" charset="0"/>
              </a:rPr>
              <a:t>Key Limitations Identified</a:t>
            </a:r>
          </a:p>
          <a:p>
            <a:pPr lvl="1"/>
            <a:r>
              <a:rPr lang="en-US" sz="1400" dirty="0">
                <a:latin typeface="Times New Roman" panose="02020603050405020304" pitchFamily="18" charset="0"/>
                <a:cs typeface="Times New Roman" panose="02020603050405020304" pitchFamily="18" charset="0"/>
              </a:rPr>
              <a:t>Siloed Systems: 5 or more data repositories, all disconnected. </a:t>
            </a:r>
          </a:p>
          <a:p>
            <a:pPr lvl="1"/>
            <a:r>
              <a:rPr lang="en-US" sz="1400" dirty="0">
                <a:latin typeface="Times New Roman" panose="02020603050405020304" pitchFamily="18" charset="0"/>
                <a:cs typeface="Times New Roman" panose="02020603050405020304" pitchFamily="18" charset="0"/>
              </a:rPr>
              <a:t>Batch Processing: It does not have the ability to show realtime analytics. </a:t>
            </a:r>
          </a:p>
          <a:p>
            <a:pPr lvl="1"/>
            <a:r>
              <a:rPr lang="en-US" sz="1400" dirty="0">
                <a:latin typeface="Times New Roman" panose="02020603050405020304" pitchFamily="18" charset="0"/>
                <a:cs typeface="Times New Roman" panose="02020603050405020304" pitchFamily="18" charset="0"/>
              </a:rPr>
              <a:t>Manual Reporting: The aggregation was done using Excel to the management. </a:t>
            </a:r>
          </a:p>
          <a:p>
            <a:pPr lvl="1"/>
            <a:r>
              <a:rPr lang="en-US" sz="1400" dirty="0">
                <a:latin typeface="Times New Roman" panose="02020603050405020304" pitchFamily="18" charset="0"/>
                <a:cs typeface="Times New Roman" panose="02020603050405020304" pitchFamily="18" charset="0"/>
              </a:rPr>
              <a:t>Reactive Operations: Data </a:t>
            </a:r>
            <a:r>
              <a:rPr lang="en-US" sz="1400" dirty="0" err="1">
                <a:latin typeface="Times New Roman" panose="02020603050405020304" pitchFamily="18" charset="0"/>
                <a:cs typeface="Times New Roman" panose="02020603050405020304" pitchFamily="18" charset="0"/>
              </a:rPr>
              <a:t>utilised</a:t>
            </a:r>
            <a:r>
              <a:rPr lang="en-US" sz="1400" dirty="0">
                <a:latin typeface="Times New Roman" panose="02020603050405020304" pitchFamily="18" charset="0"/>
                <a:cs typeface="Times New Roman" panose="02020603050405020304" pitchFamily="18" charset="0"/>
              </a:rPr>
              <a:t> in recording use as opposed to prediction.</a:t>
            </a:r>
            <a:endParaRPr lang="en-IN" sz="1400" dirty="0">
              <a:latin typeface="Times New Roman" panose="02020603050405020304" pitchFamily="18" charset="0"/>
              <a:cs typeface="Times New Roman" panose="02020603050405020304" pitchFamily="18" charset="0"/>
            </a:endParaRPr>
          </a:p>
        </p:txBody>
      </p:sp>
      <p:sp>
        <p:nvSpPr>
          <p:cNvPr id="20" name="Rectangle 19">
            <a:extLst>
              <a:ext uri="{FF2B5EF4-FFF2-40B4-BE49-F238E27FC236}">
                <a16:creationId xmlns:a16="http://schemas.microsoft.com/office/drawing/2014/main" id="{72D5BAAA-C033-4271-A59A-E59E9E4E56A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246423" y="642795"/>
            <a:ext cx="3347830" cy="5575125"/>
          </a:xfrm>
          <a:prstGeom prst="rect">
            <a:avLst/>
          </a:prstGeom>
          <a:solidFill>
            <a:schemeClr val="tx1"/>
          </a:solidFill>
          <a:ln>
            <a:noFill/>
          </a:ln>
          <a:effectLst>
            <a:outerShdw blurRad="76200" dist="63500" dir="5040000" algn="t" rotWithShape="0">
              <a:prstClr val="black">
                <a:alpha val="41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7" name="Graphic 6" descr="Server">
            <a:extLst>
              <a:ext uri="{FF2B5EF4-FFF2-40B4-BE49-F238E27FC236}">
                <a16:creationId xmlns:a16="http://schemas.microsoft.com/office/drawing/2014/main" id="{48887F84-7FAA-7B8B-7BE1-A622211061A7}"/>
              </a:ext>
            </a:extLst>
          </p:cNvPr>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8563287" y="2060017"/>
            <a:ext cx="2731172" cy="2731172"/>
          </a:xfrm>
          <a:prstGeom prst="rect">
            <a:avLst/>
          </a:prstGeom>
          <a:ln>
            <a:noFill/>
          </a:ln>
          <a:effectLst/>
        </p:spPr>
      </p:pic>
    </p:spTree>
    <p:extLst>
      <p:ext uri="{BB962C8B-B14F-4D97-AF65-F5344CB8AC3E}">
        <p14:creationId xmlns:p14="http://schemas.microsoft.com/office/powerpoint/2010/main" val="61511319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C2A0DB7-4154-8E85-6BF6-25E8E72DF36C}"/>
              </a:ext>
            </a:extLst>
          </p:cNvPr>
          <p:cNvSpPr>
            <a:spLocks noGrp="1"/>
          </p:cNvSpPr>
          <p:nvPr>
            <p:ph type="title"/>
          </p:nvPr>
        </p:nvSpPr>
        <p:spPr/>
        <p:txBody>
          <a:bodyPr/>
          <a:lstStyle/>
          <a:p>
            <a:r>
              <a:rPr lang="en-IN" b="1"/>
              <a:t>SWOT Analysis SwiftWheel VS Lime</a:t>
            </a:r>
            <a:endParaRPr lang="en-IN" dirty="0"/>
          </a:p>
        </p:txBody>
      </p:sp>
      <p:graphicFrame>
        <p:nvGraphicFramePr>
          <p:cNvPr id="5" name="Content Placeholder 4">
            <a:extLst>
              <a:ext uri="{FF2B5EF4-FFF2-40B4-BE49-F238E27FC236}">
                <a16:creationId xmlns:a16="http://schemas.microsoft.com/office/drawing/2014/main" id="{FC10F921-BC25-DBD4-9A08-568DDCFABE9D}"/>
              </a:ext>
            </a:extLst>
          </p:cNvPr>
          <p:cNvGraphicFramePr>
            <a:graphicFrameLocks noGrp="1"/>
          </p:cNvGraphicFramePr>
          <p:nvPr>
            <p:ph idx="1"/>
            <p:extLst>
              <p:ext uri="{D42A27DB-BD31-4B8C-83A1-F6EECF244321}">
                <p14:modId xmlns:p14="http://schemas.microsoft.com/office/powerpoint/2010/main" val="2615708745"/>
              </p:ext>
            </p:extLst>
          </p:nvPr>
        </p:nvGraphicFramePr>
        <p:xfrm>
          <a:off x="1502762" y="2042235"/>
          <a:ext cx="8791420" cy="4351039"/>
        </p:xfrm>
        <a:graphic>
          <a:graphicData uri="http://schemas.openxmlformats.org/drawingml/2006/table">
            <a:tbl>
              <a:tblPr firstRow="1" bandRow="1">
                <a:tableStyleId>{6E25E649-3F16-4E02-A733-19D2CDBF48F0}</a:tableStyleId>
              </a:tblPr>
              <a:tblGrid>
                <a:gridCol w="4405126">
                  <a:extLst>
                    <a:ext uri="{9D8B030D-6E8A-4147-A177-3AD203B41FA5}">
                      <a16:colId xmlns:a16="http://schemas.microsoft.com/office/drawing/2014/main" val="2465108701"/>
                    </a:ext>
                  </a:extLst>
                </a:gridCol>
                <a:gridCol w="4386294">
                  <a:extLst>
                    <a:ext uri="{9D8B030D-6E8A-4147-A177-3AD203B41FA5}">
                      <a16:colId xmlns:a16="http://schemas.microsoft.com/office/drawing/2014/main" val="973825599"/>
                    </a:ext>
                  </a:extLst>
                </a:gridCol>
              </a:tblGrid>
              <a:tr h="604539">
                <a:tc>
                  <a:txBody>
                    <a:bodyPr/>
                    <a:lstStyle/>
                    <a:p>
                      <a:pPr algn="l">
                        <a:lnSpc>
                          <a:spcPts val="1875"/>
                        </a:lnSpc>
                        <a:buNone/>
                      </a:pPr>
                      <a:r>
                        <a:rPr lang="en-IN" b="1">
                          <a:effectLst/>
                        </a:rPr>
                        <a:t>SWIFTWHEEL</a:t>
                      </a:r>
                      <a:endParaRPr lang="en-IN" b="0" dirty="0">
                        <a:effectLst/>
                        <a:latin typeface="quote-cjk-patch"/>
                      </a:endParaRPr>
                    </a:p>
                  </a:txBody>
                  <a:tcPr marR="121920" marT="76200" marB="76200" anchor="ctr"/>
                </a:tc>
                <a:tc>
                  <a:txBody>
                    <a:bodyPr/>
                    <a:lstStyle/>
                    <a:p>
                      <a:pPr algn="l">
                        <a:lnSpc>
                          <a:spcPts val="1875"/>
                        </a:lnSpc>
                        <a:buNone/>
                      </a:pPr>
                      <a:r>
                        <a:rPr lang="en-IN" b="1">
                          <a:effectLst/>
                        </a:rPr>
                        <a:t>LIME</a:t>
                      </a:r>
                      <a:endParaRPr lang="en-IN" b="0" dirty="0">
                        <a:effectLst/>
                        <a:latin typeface="quote-cjk-patch"/>
                      </a:endParaRPr>
                    </a:p>
                  </a:txBody>
                  <a:tcPr marL="121920" marR="121920" marT="76200" marB="76200" anchor="ctr"/>
                </a:tc>
                <a:extLst>
                  <a:ext uri="{0D108BD9-81ED-4DB2-BD59-A6C34878D82A}">
                    <a16:rowId xmlns:a16="http://schemas.microsoft.com/office/drawing/2014/main" val="2733360157"/>
                  </a:ext>
                </a:extLst>
              </a:tr>
              <a:tr h="758422">
                <a:tc>
                  <a:txBody>
                    <a:bodyPr/>
                    <a:lstStyle/>
                    <a:p>
                      <a:pPr algn="l">
                        <a:lnSpc>
                          <a:spcPts val="1875"/>
                        </a:lnSpc>
                        <a:buNone/>
                      </a:pPr>
                      <a:r>
                        <a:rPr lang="en-US" b="1">
                          <a:effectLst/>
                        </a:rPr>
                        <a:t>S:</a:t>
                      </a:r>
                      <a:r>
                        <a:rPr lang="en-US" b="0">
                          <a:effectLst/>
                        </a:rPr>
                        <a:t> New, agile, UK focused brand. High quality, hypothetical data from a modern tech stack.</a:t>
                      </a:r>
                      <a:endParaRPr lang="en-US" b="0" dirty="0">
                        <a:effectLst/>
                        <a:latin typeface="quote-cjk-patch"/>
                      </a:endParaRPr>
                    </a:p>
                  </a:txBody>
                  <a:tcPr marR="121920" marT="76200" marB="76200" anchor="ctr"/>
                </a:tc>
                <a:tc>
                  <a:txBody>
                    <a:bodyPr/>
                    <a:lstStyle/>
                    <a:p>
                      <a:pPr algn="l">
                        <a:lnSpc>
                          <a:spcPts val="1875"/>
                        </a:lnSpc>
                        <a:buNone/>
                      </a:pPr>
                      <a:r>
                        <a:rPr lang="en-US" b="1">
                          <a:effectLst/>
                        </a:rPr>
                        <a:t>S:</a:t>
                      </a:r>
                      <a:r>
                        <a:rPr lang="en-US" b="0">
                          <a:effectLst/>
                        </a:rPr>
                        <a:t> Global brand recognition. Massive scale and funding. Proven, optimised operation. Vast data asset.</a:t>
                      </a:r>
                      <a:endParaRPr lang="en-US" b="0" dirty="0">
                        <a:effectLst/>
                        <a:latin typeface="quote-cjk-patch"/>
                      </a:endParaRPr>
                    </a:p>
                  </a:txBody>
                  <a:tcPr marL="121920" marT="76200" marB="76200" anchor="ctr"/>
                </a:tc>
                <a:extLst>
                  <a:ext uri="{0D108BD9-81ED-4DB2-BD59-A6C34878D82A}">
                    <a16:rowId xmlns:a16="http://schemas.microsoft.com/office/drawing/2014/main" val="4029484131"/>
                  </a:ext>
                </a:extLst>
              </a:tr>
              <a:tr h="758422">
                <a:tc>
                  <a:txBody>
                    <a:bodyPr/>
                    <a:lstStyle/>
                    <a:p>
                      <a:pPr algn="l">
                        <a:lnSpc>
                          <a:spcPts val="1875"/>
                        </a:lnSpc>
                        <a:buNone/>
                      </a:pPr>
                      <a:r>
                        <a:rPr lang="en-US" b="1">
                          <a:effectLst/>
                        </a:rPr>
                        <a:t>W:</a:t>
                      </a:r>
                      <a:r>
                        <a:rPr lang="en-US" b="0">
                          <a:effectLst/>
                        </a:rPr>
                        <a:t> Limited market share. Unproven operational model. Immature data practice.</a:t>
                      </a:r>
                      <a:endParaRPr lang="en-US" b="0" dirty="0">
                        <a:effectLst/>
                        <a:latin typeface="quote-cjk-patch"/>
                      </a:endParaRPr>
                    </a:p>
                  </a:txBody>
                  <a:tcPr marR="121920" marT="76200" marB="76200" anchor="ctr"/>
                </a:tc>
                <a:tc>
                  <a:txBody>
                    <a:bodyPr/>
                    <a:lstStyle/>
                    <a:p>
                      <a:pPr algn="l">
                        <a:lnSpc>
                          <a:spcPts val="1875"/>
                        </a:lnSpc>
                        <a:buNone/>
                      </a:pPr>
                      <a:r>
                        <a:rPr lang="en-US" b="1" dirty="0">
                          <a:effectLst/>
                        </a:rPr>
                        <a:t>W:</a:t>
                      </a:r>
                      <a:r>
                        <a:rPr lang="en-US" b="0" dirty="0">
                          <a:effectLst/>
                        </a:rPr>
                        <a:t> High profile regulatory </a:t>
                      </a:r>
                      <a:r>
                        <a:rPr lang="en-US" b="0" dirty="0" err="1">
                          <a:effectLst/>
                        </a:rPr>
                        <a:t>clashe</a:t>
                      </a:r>
                      <a:r>
                        <a:rPr lang="en-US" b="0" dirty="0">
                          <a:effectLst/>
                        </a:rPr>
                        <a:t>. Vandalism and clutter issues in some city.</a:t>
                      </a:r>
                      <a:endParaRPr lang="en-US" b="0" dirty="0">
                        <a:effectLst/>
                        <a:latin typeface="quote-cjk-patch"/>
                      </a:endParaRPr>
                    </a:p>
                  </a:txBody>
                  <a:tcPr marL="121920" marT="76200" marB="76200" anchor="ctr"/>
                </a:tc>
                <a:extLst>
                  <a:ext uri="{0D108BD9-81ED-4DB2-BD59-A6C34878D82A}">
                    <a16:rowId xmlns:a16="http://schemas.microsoft.com/office/drawing/2014/main" val="3295197585"/>
                  </a:ext>
                </a:extLst>
              </a:tr>
              <a:tr h="967263">
                <a:tc>
                  <a:txBody>
                    <a:bodyPr/>
                    <a:lstStyle/>
                    <a:p>
                      <a:pPr algn="l">
                        <a:lnSpc>
                          <a:spcPts val="1875"/>
                        </a:lnSpc>
                        <a:buNone/>
                      </a:pPr>
                      <a:r>
                        <a:rPr lang="en-US" b="1">
                          <a:effectLst/>
                        </a:rPr>
                        <a:t>O:</a:t>
                      </a:r>
                      <a:r>
                        <a:rPr lang="en-US" b="0">
                          <a:effectLst/>
                        </a:rPr>
                        <a:t> Leverage data for hyper local city planning and superior customer retention. UK government push for eco transport.</a:t>
                      </a:r>
                      <a:endParaRPr lang="en-US" b="0" dirty="0">
                        <a:effectLst/>
                        <a:latin typeface="quote-cjk-patch"/>
                      </a:endParaRPr>
                    </a:p>
                  </a:txBody>
                  <a:tcPr marR="121920" marT="76200" marB="76200" anchor="ctr"/>
                </a:tc>
                <a:tc>
                  <a:txBody>
                    <a:bodyPr/>
                    <a:lstStyle/>
                    <a:p>
                      <a:pPr algn="l">
                        <a:lnSpc>
                          <a:spcPts val="1875"/>
                        </a:lnSpc>
                        <a:buNone/>
                      </a:pPr>
                      <a:r>
                        <a:rPr lang="en-US" b="1">
                          <a:effectLst/>
                        </a:rPr>
                        <a:t>O:</a:t>
                      </a:r>
                      <a:r>
                        <a:rPr lang="en-US" b="0">
                          <a:effectLst/>
                        </a:rPr>
                        <a:t> Expand into new markets and vehicle types (e-bikes, mopeds). Monetise aggregated, anonymised urban mobility data.</a:t>
                      </a:r>
                      <a:endParaRPr lang="en-US" b="0" dirty="0">
                        <a:effectLst/>
                        <a:latin typeface="quote-cjk-patch"/>
                      </a:endParaRPr>
                    </a:p>
                  </a:txBody>
                  <a:tcPr marL="121920" marT="76200" marB="76200" anchor="ctr"/>
                </a:tc>
                <a:extLst>
                  <a:ext uri="{0D108BD9-81ED-4DB2-BD59-A6C34878D82A}">
                    <a16:rowId xmlns:a16="http://schemas.microsoft.com/office/drawing/2014/main" val="154797938"/>
                  </a:ext>
                </a:extLst>
              </a:tr>
              <a:tr h="758422">
                <a:tc>
                  <a:txBody>
                    <a:bodyPr/>
                    <a:lstStyle/>
                    <a:p>
                      <a:pPr algn="l">
                        <a:lnSpc>
                          <a:spcPts val="1875"/>
                        </a:lnSpc>
                        <a:buNone/>
                      </a:pPr>
                      <a:r>
                        <a:rPr lang="en-US" b="1">
                          <a:effectLst/>
                        </a:rPr>
                        <a:t>T:</a:t>
                      </a:r>
                      <a:r>
                        <a:rPr lang="en-US" b="0">
                          <a:effectLst/>
                        </a:rPr>
                        <a:t> Intense competition from Lime, Tier, Bolt. Changing UK regulations. Economic downturn affecting disposable income.</a:t>
                      </a:r>
                      <a:endParaRPr lang="en-US" b="0">
                        <a:effectLst/>
                        <a:latin typeface="quote-cjk-patch"/>
                      </a:endParaRPr>
                    </a:p>
                  </a:txBody>
                  <a:tcPr marR="121920" marT="76200" marB="76200" anchor="ctr"/>
                </a:tc>
                <a:tc>
                  <a:txBody>
                    <a:bodyPr/>
                    <a:lstStyle/>
                    <a:p>
                      <a:pPr algn="l">
                        <a:lnSpc>
                          <a:spcPts val="1875"/>
                        </a:lnSpc>
                        <a:buNone/>
                      </a:pPr>
                      <a:r>
                        <a:rPr lang="en-US" b="1" dirty="0">
                          <a:effectLst/>
                        </a:rPr>
                        <a:t>T:</a:t>
                      </a:r>
                      <a:r>
                        <a:rPr lang="en-US" b="0" dirty="0">
                          <a:effectLst/>
                        </a:rPr>
                        <a:t> Strong local competitors like SwiftWheel. Regulatory backlash in key market.</a:t>
                      </a:r>
                      <a:endParaRPr lang="en-US" b="0" dirty="0">
                        <a:effectLst/>
                        <a:latin typeface="quote-cjk-patch"/>
                      </a:endParaRPr>
                    </a:p>
                  </a:txBody>
                  <a:tcPr marL="121920" marT="76200" marB="76200" anchor="ctr"/>
                </a:tc>
                <a:extLst>
                  <a:ext uri="{0D108BD9-81ED-4DB2-BD59-A6C34878D82A}">
                    <a16:rowId xmlns:a16="http://schemas.microsoft.com/office/drawing/2014/main" val="441883069"/>
                  </a:ext>
                </a:extLst>
              </a:tr>
            </a:tbl>
          </a:graphicData>
        </a:graphic>
      </p:graphicFrame>
      <p:sp>
        <p:nvSpPr>
          <p:cNvPr id="4" name="TextBox 3">
            <a:extLst>
              <a:ext uri="{FF2B5EF4-FFF2-40B4-BE49-F238E27FC236}">
                <a16:creationId xmlns:a16="http://schemas.microsoft.com/office/drawing/2014/main" id="{D2A4E801-95CC-E2E5-AE02-25375603865F}"/>
              </a:ext>
            </a:extLst>
          </p:cNvPr>
          <p:cNvSpPr txBox="1"/>
          <p:nvPr/>
        </p:nvSpPr>
        <p:spPr>
          <a:xfrm>
            <a:off x="0" y="6393274"/>
            <a:ext cx="12827000" cy="369332"/>
          </a:xfrm>
          <a:prstGeom prst="rect">
            <a:avLst/>
          </a:prstGeom>
          <a:noFill/>
        </p:spPr>
        <p:txBody>
          <a:bodyPr wrap="square">
            <a:spAutoFit/>
          </a:bodyPr>
          <a:lstStyle/>
          <a:p>
            <a:r>
              <a:rPr lang="en-US" b="0" i="0" dirty="0">
                <a:effectLst/>
                <a:latin typeface="Times New Roman" panose="02020603050405020304" pitchFamily="18" charset="0"/>
                <a:cs typeface="Times New Roman" panose="02020603050405020304" pitchFamily="18" charset="0"/>
              </a:rPr>
              <a:t>Competitive Gap: Lime predictive maintenance cut the downtime by 40 percent compared to SwiftWheel reactive maintenance.</a:t>
            </a:r>
            <a:endParaRPr lang="en-IN"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43444378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gradFill rotWithShape="1">
          <a:gsLst>
            <a:gs pos="0">
              <a:schemeClr val="bg2">
                <a:tint val="96000"/>
                <a:shade val="100000"/>
                <a:hueMod val="92000"/>
                <a:satMod val="200000"/>
                <a:lumMod val="128000"/>
              </a:schemeClr>
            </a:gs>
            <a:gs pos="50000">
              <a:schemeClr val="bg2">
                <a:shade val="100000"/>
                <a:hueMod val="100000"/>
                <a:satMod val="110000"/>
                <a:lumMod val="130000"/>
              </a:schemeClr>
            </a:gs>
            <a:gs pos="100000">
              <a:schemeClr val="bg2">
                <a:shade val="78000"/>
                <a:hueMod val="118000"/>
                <a:satMod val="120000"/>
                <a:lumMod val="69000"/>
              </a:schemeClr>
            </a:gs>
          </a:gsLst>
          <a:lin ang="2520000" scaled="0"/>
        </a:gradFill>
        <a:effectLst/>
      </p:bgPr>
    </p:bg>
    <p:spTree>
      <p:nvGrpSpPr>
        <p:cNvPr id="1" name=""/>
        <p:cNvGrpSpPr/>
        <p:nvPr/>
      </p:nvGrpSpPr>
      <p:grpSpPr>
        <a:xfrm>
          <a:off x="0" y="0"/>
          <a:ext cx="0" cy="0"/>
          <a:chOff x="0" y="0"/>
          <a:chExt cx="0" cy="0"/>
        </a:xfrm>
      </p:grpSpPr>
      <p:grpSp>
        <p:nvGrpSpPr>
          <p:cNvPr id="9" name="Group 8">
            <a:extLst>
              <a:ext uri="{FF2B5EF4-FFF2-40B4-BE49-F238E27FC236}">
                <a16:creationId xmlns:a16="http://schemas.microsoft.com/office/drawing/2014/main" id="{F6BCB397-4790-4766-82B8-F6ED3BAAB00F}"/>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3176" y="0"/>
            <a:ext cx="12192000" cy="6858001"/>
            <a:chOff x="-3176" y="0"/>
            <a:chExt cx="12192000" cy="6858001"/>
          </a:xfrm>
        </p:grpSpPr>
        <p:sp useBgFill="1">
          <p:nvSpPr>
            <p:cNvPr id="10" name="Rectangle 9">
              <a:extLst>
                <a:ext uri="{FF2B5EF4-FFF2-40B4-BE49-F238E27FC236}">
                  <a16:creationId xmlns:a16="http://schemas.microsoft.com/office/drawing/2014/main" id="{BDB66795-F5BA-4B6C-951C-11DBE9D24AA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0" y="0"/>
              <a:ext cx="12188824" cy="6858001"/>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1" name="Picture 10">
              <a:extLst>
                <a:ext uri="{FF2B5EF4-FFF2-40B4-BE49-F238E27FC236}">
                  <a16:creationId xmlns:a16="http://schemas.microsoft.com/office/drawing/2014/main" id="{12C790B8-181F-443B-9B01-D67B4B94ABA3}"/>
                </a:ext>
                <a:ext uri="{C183D7F6-B498-43B3-948B-1728B52AA6E4}">
                  <adec:decorative xmlns:adec="http://schemas.microsoft.com/office/drawing/2017/decorative" val="1"/>
                </a:ext>
              </a:extLst>
            </p:cNvPr>
            <p:cNvPicPr>
              <a:picLocks noChangeAspect="1"/>
            </p:cNvPicPr>
            <p:nvPr>
              <p:extLst>
                <p:ext uri="{386F3935-93C4-4BCD-93E2-E3B085C9AB24}">
                  <p16:designElem xmlns:p16="http://schemas.microsoft.com/office/powerpoint/2015/main" val="1"/>
                </p:ext>
              </p:extLst>
            </p:nvPr>
          </p:nvPicPr>
          <p:blipFill>
            <a:blip r:embed="rId3">
              <a:alphaModFix amt="10000"/>
              <a:extLst>
                <a:ext uri="{28A0092B-C50C-407E-A947-70E740481C1C}">
                  <a14:useLocalDpi xmlns:a14="http://schemas.microsoft.com/office/drawing/2010/main" val="0"/>
                </a:ext>
              </a:extLst>
            </a:blip>
            <a:stretch>
              <a:fillRect/>
            </a:stretch>
          </p:blipFill>
          <p:spPr>
            <a:xfrm>
              <a:off x="-3176" y="0"/>
              <a:ext cx="12192000" cy="6858000"/>
            </a:xfrm>
            <a:prstGeom prst="rect">
              <a:avLst/>
            </a:prstGeom>
          </p:spPr>
        </p:pic>
      </p:grpSp>
      <p:pic>
        <p:nvPicPr>
          <p:cNvPr id="7" name="Picture 6" descr="Blue blocks and networks technology background">
            <a:extLst>
              <a:ext uri="{FF2B5EF4-FFF2-40B4-BE49-F238E27FC236}">
                <a16:creationId xmlns:a16="http://schemas.microsoft.com/office/drawing/2014/main" id="{A97FE81E-4F68-D98F-CE49-D53E13DD2447}"/>
              </a:ext>
            </a:extLst>
          </p:cNvPr>
          <p:cNvPicPr>
            <a:picLocks noChangeAspect="1"/>
          </p:cNvPicPr>
          <p:nvPr/>
        </p:nvPicPr>
        <p:blipFill>
          <a:blip r:embed="rId4"/>
          <a:srcRect l="15507" r="46417" b="-448"/>
          <a:stretch>
            <a:fillRect/>
          </a:stretch>
        </p:blipFill>
        <p:spPr>
          <a:xfrm>
            <a:off x="7547810" y="10"/>
            <a:ext cx="4641013" cy="6856310"/>
          </a:xfrm>
          <a:prstGeom prst="rect">
            <a:avLst/>
          </a:prstGeom>
          <a:ln>
            <a:noFill/>
          </a:ln>
          <a:effectLst/>
        </p:spPr>
      </p:pic>
      <p:sp>
        <p:nvSpPr>
          <p:cNvPr id="13" name="Rectangle 12">
            <a:extLst>
              <a:ext uri="{FF2B5EF4-FFF2-40B4-BE49-F238E27FC236}">
                <a16:creationId xmlns:a16="http://schemas.microsoft.com/office/drawing/2014/main" id="{0917D5C4-7346-4128-A893-88F9031A327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grayWhite">
          <a:xfrm>
            <a:off x="2" y="609600"/>
            <a:ext cx="7967048" cy="1368198"/>
          </a:xfrm>
          <a:prstGeom prst="rect">
            <a:avLst/>
          </a:prstGeom>
          <a:solidFill>
            <a:schemeClr val="bg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IN"/>
          </a:p>
        </p:txBody>
      </p:sp>
      <p:sp>
        <p:nvSpPr>
          <p:cNvPr id="2" name="Title 1">
            <a:extLst>
              <a:ext uri="{FF2B5EF4-FFF2-40B4-BE49-F238E27FC236}">
                <a16:creationId xmlns:a16="http://schemas.microsoft.com/office/drawing/2014/main" id="{3EAF855E-3C52-E68C-0C5B-151D94187176}"/>
              </a:ext>
            </a:extLst>
          </p:cNvPr>
          <p:cNvSpPr>
            <a:spLocks noGrp="1"/>
          </p:cNvSpPr>
          <p:nvPr>
            <p:ph type="title"/>
          </p:nvPr>
        </p:nvSpPr>
        <p:spPr>
          <a:xfrm>
            <a:off x="680321" y="753228"/>
            <a:ext cx="7087552" cy="1080938"/>
          </a:xfrm>
        </p:spPr>
        <p:txBody>
          <a:bodyPr>
            <a:normAutofit/>
          </a:bodyPr>
          <a:lstStyle/>
          <a:p>
            <a:r>
              <a:rPr lang="en-IN" b="1" dirty="0"/>
              <a:t>Modern RDBMS Impact Analysis</a:t>
            </a:r>
            <a:endParaRPr lang="en-IN" dirty="0"/>
          </a:p>
        </p:txBody>
      </p:sp>
      <p:pic>
        <p:nvPicPr>
          <p:cNvPr id="15" name="Picture 14">
            <a:extLst>
              <a:ext uri="{FF2B5EF4-FFF2-40B4-BE49-F238E27FC236}">
                <a16:creationId xmlns:a16="http://schemas.microsoft.com/office/drawing/2014/main" id="{4EC06EAC-4D4E-4BEC-A580-543F5E0EDE94}"/>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a:blip r:embed="rId5">
            <a:extLst>
              <a:ext uri="{28A0092B-C50C-407E-A947-70E740481C1C}">
                <a14:useLocalDpi xmlns:a14="http://schemas.microsoft.com/office/drawing/2010/main" val="0"/>
              </a:ext>
            </a:extLst>
          </a:blip>
          <a:stretch>
            <a:fillRect/>
          </a:stretch>
        </p:blipFill>
        <p:spPr>
          <a:xfrm>
            <a:off x="2" y="1970240"/>
            <a:ext cx="7967048" cy="321164"/>
          </a:xfrm>
          <a:prstGeom prst="rect">
            <a:avLst/>
          </a:prstGeom>
        </p:spPr>
      </p:pic>
      <p:sp>
        <p:nvSpPr>
          <p:cNvPr id="3" name="Content Placeholder 2">
            <a:extLst>
              <a:ext uri="{FF2B5EF4-FFF2-40B4-BE49-F238E27FC236}">
                <a16:creationId xmlns:a16="http://schemas.microsoft.com/office/drawing/2014/main" id="{E4F7ED34-21F6-D899-1A5D-C314A2544434}"/>
              </a:ext>
            </a:extLst>
          </p:cNvPr>
          <p:cNvSpPr>
            <a:spLocks noGrp="1"/>
          </p:cNvSpPr>
          <p:nvPr>
            <p:ph idx="1"/>
          </p:nvPr>
        </p:nvSpPr>
        <p:spPr>
          <a:xfrm>
            <a:off x="680321" y="2336873"/>
            <a:ext cx="6423211" cy="3599316"/>
          </a:xfrm>
        </p:spPr>
        <p:txBody>
          <a:bodyPr>
            <a:normAutofit/>
          </a:bodyPr>
          <a:lstStyle/>
          <a:p>
            <a:pPr marL="0" indent="0">
              <a:buNone/>
            </a:pPr>
            <a:r>
              <a:rPr lang="en-IN" sz="1400" b="1" dirty="0">
                <a:latin typeface="Times New Roman" panose="02020603050405020304" pitchFamily="18" charset="0"/>
                <a:cs typeface="Times New Roman" panose="02020603050405020304" pitchFamily="18" charset="0"/>
              </a:rPr>
              <a:t>Key RDBMS Advance</a:t>
            </a:r>
          </a:p>
          <a:p>
            <a:pPr lvl="1"/>
            <a:r>
              <a:rPr lang="en-US" sz="1400" dirty="0" err="1">
                <a:latin typeface="Times New Roman" panose="02020603050405020304" pitchFamily="18" charset="0"/>
                <a:cs typeface="Times New Roman" panose="02020603050405020304" pitchFamily="18" charset="0"/>
              </a:rPr>
              <a:t>Cloudbase</a:t>
            </a:r>
            <a:r>
              <a:rPr lang="en-US" sz="1400" dirty="0">
                <a:latin typeface="Times New Roman" panose="02020603050405020304" pitchFamily="18" charset="0"/>
                <a:cs typeface="Times New Roman" panose="02020603050405020304" pitchFamily="18" charset="0"/>
              </a:rPr>
              <a:t> Databases: Automated scaling, worldwide distribution. </a:t>
            </a:r>
          </a:p>
          <a:p>
            <a:pPr lvl="1"/>
            <a:r>
              <a:rPr lang="en-US" sz="1400" dirty="0">
                <a:latin typeface="Times New Roman" panose="02020603050405020304" pitchFamily="18" charset="0"/>
                <a:cs typeface="Times New Roman" panose="02020603050405020304" pitchFamily="18" charset="0"/>
              </a:rPr>
              <a:t>Distributed SQL: Strong consistency Horizontal scalability. </a:t>
            </a:r>
          </a:p>
          <a:p>
            <a:pPr lvl="1"/>
            <a:r>
              <a:rPr lang="en-US" sz="1400" dirty="0">
                <a:latin typeface="Times New Roman" panose="02020603050405020304" pitchFamily="18" charset="0"/>
                <a:cs typeface="Times New Roman" panose="02020603050405020304" pitchFamily="18" charset="0"/>
              </a:rPr>
              <a:t>Serverless Architectures: Pay as you go use cost model. </a:t>
            </a:r>
          </a:p>
          <a:p>
            <a:pPr lvl="1"/>
            <a:r>
              <a:rPr lang="en-US" sz="1400" dirty="0">
                <a:latin typeface="Times New Roman" panose="02020603050405020304" pitchFamily="18" charset="0"/>
                <a:cs typeface="Times New Roman" panose="02020603050405020304" pitchFamily="18" charset="0"/>
              </a:rPr>
              <a:t>Combined Analytics: HTAP (Hybrid transactional/analytical processing).</a:t>
            </a:r>
          </a:p>
          <a:p>
            <a:pPr marL="0" indent="0">
              <a:buNone/>
            </a:pPr>
            <a:r>
              <a:rPr lang="en-US" sz="1400" dirty="0">
                <a:latin typeface="Times New Roman" panose="02020603050405020304" pitchFamily="18" charset="0"/>
                <a:cs typeface="Times New Roman" panose="02020603050405020304" pitchFamily="18" charset="0"/>
              </a:rPr>
              <a:t>Business Impact of SwiftWheel </a:t>
            </a:r>
          </a:p>
          <a:p>
            <a:pPr lvl="1"/>
            <a:r>
              <a:rPr lang="en-US" sz="1400" dirty="0">
                <a:latin typeface="Times New Roman" panose="02020603050405020304" pitchFamily="18" charset="0"/>
                <a:cs typeface="Times New Roman" panose="02020603050405020304" pitchFamily="18" charset="0"/>
              </a:rPr>
              <a:t>Operational: 30 to 40% minimization of IT management overhead. </a:t>
            </a:r>
          </a:p>
          <a:p>
            <a:pPr lvl="1"/>
            <a:r>
              <a:rPr lang="en-US" sz="1400" dirty="0">
                <a:latin typeface="Times New Roman" panose="02020603050405020304" pitchFamily="18" charset="0"/>
                <a:cs typeface="Times New Roman" panose="02020603050405020304" pitchFamily="18" charset="0"/>
              </a:rPr>
              <a:t>Strategic: Facilitates predictive analytics and real time pricing. </a:t>
            </a:r>
          </a:p>
          <a:p>
            <a:pPr lvl="1"/>
            <a:r>
              <a:rPr lang="en-US" sz="1400" dirty="0">
                <a:latin typeface="Times New Roman" panose="02020603050405020304" pitchFamily="18" charset="0"/>
                <a:cs typeface="Times New Roman" panose="02020603050405020304" pitchFamily="18" charset="0"/>
              </a:rPr>
              <a:t>Scalability: Can serve 10 or more cities in the UK. </a:t>
            </a:r>
          </a:p>
          <a:p>
            <a:pPr lvl="1"/>
            <a:r>
              <a:rPr lang="en-US" sz="1400" dirty="0">
                <a:latin typeface="Times New Roman" panose="02020603050405020304" pitchFamily="18" charset="0"/>
                <a:cs typeface="Times New Roman" panose="02020603050405020304" pitchFamily="18" charset="0"/>
              </a:rPr>
              <a:t>Cost: </a:t>
            </a:r>
            <a:r>
              <a:rPr lang="en-US" sz="1400" dirty="0" err="1">
                <a:latin typeface="Times New Roman" panose="02020603050405020304" pitchFamily="18" charset="0"/>
                <a:cs typeface="Times New Roman" panose="02020603050405020304" pitchFamily="18" charset="0"/>
              </a:rPr>
              <a:t>CapEx</a:t>
            </a:r>
            <a:r>
              <a:rPr lang="en-US" sz="1400" dirty="0">
                <a:latin typeface="Times New Roman" panose="02020603050405020304" pitchFamily="18" charset="0"/>
                <a:cs typeface="Times New Roman" panose="02020603050405020304" pitchFamily="18" charset="0"/>
              </a:rPr>
              <a:t> to </a:t>
            </a:r>
            <a:r>
              <a:rPr lang="en-US" sz="1400" dirty="0" err="1">
                <a:latin typeface="Times New Roman" panose="02020603050405020304" pitchFamily="18" charset="0"/>
                <a:cs typeface="Times New Roman" panose="02020603050405020304" pitchFamily="18" charset="0"/>
              </a:rPr>
              <a:t>OpEx</a:t>
            </a:r>
            <a:r>
              <a:rPr lang="en-US" sz="1400" dirty="0">
                <a:latin typeface="Times New Roman" panose="02020603050405020304" pitchFamily="18" charset="0"/>
                <a:cs typeface="Times New Roman" panose="02020603050405020304" pitchFamily="18" charset="0"/>
              </a:rPr>
              <a:t> spending model. </a:t>
            </a:r>
          </a:p>
          <a:p>
            <a:pPr marL="0" indent="0">
              <a:buNone/>
            </a:pPr>
            <a:r>
              <a:rPr lang="en-US" sz="1400" dirty="0">
                <a:latin typeface="Times New Roman" panose="02020603050405020304" pitchFamily="18" charset="0"/>
                <a:cs typeface="Times New Roman" panose="02020603050405020304" pitchFamily="18" charset="0"/>
              </a:rPr>
              <a:t>Proposed Solution: Hybrid architecture based on the use of a distributed SQL in transactional data and columnar storage in analytics.</a:t>
            </a:r>
            <a:endParaRPr lang="en-IN" sz="1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80949640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4D0115C-3AFB-BCFD-7A76-6AAF987C5109}"/>
              </a:ext>
            </a:extLst>
          </p:cNvPr>
          <p:cNvSpPr>
            <a:spLocks noGrp="1"/>
          </p:cNvSpPr>
          <p:nvPr>
            <p:ph type="title"/>
          </p:nvPr>
        </p:nvSpPr>
        <p:spPr/>
        <p:txBody>
          <a:bodyPr/>
          <a:lstStyle/>
          <a:p>
            <a:r>
              <a:rPr lang="en-US" dirty="0"/>
              <a:t>Entity Identification</a:t>
            </a:r>
            <a:endParaRPr lang="en-IN" dirty="0"/>
          </a:p>
        </p:txBody>
      </p:sp>
      <p:sp>
        <p:nvSpPr>
          <p:cNvPr id="3" name="Content Placeholder 2">
            <a:extLst>
              <a:ext uri="{FF2B5EF4-FFF2-40B4-BE49-F238E27FC236}">
                <a16:creationId xmlns:a16="http://schemas.microsoft.com/office/drawing/2014/main" id="{745E439B-19DE-E6A9-57FE-73196812C96C}"/>
              </a:ext>
            </a:extLst>
          </p:cNvPr>
          <p:cNvSpPr>
            <a:spLocks noGrp="1"/>
          </p:cNvSpPr>
          <p:nvPr>
            <p:ph idx="1"/>
          </p:nvPr>
        </p:nvSpPr>
        <p:spPr/>
        <p:txBody>
          <a:bodyPr>
            <a:normAutofit/>
          </a:bodyPr>
          <a:lstStyle/>
          <a:p>
            <a:r>
              <a:rPr lang="en-US" sz="1800" dirty="0"/>
              <a:t>The six main business entities as identified in the analysis are:</a:t>
            </a:r>
          </a:p>
          <a:p>
            <a:r>
              <a:rPr lang="en-US" sz="1800" dirty="0"/>
              <a:t>(</a:t>
            </a:r>
            <a:r>
              <a:rPr lang="en-US" sz="1800" dirty="0" err="1"/>
              <a:t>i</a:t>
            </a:r>
            <a:r>
              <a:rPr lang="en-US" sz="1800" dirty="0"/>
              <a:t>) Customers, which includes personal details and registration data.</a:t>
            </a:r>
          </a:p>
          <a:p>
            <a:r>
              <a:rPr lang="en-US" sz="1800" dirty="0"/>
              <a:t>(ii) Scooters, which includes model, battery specifications and city location.</a:t>
            </a:r>
          </a:p>
          <a:p>
            <a:r>
              <a:rPr lang="en-US" sz="1800" dirty="0"/>
              <a:t>(iii) Trips, which includes origin, destination, duration and cost</a:t>
            </a:r>
          </a:p>
          <a:p>
            <a:r>
              <a:rPr lang="en-US" sz="1800" dirty="0"/>
              <a:t>(iv) Payments, which includes amount, status, and method of payment</a:t>
            </a:r>
          </a:p>
          <a:p>
            <a:r>
              <a:rPr lang="en-US" sz="1800" dirty="0"/>
              <a:t>(v) Technicians, which include roles, teams and assigned tasks</a:t>
            </a:r>
          </a:p>
          <a:p>
            <a:r>
              <a:rPr lang="en-US" sz="1800" dirty="0"/>
              <a:t>(vi) Maintenance Issues which include technician involvement and date of completion.</a:t>
            </a:r>
            <a:endParaRPr lang="en-IN" sz="1800" dirty="0"/>
          </a:p>
        </p:txBody>
      </p:sp>
    </p:spTree>
    <p:extLst>
      <p:ext uri="{BB962C8B-B14F-4D97-AF65-F5344CB8AC3E}">
        <p14:creationId xmlns:p14="http://schemas.microsoft.com/office/powerpoint/2010/main" val="335911781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D6672F7-8D5D-4FB2-7CFA-743344B7CEA7}"/>
              </a:ext>
            </a:extLst>
          </p:cNvPr>
          <p:cNvSpPr>
            <a:spLocks noGrp="1"/>
          </p:cNvSpPr>
          <p:nvPr>
            <p:ph type="title"/>
          </p:nvPr>
        </p:nvSpPr>
        <p:spPr/>
        <p:txBody>
          <a:bodyPr/>
          <a:lstStyle/>
          <a:p>
            <a:r>
              <a:rPr lang="en-IN" b="1" dirty="0"/>
              <a:t> Current State Data Flow Diagram</a:t>
            </a:r>
            <a:endParaRPr lang="en-IN" dirty="0"/>
          </a:p>
        </p:txBody>
      </p:sp>
      <p:pic>
        <p:nvPicPr>
          <p:cNvPr id="5" name="Content Placeholder 4">
            <a:extLst>
              <a:ext uri="{FF2B5EF4-FFF2-40B4-BE49-F238E27FC236}">
                <a16:creationId xmlns:a16="http://schemas.microsoft.com/office/drawing/2014/main" id="{013A592D-142D-BD88-88FB-EB5BA6747588}"/>
              </a:ext>
            </a:extLst>
          </p:cNvPr>
          <p:cNvPicPr>
            <a:picLocks noGrp="1" noChangeAspect="1"/>
          </p:cNvPicPr>
          <p:nvPr>
            <p:ph idx="1"/>
          </p:nvPr>
        </p:nvPicPr>
        <p:blipFill>
          <a:blip r:embed="rId3"/>
          <a:stretch>
            <a:fillRect/>
          </a:stretch>
        </p:blipFill>
        <p:spPr>
          <a:xfrm>
            <a:off x="-30526" y="2020526"/>
            <a:ext cx="5576430" cy="3952012"/>
          </a:xfrm>
          <a:prstGeom prst="rect">
            <a:avLst/>
          </a:prstGeom>
        </p:spPr>
      </p:pic>
      <p:sp>
        <p:nvSpPr>
          <p:cNvPr id="6" name="TextBox 5">
            <a:extLst>
              <a:ext uri="{FF2B5EF4-FFF2-40B4-BE49-F238E27FC236}">
                <a16:creationId xmlns:a16="http://schemas.microsoft.com/office/drawing/2014/main" id="{8BB94D9A-7311-5EB0-3B81-C31F7D794765}"/>
              </a:ext>
            </a:extLst>
          </p:cNvPr>
          <p:cNvSpPr txBox="1"/>
          <p:nvPr/>
        </p:nvSpPr>
        <p:spPr>
          <a:xfrm>
            <a:off x="5639702" y="2324090"/>
            <a:ext cx="10125018" cy="3600986"/>
          </a:xfrm>
          <a:prstGeom prst="rect">
            <a:avLst/>
          </a:prstGeom>
          <a:noFill/>
        </p:spPr>
        <p:txBody>
          <a:bodyPr wrap="square" rtlCol="0">
            <a:spAutoFit/>
          </a:bodyPr>
          <a:lstStyle/>
          <a:p>
            <a:r>
              <a:rPr lang="en-IN" sz="1200" b="1" dirty="0">
                <a:solidFill>
                  <a:schemeClr val="bg1"/>
                </a:solidFill>
              </a:rPr>
              <a:t>Scooter Rental System - DFD Summary</a:t>
            </a:r>
          </a:p>
          <a:p>
            <a:r>
              <a:rPr lang="en-IN" sz="1200" dirty="0">
                <a:solidFill>
                  <a:schemeClr val="bg1"/>
                </a:solidFill>
              </a:rPr>
              <a:t>External Entities:</a:t>
            </a:r>
          </a:p>
          <a:p>
            <a:r>
              <a:rPr lang="en-IN" sz="1200" dirty="0"/>
              <a:t>Customer: Rents scooters &amp; pays</a:t>
            </a:r>
          </a:p>
          <a:p>
            <a:r>
              <a:rPr lang="en-IN" sz="1200" dirty="0"/>
              <a:t>Technician: Performs maintenance</a:t>
            </a:r>
          </a:p>
          <a:p>
            <a:r>
              <a:rPr lang="en-IN" sz="1200" dirty="0"/>
              <a:t>Scooter (IoT): Sends location data</a:t>
            </a:r>
          </a:p>
          <a:p>
            <a:r>
              <a:rPr lang="en-IN" sz="1200" dirty="0"/>
              <a:t>Management: Requests reports</a:t>
            </a:r>
          </a:p>
          <a:p>
            <a:r>
              <a:rPr lang="en-IN" sz="1200" dirty="0">
                <a:solidFill>
                  <a:schemeClr val="bg1"/>
                </a:solidFill>
              </a:rPr>
              <a:t>Core Processes:</a:t>
            </a:r>
          </a:p>
          <a:p>
            <a:r>
              <a:rPr lang="en-IN" sz="1200" dirty="0"/>
              <a:t>Process Rental: Handles rentals from start to finish</a:t>
            </a:r>
          </a:p>
          <a:p>
            <a:r>
              <a:rPr lang="en-IN" sz="1200" dirty="0"/>
              <a:t>Generate Reports: Creates management dashboards</a:t>
            </a:r>
          </a:p>
          <a:p>
            <a:r>
              <a:rPr lang="en-IN" sz="1200" dirty="0">
                <a:solidFill>
                  <a:schemeClr val="bg1"/>
                </a:solidFill>
              </a:rPr>
              <a:t>Data Stores:</a:t>
            </a:r>
          </a:p>
          <a:p>
            <a:r>
              <a:rPr lang="en-IN" sz="1200" dirty="0"/>
              <a:t>Trip Data: Records all trips (CSV/JSON)</a:t>
            </a:r>
          </a:p>
          <a:p>
            <a:r>
              <a:rPr lang="en-IN" sz="1200" dirty="0"/>
              <a:t>Payment Logs: Stores transactions (API logs)</a:t>
            </a:r>
          </a:p>
          <a:p>
            <a:r>
              <a:rPr lang="en-IN" sz="1200" dirty="0"/>
              <a:t>Maintenance Records: Service history (Spreadsheet)</a:t>
            </a:r>
          </a:p>
          <a:p>
            <a:r>
              <a:rPr lang="en-IN" sz="1200" dirty="0"/>
              <a:t>Location Stream: Real-time scooter positions (Cloud)</a:t>
            </a:r>
          </a:p>
          <a:p>
            <a:r>
              <a:rPr lang="en-IN" sz="1200" dirty="0">
                <a:solidFill>
                  <a:schemeClr val="bg1"/>
                </a:solidFill>
              </a:rPr>
              <a:t>Key Data Flows:</a:t>
            </a:r>
          </a:p>
          <a:p>
            <a:r>
              <a:rPr lang="en-IN" sz="1200" dirty="0"/>
              <a:t>Customer → Rental request → System</a:t>
            </a:r>
          </a:p>
          <a:p>
            <a:r>
              <a:rPr lang="en-IN" sz="1200" dirty="0"/>
              <a:t>Scooter → Location data → System</a:t>
            </a:r>
          </a:p>
          <a:p>
            <a:r>
              <a:rPr lang="en-IN" sz="1200" dirty="0"/>
              <a:t>System → Maintenance alerts → Technician</a:t>
            </a:r>
          </a:p>
          <a:p>
            <a:r>
              <a:rPr lang="en-IN" sz="1200" dirty="0"/>
              <a:t>System → Reports → Management</a:t>
            </a:r>
          </a:p>
        </p:txBody>
      </p:sp>
      <p:sp>
        <p:nvSpPr>
          <p:cNvPr id="7" name="TextBox 6">
            <a:extLst>
              <a:ext uri="{FF2B5EF4-FFF2-40B4-BE49-F238E27FC236}">
                <a16:creationId xmlns:a16="http://schemas.microsoft.com/office/drawing/2014/main" id="{3C1027EE-DD60-CBBD-0D6F-DA5491B2E6D0}"/>
              </a:ext>
            </a:extLst>
          </p:cNvPr>
          <p:cNvSpPr txBox="1"/>
          <p:nvPr/>
        </p:nvSpPr>
        <p:spPr>
          <a:xfrm>
            <a:off x="0" y="5984113"/>
            <a:ext cx="8268610" cy="246221"/>
          </a:xfrm>
          <a:prstGeom prst="rect">
            <a:avLst/>
          </a:prstGeom>
          <a:noFill/>
        </p:spPr>
        <p:txBody>
          <a:bodyPr wrap="none" rtlCol="0">
            <a:spAutoFit/>
          </a:bodyPr>
          <a:lstStyle/>
          <a:p>
            <a:r>
              <a:rPr lang="en-US" sz="1000" dirty="0"/>
              <a:t>Link :https://</a:t>
            </a:r>
            <a:r>
              <a:rPr lang="en-US" sz="1000" dirty="0" err="1"/>
              <a:t>lucid.app</a:t>
            </a:r>
            <a:r>
              <a:rPr lang="en-US" sz="1000" dirty="0"/>
              <a:t>/</a:t>
            </a:r>
            <a:r>
              <a:rPr lang="en-US" sz="1000" dirty="0" err="1"/>
              <a:t>lucidchart</a:t>
            </a:r>
            <a:r>
              <a:rPr lang="en-US" sz="1000" dirty="0"/>
              <a:t>/a75be185-8d56-42b3-b01b-727ce8452740/</a:t>
            </a:r>
            <a:r>
              <a:rPr lang="en-US" sz="1000" dirty="0" err="1"/>
              <a:t>edit?invitationId</a:t>
            </a:r>
            <a:r>
              <a:rPr lang="en-US" sz="1000" dirty="0"/>
              <a:t>=inv_00541207-1bd0-407f-8bc5-b4579548b39d</a:t>
            </a:r>
            <a:endParaRPr lang="en-IN" sz="1000" dirty="0"/>
          </a:p>
        </p:txBody>
      </p:sp>
    </p:spTree>
    <p:extLst>
      <p:ext uri="{BB962C8B-B14F-4D97-AF65-F5344CB8AC3E}">
        <p14:creationId xmlns:p14="http://schemas.microsoft.com/office/powerpoint/2010/main" val="257230431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gradFill rotWithShape="1">
          <a:gsLst>
            <a:gs pos="0">
              <a:schemeClr val="bg2">
                <a:tint val="96000"/>
                <a:shade val="100000"/>
                <a:hueMod val="92000"/>
                <a:satMod val="200000"/>
                <a:lumMod val="128000"/>
              </a:schemeClr>
            </a:gs>
            <a:gs pos="50000">
              <a:schemeClr val="bg2">
                <a:shade val="100000"/>
                <a:hueMod val="100000"/>
                <a:satMod val="110000"/>
                <a:lumMod val="130000"/>
              </a:schemeClr>
            </a:gs>
            <a:gs pos="100000">
              <a:schemeClr val="bg2">
                <a:shade val="78000"/>
                <a:hueMod val="118000"/>
                <a:satMod val="120000"/>
                <a:lumMod val="69000"/>
              </a:schemeClr>
            </a:gs>
          </a:gsLst>
          <a:lin ang="2520000" scaled="0"/>
        </a:gradFill>
        <a:effectLst/>
      </p:bgPr>
    </p:bg>
    <p:spTree>
      <p:nvGrpSpPr>
        <p:cNvPr id="1" name=""/>
        <p:cNvGrpSpPr/>
        <p:nvPr/>
      </p:nvGrpSpPr>
      <p:grpSpPr>
        <a:xfrm>
          <a:off x="0" y="0"/>
          <a:ext cx="0" cy="0"/>
          <a:chOff x="0" y="0"/>
          <a:chExt cx="0" cy="0"/>
        </a:xfrm>
      </p:grpSpPr>
      <p:sp useBgFill="1">
        <p:nvSpPr>
          <p:cNvPr id="35" name="Rectangle 34">
            <a:extLst>
              <a:ext uri="{FF2B5EF4-FFF2-40B4-BE49-F238E27FC236}">
                <a16:creationId xmlns:a16="http://schemas.microsoft.com/office/drawing/2014/main" id="{8DCA3673-CDE4-40C5-9FA8-F89874CFBA7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
            <a:ext cx="12188824" cy="6858001"/>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37" name="Picture 36">
            <a:extLst>
              <a:ext uri="{FF2B5EF4-FFF2-40B4-BE49-F238E27FC236}">
                <a16:creationId xmlns:a16="http://schemas.microsoft.com/office/drawing/2014/main" id="{95756E8F-499C-4533-BBE8-309C3E8D985C}"/>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a:blip r:embed="rId3">
            <a:alphaModFix amt="10000"/>
            <a:extLst>
              <a:ext uri="{28A0092B-C50C-407E-A947-70E740481C1C}">
                <a14:useLocalDpi xmlns:a14="http://schemas.microsoft.com/office/drawing/2010/main" val="0"/>
              </a:ext>
            </a:extLst>
          </a:blip>
          <a:stretch>
            <a:fillRect/>
          </a:stretch>
        </p:blipFill>
        <p:spPr>
          <a:xfrm>
            <a:off x="-3176" y="0"/>
            <a:ext cx="12192000" cy="6858000"/>
          </a:xfrm>
          <a:prstGeom prst="rect">
            <a:avLst/>
          </a:prstGeom>
        </p:spPr>
      </p:pic>
      <p:sp>
        <p:nvSpPr>
          <p:cNvPr id="39" name="Rectangle 38">
            <a:extLst>
              <a:ext uri="{FF2B5EF4-FFF2-40B4-BE49-F238E27FC236}">
                <a16:creationId xmlns:a16="http://schemas.microsoft.com/office/drawing/2014/main" id="{0FFFD040-32A9-4D2B-86CA-599D030A416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639056" y="0"/>
            <a:ext cx="7552944" cy="6858001"/>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1" name="Rectangle 40">
            <a:extLst>
              <a:ext uri="{FF2B5EF4-FFF2-40B4-BE49-F238E27FC236}">
                <a16:creationId xmlns:a16="http://schemas.microsoft.com/office/drawing/2014/main" id="{863205CA-B7FF-4C25-A4C8-3BBBCE19D95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grayWhite">
          <a:xfrm>
            <a:off x="2" y="609600"/>
            <a:ext cx="4959094" cy="1368198"/>
          </a:xfrm>
          <a:prstGeom prst="rect">
            <a:avLst/>
          </a:prstGeom>
          <a:solidFill>
            <a:schemeClr val="bg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IN"/>
          </a:p>
        </p:txBody>
      </p:sp>
      <p:sp>
        <p:nvSpPr>
          <p:cNvPr id="2" name="Title 1">
            <a:extLst>
              <a:ext uri="{FF2B5EF4-FFF2-40B4-BE49-F238E27FC236}">
                <a16:creationId xmlns:a16="http://schemas.microsoft.com/office/drawing/2014/main" id="{6BA43299-84D4-6F13-63A5-2884CDA07732}"/>
              </a:ext>
            </a:extLst>
          </p:cNvPr>
          <p:cNvSpPr>
            <a:spLocks noGrp="1"/>
          </p:cNvSpPr>
          <p:nvPr>
            <p:ph type="title"/>
          </p:nvPr>
        </p:nvSpPr>
        <p:spPr>
          <a:xfrm>
            <a:off x="680321" y="753228"/>
            <a:ext cx="4136123" cy="1080938"/>
          </a:xfrm>
        </p:spPr>
        <p:txBody>
          <a:bodyPr vert="horz" lIns="91440" tIns="45720" rIns="91440" bIns="45720" rtlCol="0" anchor="ctr">
            <a:normAutofit/>
          </a:bodyPr>
          <a:lstStyle/>
          <a:p>
            <a:r>
              <a:rPr lang="en-US" sz="2400" b="1"/>
              <a:t>Future State ER Diagram</a:t>
            </a:r>
            <a:endParaRPr lang="en-US" sz="2400"/>
          </a:p>
        </p:txBody>
      </p:sp>
      <p:pic>
        <p:nvPicPr>
          <p:cNvPr id="43" name="Picture 42">
            <a:extLst>
              <a:ext uri="{FF2B5EF4-FFF2-40B4-BE49-F238E27FC236}">
                <a16:creationId xmlns:a16="http://schemas.microsoft.com/office/drawing/2014/main" id="{306E3F32-3C1A-4B6E-AF26-8A15A788560F}"/>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a:blip r:embed="rId4">
            <a:extLst>
              <a:ext uri="{28A0092B-C50C-407E-A947-70E740481C1C}">
                <a14:useLocalDpi xmlns:a14="http://schemas.microsoft.com/office/drawing/2010/main" val="0"/>
              </a:ext>
            </a:extLst>
          </a:blip>
          <a:stretch>
            <a:fillRect/>
          </a:stretch>
        </p:blipFill>
        <p:spPr>
          <a:xfrm>
            <a:off x="2" y="1970241"/>
            <a:ext cx="4956048" cy="199787"/>
          </a:xfrm>
          <a:prstGeom prst="rect">
            <a:avLst/>
          </a:prstGeom>
        </p:spPr>
      </p:pic>
      <p:sp>
        <p:nvSpPr>
          <p:cNvPr id="8" name="TextBox 7">
            <a:extLst>
              <a:ext uri="{FF2B5EF4-FFF2-40B4-BE49-F238E27FC236}">
                <a16:creationId xmlns:a16="http://schemas.microsoft.com/office/drawing/2014/main" id="{3113F888-7842-C391-7FD3-8B405B815C93}"/>
              </a:ext>
            </a:extLst>
          </p:cNvPr>
          <p:cNvSpPr txBox="1"/>
          <p:nvPr/>
        </p:nvSpPr>
        <p:spPr>
          <a:xfrm>
            <a:off x="680321" y="2336873"/>
            <a:ext cx="3656289" cy="3599316"/>
          </a:xfrm>
          <a:prstGeom prst="rect">
            <a:avLst/>
          </a:prstGeom>
        </p:spPr>
        <p:txBody>
          <a:bodyPr vert="horz" lIns="91440" tIns="45720" rIns="91440" bIns="45720" rtlCol="0">
            <a:normAutofit/>
          </a:bodyPr>
          <a:lstStyle/>
          <a:p>
            <a:pPr indent="-228600" defTabSz="914400">
              <a:lnSpc>
                <a:spcPct val="90000"/>
              </a:lnSpc>
              <a:spcAft>
                <a:spcPts val="600"/>
              </a:spcAft>
              <a:buFont typeface="Arial" panose="020B0604020202020204" pitchFamily="34" charset="0"/>
              <a:buChar char="•"/>
            </a:pPr>
            <a:r>
              <a:rPr lang="en-US" sz="1000" b="1"/>
              <a:t>ENTITIES:</a:t>
            </a:r>
            <a:endParaRPr lang="en-US" sz="1000"/>
          </a:p>
          <a:p>
            <a:pPr indent="-228600" defTabSz="914400">
              <a:lnSpc>
                <a:spcPct val="90000"/>
              </a:lnSpc>
              <a:spcAft>
                <a:spcPts val="600"/>
              </a:spcAft>
              <a:buFont typeface="Arial" panose="020B0604020202020204" pitchFamily="34" charset="0"/>
              <a:buChar char="•"/>
            </a:pPr>
            <a:r>
              <a:rPr lang="en-US" sz="1000"/>
              <a:t>Customer (CustomerID PK, Name, Email, MembershipType, City)</a:t>
            </a:r>
          </a:p>
          <a:p>
            <a:pPr indent="-228600" defTabSz="914400">
              <a:lnSpc>
                <a:spcPct val="90000"/>
              </a:lnSpc>
              <a:spcAft>
                <a:spcPts val="600"/>
              </a:spcAft>
              <a:buFont typeface="Arial" panose="020B0604020202020204" pitchFamily="34" charset="0"/>
              <a:buChar char="•"/>
            </a:pPr>
            <a:r>
              <a:rPr lang="en-US" sz="1000"/>
              <a:t>Scooter (ScooterID PK, Model, PurchaseDate, Status, CurrentCity)</a:t>
            </a:r>
          </a:p>
          <a:p>
            <a:pPr indent="-228600" defTabSz="914400">
              <a:lnSpc>
                <a:spcPct val="90000"/>
              </a:lnSpc>
              <a:spcAft>
                <a:spcPts val="600"/>
              </a:spcAft>
              <a:buFont typeface="Arial" panose="020B0604020202020204" pitchFamily="34" charset="0"/>
              <a:buChar char="•"/>
            </a:pPr>
            <a:r>
              <a:rPr lang="en-US" sz="1000"/>
              <a:t>Trip (TripID PK, CustomerID FK, ScooterID FK, StartTime, EndTime, Distance, Cost)</a:t>
            </a:r>
          </a:p>
          <a:p>
            <a:pPr indent="-228600" defTabSz="914400">
              <a:lnSpc>
                <a:spcPct val="90000"/>
              </a:lnSpc>
              <a:spcAft>
                <a:spcPts val="600"/>
              </a:spcAft>
              <a:buFont typeface="Arial" panose="020B0604020202020204" pitchFamily="34" charset="0"/>
              <a:buChar char="•"/>
            </a:pPr>
            <a:r>
              <a:rPr lang="en-US" sz="1000"/>
              <a:t>Maintenance (MaintenanceID PK, ScooterID FK, TechnicianID FK, ReportDate, Issue, Status)</a:t>
            </a:r>
          </a:p>
          <a:p>
            <a:pPr indent="-228600" defTabSz="914400">
              <a:lnSpc>
                <a:spcPct val="90000"/>
              </a:lnSpc>
              <a:spcAft>
                <a:spcPts val="600"/>
              </a:spcAft>
              <a:buFont typeface="Arial" panose="020B0604020202020204" pitchFamily="34" charset="0"/>
              <a:buChar char="•"/>
            </a:pPr>
            <a:r>
              <a:rPr lang="en-US" sz="1000"/>
              <a:t>Payment (PaymentID PK, CustomerID FK, Amount, Date, Status)</a:t>
            </a:r>
          </a:p>
          <a:p>
            <a:pPr indent="-228600" defTabSz="914400">
              <a:lnSpc>
                <a:spcPct val="90000"/>
              </a:lnSpc>
              <a:spcAft>
                <a:spcPts val="600"/>
              </a:spcAft>
              <a:buFont typeface="Arial" panose="020B0604020202020204" pitchFamily="34" charset="0"/>
              <a:buChar char="•"/>
            </a:pPr>
            <a:r>
              <a:rPr lang="en-US" sz="1000"/>
              <a:t>Technician (TechnicianID PK, Name, City)</a:t>
            </a:r>
          </a:p>
          <a:p>
            <a:pPr indent="-228600" defTabSz="914400">
              <a:lnSpc>
                <a:spcPct val="90000"/>
              </a:lnSpc>
              <a:spcAft>
                <a:spcPts val="600"/>
              </a:spcAft>
              <a:buFont typeface="Arial" panose="020B0604020202020204" pitchFamily="34" charset="0"/>
              <a:buChar char="•"/>
            </a:pPr>
            <a:r>
              <a:rPr lang="en-US" sz="1000" b="1"/>
              <a:t>RELATIONSHIPS (One-to-Many):</a:t>
            </a:r>
            <a:endParaRPr lang="en-US" sz="1000"/>
          </a:p>
          <a:p>
            <a:pPr indent="-228600" defTabSz="914400">
              <a:lnSpc>
                <a:spcPct val="90000"/>
              </a:lnSpc>
              <a:spcAft>
                <a:spcPts val="600"/>
              </a:spcAft>
              <a:buFont typeface="Arial" panose="020B0604020202020204" pitchFamily="34" charset="0"/>
              <a:buChar char="•"/>
            </a:pPr>
            <a:r>
              <a:rPr lang="en-US" sz="1000"/>
              <a:t>Customer → Trips</a:t>
            </a:r>
          </a:p>
          <a:p>
            <a:pPr indent="-228600" defTabSz="914400">
              <a:lnSpc>
                <a:spcPct val="90000"/>
              </a:lnSpc>
              <a:spcAft>
                <a:spcPts val="600"/>
              </a:spcAft>
              <a:buFont typeface="Arial" panose="020B0604020202020204" pitchFamily="34" charset="0"/>
              <a:buChar char="•"/>
            </a:pPr>
            <a:r>
              <a:rPr lang="en-US" sz="1000"/>
              <a:t>Customer → Payments</a:t>
            </a:r>
          </a:p>
          <a:p>
            <a:pPr indent="-228600" defTabSz="914400">
              <a:lnSpc>
                <a:spcPct val="90000"/>
              </a:lnSpc>
              <a:spcAft>
                <a:spcPts val="600"/>
              </a:spcAft>
              <a:buFont typeface="Arial" panose="020B0604020202020204" pitchFamily="34" charset="0"/>
              <a:buChar char="•"/>
            </a:pPr>
            <a:r>
              <a:rPr lang="en-US" sz="1000"/>
              <a:t>Scooter → Trips</a:t>
            </a:r>
          </a:p>
          <a:p>
            <a:pPr indent="-228600" defTabSz="914400">
              <a:lnSpc>
                <a:spcPct val="90000"/>
              </a:lnSpc>
              <a:spcAft>
                <a:spcPts val="600"/>
              </a:spcAft>
              <a:buFont typeface="Arial" panose="020B0604020202020204" pitchFamily="34" charset="0"/>
              <a:buChar char="•"/>
            </a:pPr>
            <a:r>
              <a:rPr lang="en-US" sz="1000"/>
              <a:t>Scooter → Maintenance</a:t>
            </a:r>
          </a:p>
          <a:p>
            <a:pPr indent="-228600" defTabSz="914400">
              <a:lnSpc>
                <a:spcPct val="90000"/>
              </a:lnSpc>
              <a:spcAft>
                <a:spcPts val="600"/>
              </a:spcAft>
              <a:buFont typeface="Arial" panose="020B0604020202020204" pitchFamily="34" charset="0"/>
              <a:buChar char="•"/>
            </a:pPr>
            <a:r>
              <a:rPr lang="en-US" sz="1000"/>
              <a:t>Technician → Maintenance</a:t>
            </a:r>
          </a:p>
          <a:p>
            <a:pPr indent="-228600" defTabSz="914400">
              <a:lnSpc>
                <a:spcPct val="90000"/>
              </a:lnSpc>
              <a:spcAft>
                <a:spcPts val="600"/>
              </a:spcAft>
              <a:buFont typeface="Arial" panose="020B0604020202020204" pitchFamily="34" charset="0"/>
              <a:buChar char="•"/>
            </a:pPr>
            <a:endParaRPr lang="en-US" sz="1000"/>
          </a:p>
        </p:txBody>
      </p:sp>
      <p:pic>
        <p:nvPicPr>
          <p:cNvPr id="5" name="Content Placeholder 4">
            <a:extLst>
              <a:ext uri="{FF2B5EF4-FFF2-40B4-BE49-F238E27FC236}">
                <a16:creationId xmlns:a16="http://schemas.microsoft.com/office/drawing/2014/main" id="{B7294708-9192-BF87-0E3D-698F012736A6}"/>
              </a:ext>
            </a:extLst>
          </p:cNvPr>
          <p:cNvPicPr>
            <a:picLocks noGrp="1" noChangeAspect="1"/>
          </p:cNvPicPr>
          <p:nvPr>
            <p:ph idx="1"/>
          </p:nvPr>
        </p:nvPicPr>
        <p:blipFill>
          <a:blip r:embed="rId5"/>
          <a:stretch>
            <a:fillRect/>
          </a:stretch>
        </p:blipFill>
        <p:spPr>
          <a:xfrm>
            <a:off x="4773890" y="2044734"/>
            <a:ext cx="7042910" cy="3380597"/>
          </a:xfrm>
          <a:prstGeom prst="rect">
            <a:avLst/>
          </a:prstGeom>
          <a:ln>
            <a:noFill/>
          </a:ln>
          <a:effectLst>
            <a:outerShdw blurRad="76200" dist="63500" dir="5040000" algn="tl" rotWithShape="0">
              <a:srgbClr val="000000">
                <a:alpha val="41000"/>
              </a:srgbClr>
            </a:outerShdw>
          </a:effectLst>
        </p:spPr>
      </p:pic>
    </p:spTree>
    <p:extLst>
      <p:ext uri="{BB962C8B-B14F-4D97-AF65-F5344CB8AC3E}">
        <p14:creationId xmlns:p14="http://schemas.microsoft.com/office/powerpoint/2010/main" val="415698998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4ED8D0A-3D4D-BCD1-AC5A-C3F9019AA3D0}"/>
              </a:ext>
            </a:extLst>
          </p:cNvPr>
          <p:cNvSpPr>
            <a:spLocks noGrp="1"/>
          </p:cNvSpPr>
          <p:nvPr>
            <p:ph type="title"/>
          </p:nvPr>
        </p:nvSpPr>
        <p:spPr/>
        <p:txBody>
          <a:bodyPr>
            <a:normAutofit/>
          </a:bodyPr>
          <a:lstStyle/>
          <a:p>
            <a:r>
              <a:rPr lang="en-IN" b="1" dirty="0"/>
              <a:t>3.Database Implementation (</a:t>
            </a:r>
            <a:r>
              <a:rPr lang="en-IN" dirty="0"/>
              <a:t>MySQL Table Creation)</a:t>
            </a:r>
          </a:p>
        </p:txBody>
      </p:sp>
      <p:sp>
        <p:nvSpPr>
          <p:cNvPr id="3" name="Content Placeholder 2">
            <a:extLst>
              <a:ext uri="{FF2B5EF4-FFF2-40B4-BE49-F238E27FC236}">
                <a16:creationId xmlns:a16="http://schemas.microsoft.com/office/drawing/2014/main" id="{15358D7B-B62E-8176-B907-5A4044119F42}"/>
              </a:ext>
            </a:extLst>
          </p:cNvPr>
          <p:cNvSpPr>
            <a:spLocks noGrp="1"/>
          </p:cNvSpPr>
          <p:nvPr>
            <p:ph idx="1"/>
          </p:nvPr>
        </p:nvSpPr>
        <p:spPr>
          <a:xfrm>
            <a:off x="1683621" y="5910603"/>
            <a:ext cx="9613861" cy="388338"/>
          </a:xfrm>
        </p:spPr>
        <p:txBody>
          <a:bodyPr>
            <a:normAutofit lnSpcReduction="10000"/>
          </a:bodyPr>
          <a:lstStyle/>
          <a:p>
            <a:pPr marL="0" indent="0" algn="ctr">
              <a:buNone/>
            </a:pPr>
            <a:r>
              <a:rPr lang="en-US" dirty="0"/>
              <a:t>Firstly Create </a:t>
            </a:r>
            <a:r>
              <a:rPr lang="en-IN" dirty="0"/>
              <a:t>Customers, Scooters, Staff Table</a:t>
            </a:r>
          </a:p>
        </p:txBody>
      </p:sp>
      <p:pic>
        <p:nvPicPr>
          <p:cNvPr id="9" name="Picture 8">
            <a:extLst>
              <a:ext uri="{FF2B5EF4-FFF2-40B4-BE49-F238E27FC236}">
                <a16:creationId xmlns:a16="http://schemas.microsoft.com/office/drawing/2014/main" id="{2347B7BE-DAC6-6BE8-02F4-FDBAA5607A73}"/>
              </a:ext>
            </a:extLst>
          </p:cNvPr>
          <p:cNvPicPr>
            <a:picLocks noChangeAspect="1"/>
          </p:cNvPicPr>
          <p:nvPr/>
        </p:nvPicPr>
        <p:blipFill>
          <a:blip r:embed="rId3"/>
          <a:stretch>
            <a:fillRect/>
          </a:stretch>
        </p:blipFill>
        <p:spPr>
          <a:xfrm>
            <a:off x="111211" y="2394908"/>
            <a:ext cx="6009173" cy="3004587"/>
          </a:xfrm>
          <a:prstGeom prst="rect">
            <a:avLst/>
          </a:prstGeom>
        </p:spPr>
      </p:pic>
      <p:pic>
        <p:nvPicPr>
          <p:cNvPr id="11" name="Picture 10">
            <a:extLst>
              <a:ext uri="{FF2B5EF4-FFF2-40B4-BE49-F238E27FC236}">
                <a16:creationId xmlns:a16="http://schemas.microsoft.com/office/drawing/2014/main" id="{55C59007-71EE-366F-8733-F2F2D951A199}"/>
              </a:ext>
            </a:extLst>
          </p:cNvPr>
          <p:cNvPicPr>
            <a:picLocks noChangeAspect="1"/>
          </p:cNvPicPr>
          <p:nvPr/>
        </p:nvPicPr>
        <p:blipFill>
          <a:blip r:embed="rId4"/>
          <a:stretch>
            <a:fillRect/>
          </a:stretch>
        </p:blipFill>
        <p:spPr>
          <a:xfrm>
            <a:off x="6333430" y="2394908"/>
            <a:ext cx="5747359" cy="2884228"/>
          </a:xfrm>
          <a:prstGeom prst="rect">
            <a:avLst/>
          </a:prstGeom>
        </p:spPr>
      </p:pic>
    </p:spTree>
    <p:extLst>
      <p:ext uri="{BB962C8B-B14F-4D97-AF65-F5344CB8AC3E}">
        <p14:creationId xmlns:p14="http://schemas.microsoft.com/office/powerpoint/2010/main" val="111822988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C4F0A4E-3903-C572-2386-ADCE897C207B}"/>
              </a:ext>
            </a:extLst>
          </p:cNvPr>
          <p:cNvSpPr>
            <a:spLocks noGrp="1"/>
          </p:cNvSpPr>
          <p:nvPr>
            <p:ph type="title"/>
          </p:nvPr>
        </p:nvSpPr>
        <p:spPr/>
        <p:txBody>
          <a:bodyPr/>
          <a:lstStyle/>
          <a:p>
            <a:r>
              <a:rPr lang="en-IN" b="1" dirty="0"/>
              <a:t>Database Implementation (</a:t>
            </a:r>
            <a:r>
              <a:rPr lang="en-IN" dirty="0"/>
              <a:t>MySQL Table Creation)</a:t>
            </a:r>
          </a:p>
        </p:txBody>
      </p:sp>
      <p:sp>
        <p:nvSpPr>
          <p:cNvPr id="3" name="Content Placeholder 2">
            <a:extLst>
              <a:ext uri="{FF2B5EF4-FFF2-40B4-BE49-F238E27FC236}">
                <a16:creationId xmlns:a16="http://schemas.microsoft.com/office/drawing/2014/main" id="{924E64F1-2C40-4F49-791D-F357804B4577}"/>
              </a:ext>
            </a:extLst>
          </p:cNvPr>
          <p:cNvSpPr>
            <a:spLocks noGrp="1"/>
          </p:cNvSpPr>
          <p:nvPr>
            <p:ph idx="1"/>
          </p:nvPr>
        </p:nvSpPr>
        <p:spPr>
          <a:xfrm>
            <a:off x="1937621" y="5783603"/>
            <a:ext cx="9613861" cy="642338"/>
          </a:xfrm>
        </p:spPr>
        <p:txBody>
          <a:bodyPr/>
          <a:lstStyle/>
          <a:p>
            <a:r>
              <a:rPr lang="en-US" dirty="0"/>
              <a:t>Second Create </a:t>
            </a:r>
            <a:r>
              <a:rPr lang="en-IN" dirty="0"/>
              <a:t>Trips, Payments, Maintenance</a:t>
            </a:r>
          </a:p>
        </p:txBody>
      </p:sp>
      <p:pic>
        <p:nvPicPr>
          <p:cNvPr id="6" name="Picture 5">
            <a:extLst>
              <a:ext uri="{FF2B5EF4-FFF2-40B4-BE49-F238E27FC236}">
                <a16:creationId xmlns:a16="http://schemas.microsoft.com/office/drawing/2014/main" id="{80E6F6ED-50DC-233C-B8A2-509F63141E13}"/>
              </a:ext>
            </a:extLst>
          </p:cNvPr>
          <p:cNvPicPr>
            <a:picLocks noChangeAspect="1"/>
          </p:cNvPicPr>
          <p:nvPr/>
        </p:nvPicPr>
        <p:blipFill>
          <a:blip r:embed="rId3"/>
          <a:stretch>
            <a:fillRect/>
          </a:stretch>
        </p:blipFill>
        <p:spPr>
          <a:xfrm>
            <a:off x="40577" y="2250091"/>
            <a:ext cx="5960364" cy="2987956"/>
          </a:xfrm>
          <a:prstGeom prst="rect">
            <a:avLst/>
          </a:prstGeom>
        </p:spPr>
      </p:pic>
      <p:pic>
        <p:nvPicPr>
          <p:cNvPr id="9" name="Picture 8">
            <a:extLst>
              <a:ext uri="{FF2B5EF4-FFF2-40B4-BE49-F238E27FC236}">
                <a16:creationId xmlns:a16="http://schemas.microsoft.com/office/drawing/2014/main" id="{F88A9D56-C0ED-555A-9279-9CD720EDDD60}"/>
              </a:ext>
            </a:extLst>
          </p:cNvPr>
          <p:cNvPicPr>
            <a:picLocks noChangeAspect="1"/>
          </p:cNvPicPr>
          <p:nvPr/>
        </p:nvPicPr>
        <p:blipFill>
          <a:blip r:embed="rId4"/>
          <a:stretch>
            <a:fillRect/>
          </a:stretch>
        </p:blipFill>
        <p:spPr>
          <a:xfrm>
            <a:off x="6096000" y="2250091"/>
            <a:ext cx="6000940" cy="2987956"/>
          </a:xfrm>
          <a:prstGeom prst="rect">
            <a:avLst/>
          </a:prstGeom>
        </p:spPr>
      </p:pic>
    </p:spTree>
    <p:extLst>
      <p:ext uri="{BB962C8B-B14F-4D97-AF65-F5344CB8AC3E}">
        <p14:creationId xmlns:p14="http://schemas.microsoft.com/office/powerpoint/2010/main" val="185379587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0F8DF78-3686-2871-74E8-FACA0B8A9453}"/>
              </a:ext>
            </a:extLst>
          </p:cNvPr>
          <p:cNvSpPr>
            <a:spLocks noGrp="1"/>
          </p:cNvSpPr>
          <p:nvPr>
            <p:ph type="title"/>
          </p:nvPr>
        </p:nvSpPr>
        <p:spPr/>
        <p:txBody>
          <a:bodyPr/>
          <a:lstStyle/>
          <a:p>
            <a:r>
              <a:rPr lang="en-IN"/>
              <a:t>Sample Data Inserts (Customers, Scooters,Staff)</a:t>
            </a:r>
            <a:endParaRPr lang="en-IN" dirty="0"/>
          </a:p>
        </p:txBody>
      </p:sp>
      <p:pic>
        <p:nvPicPr>
          <p:cNvPr id="4" name="Picture 3">
            <a:extLst>
              <a:ext uri="{FF2B5EF4-FFF2-40B4-BE49-F238E27FC236}">
                <a16:creationId xmlns:a16="http://schemas.microsoft.com/office/drawing/2014/main" id="{31DDD82D-EDD2-5778-9FD6-C40CDB9A45A5}"/>
              </a:ext>
            </a:extLst>
          </p:cNvPr>
          <p:cNvPicPr>
            <a:picLocks noChangeAspect="1"/>
          </p:cNvPicPr>
          <p:nvPr/>
        </p:nvPicPr>
        <p:blipFill>
          <a:blip r:embed="rId3"/>
          <a:stretch>
            <a:fillRect/>
          </a:stretch>
        </p:blipFill>
        <p:spPr>
          <a:xfrm>
            <a:off x="89971" y="2120982"/>
            <a:ext cx="5195199" cy="2417324"/>
          </a:xfrm>
          <a:prstGeom prst="rect">
            <a:avLst/>
          </a:prstGeom>
        </p:spPr>
      </p:pic>
      <p:pic>
        <p:nvPicPr>
          <p:cNvPr id="10" name="Picture 9">
            <a:extLst>
              <a:ext uri="{FF2B5EF4-FFF2-40B4-BE49-F238E27FC236}">
                <a16:creationId xmlns:a16="http://schemas.microsoft.com/office/drawing/2014/main" id="{176ACC97-7E16-D4CA-F828-61CAC632C314}"/>
              </a:ext>
            </a:extLst>
          </p:cNvPr>
          <p:cNvPicPr>
            <a:picLocks noChangeAspect="1"/>
          </p:cNvPicPr>
          <p:nvPr/>
        </p:nvPicPr>
        <p:blipFill>
          <a:blip r:embed="rId4"/>
          <a:stretch>
            <a:fillRect/>
          </a:stretch>
        </p:blipFill>
        <p:spPr>
          <a:xfrm>
            <a:off x="7191632" y="2018832"/>
            <a:ext cx="4811543" cy="2400754"/>
          </a:xfrm>
          <a:prstGeom prst="rect">
            <a:avLst/>
          </a:prstGeom>
        </p:spPr>
      </p:pic>
      <p:pic>
        <p:nvPicPr>
          <p:cNvPr id="12" name="Picture 11">
            <a:extLst>
              <a:ext uri="{FF2B5EF4-FFF2-40B4-BE49-F238E27FC236}">
                <a16:creationId xmlns:a16="http://schemas.microsoft.com/office/drawing/2014/main" id="{30FA1558-E2D4-43D8-3A1E-8F14E6830E6A}"/>
              </a:ext>
            </a:extLst>
          </p:cNvPr>
          <p:cNvPicPr>
            <a:picLocks noChangeAspect="1"/>
          </p:cNvPicPr>
          <p:nvPr/>
        </p:nvPicPr>
        <p:blipFill>
          <a:blip r:embed="rId5"/>
          <a:stretch>
            <a:fillRect/>
          </a:stretch>
        </p:blipFill>
        <p:spPr>
          <a:xfrm>
            <a:off x="4349111" y="4604252"/>
            <a:ext cx="4288262" cy="2144132"/>
          </a:xfrm>
          <a:prstGeom prst="rect">
            <a:avLst/>
          </a:prstGeom>
        </p:spPr>
      </p:pic>
    </p:spTree>
    <p:extLst>
      <p:ext uri="{BB962C8B-B14F-4D97-AF65-F5344CB8AC3E}">
        <p14:creationId xmlns:p14="http://schemas.microsoft.com/office/powerpoint/2010/main" val="5781250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310F32F-0297-03DC-5816-7F2BF37D8AE2}"/>
              </a:ext>
            </a:extLst>
          </p:cNvPr>
          <p:cNvSpPr>
            <a:spLocks noGrp="1"/>
          </p:cNvSpPr>
          <p:nvPr>
            <p:ph type="title"/>
          </p:nvPr>
        </p:nvSpPr>
        <p:spPr/>
        <p:txBody>
          <a:bodyPr/>
          <a:lstStyle/>
          <a:p>
            <a:r>
              <a:rPr lang="en-IN" dirty="0"/>
              <a:t>Sample Data Inserts (Trips, Payments, Maintenance)</a:t>
            </a:r>
          </a:p>
        </p:txBody>
      </p:sp>
      <p:pic>
        <p:nvPicPr>
          <p:cNvPr id="4" name="Picture 3">
            <a:extLst>
              <a:ext uri="{FF2B5EF4-FFF2-40B4-BE49-F238E27FC236}">
                <a16:creationId xmlns:a16="http://schemas.microsoft.com/office/drawing/2014/main" id="{EC27897C-6124-1946-1527-F2B2767DE728}"/>
              </a:ext>
            </a:extLst>
          </p:cNvPr>
          <p:cNvPicPr>
            <a:picLocks noChangeAspect="1"/>
          </p:cNvPicPr>
          <p:nvPr/>
        </p:nvPicPr>
        <p:blipFill>
          <a:blip r:embed="rId3"/>
          <a:stretch>
            <a:fillRect/>
          </a:stretch>
        </p:blipFill>
        <p:spPr>
          <a:xfrm>
            <a:off x="131703" y="2141959"/>
            <a:ext cx="5076690" cy="2554226"/>
          </a:xfrm>
          <a:prstGeom prst="rect">
            <a:avLst/>
          </a:prstGeom>
        </p:spPr>
      </p:pic>
      <p:pic>
        <p:nvPicPr>
          <p:cNvPr id="8" name="Picture 7">
            <a:extLst>
              <a:ext uri="{FF2B5EF4-FFF2-40B4-BE49-F238E27FC236}">
                <a16:creationId xmlns:a16="http://schemas.microsoft.com/office/drawing/2014/main" id="{1AB48F49-8EED-16E7-6696-6D77D538C775}"/>
              </a:ext>
            </a:extLst>
          </p:cNvPr>
          <p:cNvPicPr>
            <a:picLocks noChangeAspect="1"/>
          </p:cNvPicPr>
          <p:nvPr/>
        </p:nvPicPr>
        <p:blipFill>
          <a:blip r:embed="rId4"/>
          <a:stretch>
            <a:fillRect/>
          </a:stretch>
        </p:blipFill>
        <p:spPr>
          <a:xfrm>
            <a:off x="6837303" y="2151887"/>
            <a:ext cx="5076690" cy="2534371"/>
          </a:xfrm>
          <a:prstGeom prst="rect">
            <a:avLst/>
          </a:prstGeom>
        </p:spPr>
      </p:pic>
      <p:pic>
        <p:nvPicPr>
          <p:cNvPr id="12" name="Picture 11">
            <a:extLst>
              <a:ext uri="{FF2B5EF4-FFF2-40B4-BE49-F238E27FC236}">
                <a16:creationId xmlns:a16="http://schemas.microsoft.com/office/drawing/2014/main" id="{9E399824-8D1A-2D1D-96DB-BEA01ADA951F}"/>
              </a:ext>
            </a:extLst>
          </p:cNvPr>
          <p:cNvPicPr>
            <a:picLocks noChangeAspect="1"/>
          </p:cNvPicPr>
          <p:nvPr/>
        </p:nvPicPr>
        <p:blipFill>
          <a:blip r:embed="rId5"/>
          <a:stretch>
            <a:fillRect/>
          </a:stretch>
        </p:blipFill>
        <p:spPr>
          <a:xfrm>
            <a:off x="3970310" y="4761675"/>
            <a:ext cx="4251380" cy="2112348"/>
          </a:xfrm>
          <a:prstGeom prst="rect">
            <a:avLst/>
          </a:prstGeom>
        </p:spPr>
      </p:pic>
    </p:spTree>
    <p:extLst>
      <p:ext uri="{BB962C8B-B14F-4D97-AF65-F5344CB8AC3E}">
        <p14:creationId xmlns:p14="http://schemas.microsoft.com/office/powerpoint/2010/main" val="217325340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gradFill rotWithShape="1">
          <a:gsLst>
            <a:gs pos="0">
              <a:schemeClr val="bg2">
                <a:tint val="96000"/>
                <a:shade val="100000"/>
                <a:hueMod val="92000"/>
                <a:satMod val="200000"/>
                <a:lumMod val="128000"/>
              </a:schemeClr>
            </a:gs>
            <a:gs pos="50000">
              <a:schemeClr val="bg2">
                <a:shade val="100000"/>
                <a:hueMod val="100000"/>
                <a:satMod val="110000"/>
                <a:lumMod val="130000"/>
              </a:schemeClr>
            </a:gs>
            <a:gs pos="100000">
              <a:schemeClr val="bg2">
                <a:shade val="78000"/>
                <a:hueMod val="118000"/>
                <a:satMod val="120000"/>
                <a:lumMod val="69000"/>
              </a:schemeClr>
            </a:gs>
          </a:gsLst>
          <a:lin ang="2520000" scaled="0"/>
        </a:gradFill>
        <a:effectLst/>
      </p:bgPr>
    </p:bg>
    <p:spTree>
      <p:nvGrpSpPr>
        <p:cNvPr id="1" name=""/>
        <p:cNvGrpSpPr/>
        <p:nvPr/>
      </p:nvGrpSpPr>
      <p:grpSpPr>
        <a:xfrm>
          <a:off x="0" y="0"/>
          <a:ext cx="0" cy="0"/>
          <a:chOff x="0" y="0"/>
          <a:chExt cx="0" cy="0"/>
        </a:xfrm>
      </p:grpSpPr>
      <p:sp useBgFill="1">
        <p:nvSpPr>
          <p:cNvPr id="13" name="Rectangle 12">
            <a:extLst>
              <a:ext uri="{FF2B5EF4-FFF2-40B4-BE49-F238E27FC236}">
                <a16:creationId xmlns:a16="http://schemas.microsoft.com/office/drawing/2014/main" id="{8DCA3673-CDE4-40C5-9FA8-F89874CFBA7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
            <a:ext cx="12188824" cy="6858001"/>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5" name="Picture 14">
            <a:extLst>
              <a:ext uri="{FF2B5EF4-FFF2-40B4-BE49-F238E27FC236}">
                <a16:creationId xmlns:a16="http://schemas.microsoft.com/office/drawing/2014/main" id="{95756E8F-499C-4533-BBE8-309C3E8D985C}"/>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a:blip r:embed="rId3">
            <a:alphaModFix amt="10000"/>
            <a:extLst>
              <a:ext uri="{28A0092B-C50C-407E-A947-70E740481C1C}">
                <a14:useLocalDpi xmlns:a14="http://schemas.microsoft.com/office/drawing/2010/main" val="0"/>
              </a:ext>
            </a:extLst>
          </a:blip>
          <a:stretch>
            <a:fillRect/>
          </a:stretch>
        </p:blipFill>
        <p:spPr>
          <a:xfrm>
            <a:off x="-3176" y="0"/>
            <a:ext cx="12192000" cy="6858000"/>
          </a:xfrm>
          <a:prstGeom prst="rect">
            <a:avLst/>
          </a:prstGeom>
        </p:spPr>
      </p:pic>
      <p:sp>
        <p:nvSpPr>
          <p:cNvPr id="17" name="Rectangle 16">
            <a:extLst>
              <a:ext uri="{FF2B5EF4-FFF2-40B4-BE49-F238E27FC236}">
                <a16:creationId xmlns:a16="http://schemas.microsoft.com/office/drawing/2014/main" id="{0FFFD040-32A9-4D2B-86CA-599D030A416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639056" y="0"/>
            <a:ext cx="7552944" cy="6858001"/>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Rectangle 18">
            <a:extLst>
              <a:ext uri="{FF2B5EF4-FFF2-40B4-BE49-F238E27FC236}">
                <a16:creationId xmlns:a16="http://schemas.microsoft.com/office/drawing/2014/main" id="{863205CA-B7FF-4C25-A4C8-3BBBCE19D95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grayWhite">
          <a:xfrm>
            <a:off x="2" y="609600"/>
            <a:ext cx="4959094" cy="1368198"/>
          </a:xfrm>
          <a:prstGeom prst="rect">
            <a:avLst/>
          </a:prstGeom>
          <a:solidFill>
            <a:schemeClr val="bg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IN"/>
          </a:p>
        </p:txBody>
      </p:sp>
      <p:sp>
        <p:nvSpPr>
          <p:cNvPr id="2" name="Title 1">
            <a:extLst>
              <a:ext uri="{FF2B5EF4-FFF2-40B4-BE49-F238E27FC236}">
                <a16:creationId xmlns:a16="http://schemas.microsoft.com/office/drawing/2014/main" id="{A99F945B-6CC9-E2C6-138C-71EE9FE3DEFB}"/>
              </a:ext>
            </a:extLst>
          </p:cNvPr>
          <p:cNvSpPr>
            <a:spLocks noGrp="1"/>
          </p:cNvSpPr>
          <p:nvPr>
            <p:ph type="title"/>
          </p:nvPr>
        </p:nvSpPr>
        <p:spPr>
          <a:xfrm>
            <a:off x="680321" y="753228"/>
            <a:ext cx="4136123" cy="1080938"/>
          </a:xfrm>
        </p:spPr>
        <p:txBody>
          <a:bodyPr vert="horz" lIns="91440" tIns="45720" rIns="91440" bIns="45720" rtlCol="0" anchor="ctr">
            <a:normAutofit/>
          </a:bodyPr>
          <a:lstStyle/>
          <a:p>
            <a:r>
              <a:rPr lang="en-US" sz="2400"/>
              <a:t>1: Business Query (Highest Trip Volume by City)</a:t>
            </a:r>
          </a:p>
        </p:txBody>
      </p:sp>
      <p:pic>
        <p:nvPicPr>
          <p:cNvPr id="21" name="Picture 20">
            <a:extLst>
              <a:ext uri="{FF2B5EF4-FFF2-40B4-BE49-F238E27FC236}">
                <a16:creationId xmlns:a16="http://schemas.microsoft.com/office/drawing/2014/main" id="{306E3F32-3C1A-4B6E-AF26-8A15A788560F}"/>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a:blip r:embed="rId4">
            <a:extLst>
              <a:ext uri="{28A0092B-C50C-407E-A947-70E740481C1C}">
                <a14:useLocalDpi xmlns:a14="http://schemas.microsoft.com/office/drawing/2010/main" val="0"/>
              </a:ext>
            </a:extLst>
          </a:blip>
          <a:stretch>
            <a:fillRect/>
          </a:stretch>
        </p:blipFill>
        <p:spPr>
          <a:xfrm>
            <a:off x="2" y="1970241"/>
            <a:ext cx="4956048" cy="199787"/>
          </a:xfrm>
          <a:prstGeom prst="rect">
            <a:avLst/>
          </a:prstGeom>
        </p:spPr>
      </p:pic>
      <p:sp>
        <p:nvSpPr>
          <p:cNvPr id="8" name="TextBox 7">
            <a:extLst>
              <a:ext uri="{FF2B5EF4-FFF2-40B4-BE49-F238E27FC236}">
                <a16:creationId xmlns:a16="http://schemas.microsoft.com/office/drawing/2014/main" id="{86A2D3EA-9745-7EF0-20A4-BDEE5A9FB7BA}"/>
              </a:ext>
            </a:extLst>
          </p:cNvPr>
          <p:cNvSpPr txBox="1"/>
          <p:nvPr/>
        </p:nvSpPr>
        <p:spPr>
          <a:xfrm>
            <a:off x="680321" y="2336873"/>
            <a:ext cx="3656289" cy="3599316"/>
          </a:xfrm>
          <a:prstGeom prst="rect">
            <a:avLst/>
          </a:prstGeom>
        </p:spPr>
        <p:txBody>
          <a:bodyPr vert="horz" lIns="91440" tIns="45720" rIns="91440" bIns="45720" rtlCol="0">
            <a:normAutofit/>
          </a:bodyPr>
          <a:lstStyle/>
          <a:p>
            <a:pPr indent="-228600" defTabSz="914400">
              <a:lnSpc>
                <a:spcPct val="90000"/>
              </a:lnSpc>
              <a:spcAft>
                <a:spcPts val="600"/>
              </a:spcAft>
              <a:buFont typeface="Arial" panose="020B0604020202020204" pitchFamily="34" charset="0"/>
              <a:buChar char="•"/>
            </a:pPr>
            <a:r>
              <a:rPr lang="en-US" sz="1400"/>
              <a:t>London and Cardiff are fixed with 3 trips each.</a:t>
            </a:r>
          </a:p>
          <a:p>
            <a:pPr indent="-228600" defTabSz="914400">
              <a:lnSpc>
                <a:spcPct val="90000"/>
              </a:lnSpc>
              <a:spcAft>
                <a:spcPts val="600"/>
              </a:spcAft>
              <a:buFont typeface="Arial" panose="020B0604020202020204" pitchFamily="34" charset="0"/>
              <a:buChar char="•"/>
            </a:pPr>
            <a:r>
              <a:rPr lang="en-US" sz="1400"/>
              <a:t>Leeds and Edinburgh each have 2 trips.</a:t>
            </a:r>
          </a:p>
          <a:p>
            <a:pPr indent="-228600" defTabSz="914400">
              <a:lnSpc>
                <a:spcPct val="90000"/>
              </a:lnSpc>
              <a:spcAft>
                <a:spcPts val="600"/>
              </a:spcAft>
              <a:buFont typeface="Arial" panose="020B0604020202020204" pitchFamily="34" charset="0"/>
              <a:buChar char="•"/>
            </a:pPr>
            <a:r>
              <a:rPr lang="en-US" sz="1400"/>
              <a:t>Cities are filter from highest to lowest number of trips.</a:t>
            </a:r>
          </a:p>
          <a:p>
            <a:pPr indent="-228600" defTabSz="914400">
              <a:lnSpc>
                <a:spcPct val="90000"/>
              </a:lnSpc>
              <a:spcAft>
                <a:spcPts val="600"/>
              </a:spcAft>
              <a:buFont typeface="Arial" panose="020B0604020202020204" pitchFamily="34" charset="0"/>
              <a:buChar char="•"/>
            </a:pPr>
            <a:endParaRPr lang="en-US" sz="1400"/>
          </a:p>
        </p:txBody>
      </p:sp>
      <p:pic>
        <p:nvPicPr>
          <p:cNvPr id="4" name="Picture 3">
            <a:extLst>
              <a:ext uri="{FF2B5EF4-FFF2-40B4-BE49-F238E27FC236}">
                <a16:creationId xmlns:a16="http://schemas.microsoft.com/office/drawing/2014/main" id="{FD6A9DB1-9006-5F45-B48E-99F2011B0FD9}"/>
              </a:ext>
            </a:extLst>
          </p:cNvPr>
          <p:cNvPicPr>
            <a:picLocks noChangeAspect="1"/>
          </p:cNvPicPr>
          <p:nvPr/>
        </p:nvPicPr>
        <p:blipFill>
          <a:blip r:embed="rId5"/>
          <a:stretch>
            <a:fillRect/>
          </a:stretch>
        </p:blipFill>
        <p:spPr>
          <a:xfrm>
            <a:off x="4843700" y="2113873"/>
            <a:ext cx="7143656" cy="3553970"/>
          </a:xfrm>
          <a:prstGeom prst="rect">
            <a:avLst/>
          </a:prstGeom>
          <a:ln>
            <a:noFill/>
          </a:ln>
          <a:effectLst>
            <a:outerShdw blurRad="76200" dist="63500" dir="5040000" algn="tl" rotWithShape="0">
              <a:srgbClr val="000000">
                <a:alpha val="41000"/>
              </a:srgbClr>
            </a:outerShdw>
          </a:effectLst>
        </p:spPr>
      </p:pic>
    </p:spTree>
    <p:extLst>
      <p:ext uri="{BB962C8B-B14F-4D97-AF65-F5344CB8AC3E}">
        <p14:creationId xmlns:p14="http://schemas.microsoft.com/office/powerpoint/2010/main" val="3296197196"/>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39008DA-8F5B-7007-DF15-5AA791D3DB3E}"/>
              </a:ext>
            </a:extLst>
          </p:cNvPr>
          <p:cNvSpPr>
            <a:spLocks noGrp="1"/>
          </p:cNvSpPr>
          <p:nvPr>
            <p:ph type="title"/>
          </p:nvPr>
        </p:nvSpPr>
        <p:spPr/>
        <p:txBody>
          <a:bodyPr>
            <a:noAutofit/>
          </a:bodyPr>
          <a:lstStyle/>
          <a:p>
            <a:pPr algn="just"/>
            <a:r>
              <a:rPr lang="en-US" sz="2800" dirty="0"/>
              <a:t>2: Business Query(Average Trip Duration by Membership and </a:t>
            </a:r>
            <a:r>
              <a:rPr lang="en-IN" sz="2800" dirty="0"/>
              <a:t>Maintenance Jobs per Technician)</a:t>
            </a:r>
          </a:p>
        </p:txBody>
      </p:sp>
      <p:sp>
        <p:nvSpPr>
          <p:cNvPr id="9" name="TextBox 8">
            <a:extLst>
              <a:ext uri="{FF2B5EF4-FFF2-40B4-BE49-F238E27FC236}">
                <a16:creationId xmlns:a16="http://schemas.microsoft.com/office/drawing/2014/main" id="{2679C1D2-4EE5-8807-471A-C8D642A43946}"/>
              </a:ext>
            </a:extLst>
          </p:cNvPr>
          <p:cNvSpPr txBox="1"/>
          <p:nvPr/>
        </p:nvSpPr>
        <p:spPr>
          <a:xfrm>
            <a:off x="0" y="5643107"/>
            <a:ext cx="12192000" cy="923330"/>
          </a:xfrm>
          <a:prstGeom prst="rect">
            <a:avLst/>
          </a:prstGeom>
          <a:noFill/>
        </p:spPr>
        <p:txBody>
          <a:bodyPr wrap="square" rtlCol="0">
            <a:spAutoFit/>
          </a:bodyPr>
          <a:lstStyle/>
          <a:p>
            <a:r>
              <a:rPr lang="en-IN" dirty="0">
                <a:latin typeface="Times New Roman" panose="02020603050405020304" pitchFamily="18" charset="0"/>
                <a:cs typeface="Times New Roman" panose="02020603050405020304" pitchFamily="18" charset="0"/>
              </a:rPr>
              <a:t>In this slide </a:t>
            </a:r>
            <a:r>
              <a:rPr lang="en-US" dirty="0">
                <a:latin typeface="Times New Roman" panose="02020603050405020304" pitchFamily="18" charset="0"/>
                <a:cs typeface="Times New Roman" panose="02020603050405020304" pitchFamily="18" charset="0"/>
              </a:rPr>
              <a:t>Gold members have the shortest mean trip period (13.75 minutes); Standard members have the mean trip period of 15.75 minutes; Basics have the mean trip period of 20 minutes. Marcus Thor and Titan Williams had the highest number of maintenance jobs done, three each, with Alice Hender coming second at two and all the other members doing none.</a:t>
            </a:r>
            <a:r>
              <a:rPr lang="en-IN" dirty="0">
                <a:latin typeface="Times New Roman" panose="02020603050405020304" pitchFamily="18" charset="0"/>
                <a:cs typeface="Times New Roman" panose="02020603050405020304" pitchFamily="18" charset="0"/>
              </a:rPr>
              <a:t>.</a:t>
            </a:r>
          </a:p>
        </p:txBody>
      </p:sp>
      <p:pic>
        <p:nvPicPr>
          <p:cNvPr id="4" name="Picture 3">
            <a:extLst>
              <a:ext uri="{FF2B5EF4-FFF2-40B4-BE49-F238E27FC236}">
                <a16:creationId xmlns:a16="http://schemas.microsoft.com/office/drawing/2014/main" id="{39B824D6-41A2-A975-EFCA-A1A5CD2B279E}"/>
              </a:ext>
            </a:extLst>
          </p:cNvPr>
          <p:cNvPicPr>
            <a:picLocks noChangeAspect="1"/>
          </p:cNvPicPr>
          <p:nvPr/>
        </p:nvPicPr>
        <p:blipFill>
          <a:blip r:embed="rId3"/>
          <a:stretch>
            <a:fillRect/>
          </a:stretch>
        </p:blipFill>
        <p:spPr>
          <a:xfrm>
            <a:off x="101996" y="2301551"/>
            <a:ext cx="5816204" cy="2883844"/>
          </a:xfrm>
          <a:prstGeom prst="rect">
            <a:avLst/>
          </a:prstGeom>
        </p:spPr>
      </p:pic>
      <p:pic>
        <p:nvPicPr>
          <p:cNvPr id="12" name="Picture 11">
            <a:extLst>
              <a:ext uri="{FF2B5EF4-FFF2-40B4-BE49-F238E27FC236}">
                <a16:creationId xmlns:a16="http://schemas.microsoft.com/office/drawing/2014/main" id="{C17F1692-7D5C-19D8-594F-2DF018E2E73C}"/>
              </a:ext>
            </a:extLst>
          </p:cNvPr>
          <p:cNvPicPr>
            <a:picLocks noChangeAspect="1"/>
          </p:cNvPicPr>
          <p:nvPr/>
        </p:nvPicPr>
        <p:blipFill>
          <a:blip r:embed="rId4"/>
          <a:stretch>
            <a:fillRect/>
          </a:stretch>
        </p:blipFill>
        <p:spPr>
          <a:xfrm>
            <a:off x="6096000" y="2301551"/>
            <a:ext cx="5994004" cy="2984500"/>
          </a:xfrm>
          <a:prstGeom prst="rect">
            <a:avLst/>
          </a:prstGeom>
        </p:spPr>
      </p:pic>
    </p:spTree>
    <p:extLst>
      <p:ext uri="{BB962C8B-B14F-4D97-AF65-F5344CB8AC3E}">
        <p14:creationId xmlns:p14="http://schemas.microsoft.com/office/powerpoint/2010/main" val="2582008560"/>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57FA80E-942C-2446-D1E6-4DEDBA0AB885}"/>
              </a:ext>
            </a:extLst>
          </p:cNvPr>
          <p:cNvSpPr>
            <a:spLocks noGrp="1"/>
          </p:cNvSpPr>
          <p:nvPr>
            <p:ph type="title"/>
          </p:nvPr>
        </p:nvSpPr>
        <p:spPr/>
        <p:txBody>
          <a:bodyPr>
            <a:normAutofit fontScale="90000"/>
          </a:bodyPr>
          <a:lstStyle/>
          <a:p>
            <a:r>
              <a:rPr lang="en-IN" dirty="0"/>
              <a:t>3.</a:t>
            </a:r>
            <a:r>
              <a:rPr lang="en-US" dirty="0"/>
              <a:t> 2: Business Query(Overdue Payment Customer And Most Regular Used Scooter Model</a:t>
            </a:r>
            <a:r>
              <a:rPr lang="en-IN" dirty="0"/>
              <a:t>)</a:t>
            </a:r>
          </a:p>
        </p:txBody>
      </p:sp>
      <p:sp>
        <p:nvSpPr>
          <p:cNvPr id="3" name="Content Placeholder 2">
            <a:extLst>
              <a:ext uri="{FF2B5EF4-FFF2-40B4-BE49-F238E27FC236}">
                <a16:creationId xmlns:a16="http://schemas.microsoft.com/office/drawing/2014/main" id="{7792A777-90E4-A96D-FFF4-6100E5244C21}"/>
              </a:ext>
            </a:extLst>
          </p:cNvPr>
          <p:cNvSpPr>
            <a:spLocks noGrp="1"/>
          </p:cNvSpPr>
          <p:nvPr>
            <p:ph idx="1"/>
          </p:nvPr>
        </p:nvSpPr>
        <p:spPr>
          <a:xfrm>
            <a:off x="944968" y="5941420"/>
            <a:ext cx="10302064" cy="907870"/>
          </a:xfrm>
        </p:spPr>
        <p:txBody>
          <a:bodyPr>
            <a:normAutofit lnSpcReduction="10000"/>
          </a:bodyPr>
          <a:lstStyle/>
          <a:p>
            <a:r>
              <a:rPr lang="en-IN" sz="2000" dirty="0">
                <a:latin typeface="Times New Roman" panose="02020603050405020304" pitchFamily="18" charset="0"/>
                <a:cs typeface="Times New Roman" panose="02020603050405020304" pitchFamily="18" charset="0"/>
              </a:rPr>
              <a:t>In this slide Overdue payment customer is Young Lee and Holly Ling Both have overdue payment is 4.20 and 2.10 pound. However, Most used model is X1 and apparat from that A2 and Z3 is most </a:t>
            </a:r>
            <a:r>
              <a:rPr lang="en-IN" sz="2000" dirty="0" err="1">
                <a:latin typeface="Times New Roman" panose="02020603050405020304" pitchFamily="18" charset="0"/>
                <a:cs typeface="Times New Roman" panose="02020603050405020304" pitchFamily="18" charset="0"/>
              </a:rPr>
              <a:t>usded</a:t>
            </a:r>
            <a:r>
              <a:rPr lang="en-IN" sz="2000" dirty="0">
                <a:latin typeface="Times New Roman" panose="02020603050405020304" pitchFamily="18" charset="0"/>
                <a:cs typeface="Times New Roman" panose="02020603050405020304" pitchFamily="18" charset="0"/>
              </a:rPr>
              <a:t> model of </a:t>
            </a:r>
            <a:r>
              <a:rPr lang="en-US" sz="2000" dirty="0">
                <a:latin typeface="Times New Roman" panose="02020603050405020304" pitchFamily="18" charset="0"/>
                <a:cs typeface="Times New Roman" panose="02020603050405020304" pitchFamily="18" charset="0"/>
              </a:rPr>
              <a:t>SwiftWheel.</a:t>
            </a:r>
            <a:endParaRPr lang="en-IN" sz="2000" dirty="0">
              <a:latin typeface="Times New Roman" panose="02020603050405020304" pitchFamily="18" charset="0"/>
              <a:cs typeface="Times New Roman" panose="02020603050405020304" pitchFamily="18" charset="0"/>
            </a:endParaRPr>
          </a:p>
        </p:txBody>
      </p:sp>
      <p:pic>
        <p:nvPicPr>
          <p:cNvPr id="6" name="Picture 5">
            <a:extLst>
              <a:ext uri="{FF2B5EF4-FFF2-40B4-BE49-F238E27FC236}">
                <a16:creationId xmlns:a16="http://schemas.microsoft.com/office/drawing/2014/main" id="{DBC6100F-BD7B-3BD0-0BB3-E796D4211CBA}"/>
              </a:ext>
            </a:extLst>
          </p:cNvPr>
          <p:cNvPicPr>
            <a:picLocks noChangeAspect="1"/>
          </p:cNvPicPr>
          <p:nvPr/>
        </p:nvPicPr>
        <p:blipFill>
          <a:blip r:embed="rId3"/>
          <a:stretch>
            <a:fillRect/>
          </a:stretch>
        </p:blipFill>
        <p:spPr>
          <a:xfrm>
            <a:off x="139986" y="2155133"/>
            <a:ext cx="5785666" cy="2868702"/>
          </a:xfrm>
          <a:prstGeom prst="rect">
            <a:avLst/>
          </a:prstGeom>
        </p:spPr>
      </p:pic>
      <p:pic>
        <p:nvPicPr>
          <p:cNvPr id="9" name="Picture 8">
            <a:extLst>
              <a:ext uri="{FF2B5EF4-FFF2-40B4-BE49-F238E27FC236}">
                <a16:creationId xmlns:a16="http://schemas.microsoft.com/office/drawing/2014/main" id="{29E3E3F0-726A-D8F4-31E7-E01E804D1320}"/>
              </a:ext>
            </a:extLst>
          </p:cNvPr>
          <p:cNvPicPr>
            <a:picLocks noChangeAspect="1"/>
          </p:cNvPicPr>
          <p:nvPr/>
        </p:nvPicPr>
        <p:blipFill>
          <a:blip r:embed="rId4"/>
          <a:stretch>
            <a:fillRect/>
          </a:stretch>
        </p:blipFill>
        <p:spPr>
          <a:xfrm>
            <a:off x="6096000" y="2155133"/>
            <a:ext cx="6061164" cy="3021102"/>
          </a:xfrm>
          <a:prstGeom prst="rect">
            <a:avLst/>
          </a:prstGeom>
        </p:spPr>
      </p:pic>
    </p:spTree>
    <p:extLst>
      <p:ext uri="{BB962C8B-B14F-4D97-AF65-F5344CB8AC3E}">
        <p14:creationId xmlns:p14="http://schemas.microsoft.com/office/powerpoint/2010/main" val="148383255"/>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3DB9ECA-29CE-7C97-947C-920B8001FE91}"/>
              </a:ext>
            </a:extLst>
          </p:cNvPr>
          <p:cNvSpPr>
            <a:spLocks noGrp="1"/>
          </p:cNvSpPr>
          <p:nvPr>
            <p:ph type="title"/>
          </p:nvPr>
        </p:nvSpPr>
        <p:spPr/>
        <p:txBody>
          <a:bodyPr/>
          <a:lstStyle/>
          <a:p>
            <a:r>
              <a:rPr lang="en-IN" dirty="0"/>
              <a:t>SQL Change Example</a:t>
            </a:r>
          </a:p>
        </p:txBody>
      </p:sp>
      <p:pic>
        <p:nvPicPr>
          <p:cNvPr id="5" name="Content Placeholder 4">
            <a:extLst>
              <a:ext uri="{FF2B5EF4-FFF2-40B4-BE49-F238E27FC236}">
                <a16:creationId xmlns:a16="http://schemas.microsoft.com/office/drawing/2014/main" id="{6379AEF3-B327-CF2A-5D1E-692EBC95E625}"/>
              </a:ext>
            </a:extLst>
          </p:cNvPr>
          <p:cNvPicPr>
            <a:picLocks noGrp="1" noChangeAspect="1"/>
          </p:cNvPicPr>
          <p:nvPr>
            <p:ph idx="1"/>
          </p:nvPr>
        </p:nvPicPr>
        <p:blipFill>
          <a:blip r:embed="rId3"/>
          <a:stretch>
            <a:fillRect/>
          </a:stretch>
        </p:blipFill>
        <p:spPr>
          <a:xfrm>
            <a:off x="3081656" y="2169855"/>
            <a:ext cx="5330824" cy="4362510"/>
          </a:xfrm>
          <a:prstGeom prst="rect">
            <a:avLst/>
          </a:prstGeom>
        </p:spPr>
      </p:pic>
    </p:spTree>
    <p:extLst>
      <p:ext uri="{BB962C8B-B14F-4D97-AF65-F5344CB8AC3E}">
        <p14:creationId xmlns:p14="http://schemas.microsoft.com/office/powerpoint/2010/main" val="2711625982"/>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gradFill rotWithShape="1">
          <a:gsLst>
            <a:gs pos="0">
              <a:schemeClr val="bg2">
                <a:tint val="96000"/>
                <a:shade val="100000"/>
                <a:hueMod val="92000"/>
                <a:satMod val="200000"/>
                <a:lumMod val="128000"/>
              </a:schemeClr>
            </a:gs>
            <a:gs pos="50000">
              <a:schemeClr val="bg2">
                <a:shade val="100000"/>
                <a:hueMod val="100000"/>
                <a:satMod val="110000"/>
                <a:lumMod val="130000"/>
              </a:schemeClr>
            </a:gs>
            <a:gs pos="100000">
              <a:schemeClr val="bg2">
                <a:shade val="78000"/>
                <a:hueMod val="118000"/>
                <a:satMod val="120000"/>
                <a:lumMod val="69000"/>
              </a:schemeClr>
            </a:gs>
          </a:gsLst>
          <a:lin ang="2520000" scaled="0"/>
        </a:gradFill>
        <a:effectLst/>
      </p:bgPr>
    </p:bg>
    <p:spTree>
      <p:nvGrpSpPr>
        <p:cNvPr id="1" name=""/>
        <p:cNvGrpSpPr/>
        <p:nvPr/>
      </p:nvGrpSpPr>
      <p:grpSpPr>
        <a:xfrm>
          <a:off x="0" y="0"/>
          <a:ext cx="0" cy="0"/>
          <a:chOff x="0" y="0"/>
          <a:chExt cx="0" cy="0"/>
        </a:xfrm>
      </p:grpSpPr>
      <p:sp useBgFill="1">
        <p:nvSpPr>
          <p:cNvPr id="11" name="Rectangle 10">
            <a:extLst>
              <a:ext uri="{FF2B5EF4-FFF2-40B4-BE49-F238E27FC236}">
                <a16:creationId xmlns:a16="http://schemas.microsoft.com/office/drawing/2014/main" id="{1395ACAC-577D-4FAD-955D-280C3D104AD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
            <a:ext cx="12188824" cy="6858001"/>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3" name="Picture 12">
            <a:extLst>
              <a:ext uri="{FF2B5EF4-FFF2-40B4-BE49-F238E27FC236}">
                <a16:creationId xmlns:a16="http://schemas.microsoft.com/office/drawing/2014/main" id="{E228037F-2EF2-4A1A-8D1D-D08F2C98AD63}"/>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a:blip r:embed="rId3">
            <a:alphaModFix amt="10000"/>
            <a:extLst>
              <a:ext uri="{28A0092B-C50C-407E-A947-70E740481C1C}">
                <a14:useLocalDpi xmlns:a14="http://schemas.microsoft.com/office/drawing/2010/main" val="0"/>
              </a:ext>
            </a:extLst>
          </a:blip>
          <a:stretch>
            <a:fillRect/>
          </a:stretch>
        </p:blipFill>
        <p:spPr>
          <a:xfrm>
            <a:off x="-3176" y="0"/>
            <a:ext cx="12192000" cy="6858000"/>
          </a:xfrm>
          <a:prstGeom prst="rect">
            <a:avLst/>
          </a:prstGeom>
        </p:spPr>
      </p:pic>
      <p:sp>
        <p:nvSpPr>
          <p:cNvPr id="15" name="Rectangle 14">
            <a:extLst>
              <a:ext uri="{FF2B5EF4-FFF2-40B4-BE49-F238E27FC236}">
                <a16:creationId xmlns:a16="http://schemas.microsoft.com/office/drawing/2014/main" id="{0AB11C2E-6CA2-4822-BF14-C1C9A6BC6CA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639056" y="0"/>
            <a:ext cx="7552944" cy="6858001"/>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Rectangle 16">
            <a:extLst>
              <a:ext uri="{FF2B5EF4-FFF2-40B4-BE49-F238E27FC236}">
                <a16:creationId xmlns:a16="http://schemas.microsoft.com/office/drawing/2014/main" id="{38B3A2B2-7BBB-4E52-8C30-BE2A6F346B3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grayWhite">
          <a:xfrm>
            <a:off x="2" y="609600"/>
            <a:ext cx="4959094" cy="1368198"/>
          </a:xfrm>
          <a:prstGeom prst="rect">
            <a:avLst/>
          </a:prstGeom>
          <a:solidFill>
            <a:schemeClr val="bg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IN"/>
          </a:p>
        </p:txBody>
      </p:sp>
      <p:sp>
        <p:nvSpPr>
          <p:cNvPr id="2" name="Title 1">
            <a:extLst>
              <a:ext uri="{FF2B5EF4-FFF2-40B4-BE49-F238E27FC236}">
                <a16:creationId xmlns:a16="http://schemas.microsoft.com/office/drawing/2014/main" id="{81C7E1C9-9FBA-1A2D-71A4-68F0EF476844}"/>
              </a:ext>
            </a:extLst>
          </p:cNvPr>
          <p:cNvSpPr>
            <a:spLocks noGrp="1"/>
          </p:cNvSpPr>
          <p:nvPr>
            <p:ph type="title"/>
          </p:nvPr>
        </p:nvSpPr>
        <p:spPr>
          <a:xfrm>
            <a:off x="680321" y="753228"/>
            <a:ext cx="4136123" cy="1080938"/>
          </a:xfrm>
        </p:spPr>
        <p:txBody>
          <a:bodyPr vert="horz" lIns="91440" tIns="45720" rIns="91440" bIns="45720" rtlCol="0" anchor="ctr">
            <a:normAutofit/>
          </a:bodyPr>
          <a:lstStyle/>
          <a:p>
            <a:r>
              <a:rPr lang="en-US" sz="2400" b="1"/>
              <a:t>4.Technology Transformation and Analytics </a:t>
            </a:r>
            <a:endParaRPr lang="en-US" sz="2400"/>
          </a:p>
        </p:txBody>
      </p:sp>
      <p:pic>
        <p:nvPicPr>
          <p:cNvPr id="19" name="Picture 18">
            <a:extLst>
              <a:ext uri="{FF2B5EF4-FFF2-40B4-BE49-F238E27FC236}">
                <a16:creationId xmlns:a16="http://schemas.microsoft.com/office/drawing/2014/main" id="{FFF756FE-278B-4106-BB2E-DB87CF02DFB5}"/>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a:blip r:embed="rId4">
            <a:extLst>
              <a:ext uri="{28A0092B-C50C-407E-A947-70E740481C1C}">
                <a14:useLocalDpi xmlns:a14="http://schemas.microsoft.com/office/drawing/2010/main" val="0"/>
              </a:ext>
            </a:extLst>
          </a:blip>
          <a:stretch>
            <a:fillRect/>
          </a:stretch>
        </p:blipFill>
        <p:spPr>
          <a:xfrm>
            <a:off x="2" y="1970241"/>
            <a:ext cx="4956048" cy="199787"/>
          </a:xfrm>
          <a:prstGeom prst="rect">
            <a:avLst/>
          </a:prstGeom>
        </p:spPr>
      </p:pic>
      <p:sp>
        <p:nvSpPr>
          <p:cNvPr id="6" name="TextBox 5">
            <a:extLst>
              <a:ext uri="{FF2B5EF4-FFF2-40B4-BE49-F238E27FC236}">
                <a16:creationId xmlns:a16="http://schemas.microsoft.com/office/drawing/2014/main" id="{CA860869-E27A-1208-D6B3-E8292E0FAC81}"/>
              </a:ext>
            </a:extLst>
          </p:cNvPr>
          <p:cNvSpPr txBox="1"/>
          <p:nvPr/>
        </p:nvSpPr>
        <p:spPr>
          <a:xfrm>
            <a:off x="680321" y="2336873"/>
            <a:ext cx="3656289" cy="3599316"/>
          </a:xfrm>
          <a:prstGeom prst="rect">
            <a:avLst/>
          </a:prstGeom>
        </p:spPr>
        <p:txBody>
          <a:bodyPr vert="horz" lIns="91440" tIns="45720" rIns="91440" bIns="45720" rtlCol="0">
            <a:normAutofit/>
          </a:bodyPr>
          <a:lstStyle/>
          <a:p>
            <a:pPr indent="-228600" defTabSz="914400">
              <a:lnSpc>
                <a:spcPct val="90000"/>
              </a:lnSpc>
              <a:spcAft>
                <a:spcPts val="600"/>
              </a:spcAft>
              <a:buFont typeface="Arial" panose="020B0604020202020204" pitchFamily="34" charset="0"/>
              <a:buChar char="•"/>
            </a:pPr>
            <a:r>
              <a:rPr lang="en-US" sz="1400"/>
              <a:t>I selected Python Pandas and AWS Glue Technology for Data Processing. This Tool Support ETL,Cleanning</a:t>
            </a:r>
          </a:p>
          <a:p>
            <a:pPr indent="-228600" defTabSz="914400">
              <a:lnSpc>
                <a:spcPct val="90000"/>
              </a:lnSpc>
              <a:spcAft>
                <a:spcPts val="600"/>
              </a:spcAft>
              <a:buFont typeface="Arial" panose="020B0604020202020204" pitchFamily="34" charset="0"/>
              <a:buChar char="•"/>
            </a:pPr>
            <a:r>
              <a:rPr lang="en-US" sz="1400"/>
              <a:t>automation and analytic. Below is compression overview.</a:t>
            </a:r>
          </a:p>
        </p:txBody>
      </p:sp>
      <p:sp>
        <p:nvSpPr>
          <p:cNvPr id="21" name="Rectangle 20">
            <a:extLst>
              <a:ext uri="{FF2B5EF4-FFF2-40B4-BE49-F238E27FC236}">
                <a16:creationId xmlns:a16="http://schemas.microsoft.com/office/drawing/2014/main" id="{09D6A950-3339-40EB-8972-64F44542D3F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276090" y="642795"/>
            <a:ext cx="6272654" cy="5575126"/>
          </a:xfrm>
          <a:prstGeom prst="rect">
            <a:avLst/>
          </a:prstGeom>
          <a:solidFill>
            <a:schemeClr val="tx1"/>
          </a:solidFill>
          <a:ln>
            <a:noFill/>
          </a:ln>
          <a:effectLst>
            <a:outerShdw blurRad="76200" dist="63500" dir="5040000" algn="t" rotWithShape="0">
              <a:prstClr val="black">
                <a:alpha val="41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aphicFrame>
        <p:nvGraphicFramePr>
          <p:cNvPr id="5" name="Content Placeholder 4">
            <a:extLst>
              <a:ext uri="{FF2B5EF4-FFF2-40B4-BE49-F238E27FC236}">
                <a16:creationId xmlns:a16="http://schemas.microsoft.com/office/drawing/2014/main" id="{55218581-1B67-58B8-43C2-11B53CF7212F}"/>
              </a:ext>
            </a:extLst>
          </p:cNvPr>
          <p:cNvGraphicFramePr>
            <a:graphicFrameLocks noGrp="1"/>
          </p:cNvGraphicFramePr>
          <p:nvPr>
            <p:ph idx="1"/>
            <p:extLst>
              <p:ext uri="{D42A27DB-BD31-4B8C-83A1-F6EECF244321}">
                <p14:modId xmlns:p14="http://schemas.microsoft.com/office/powerpoint/2010/main" val="2003691792"/>
              </p:ext>
            </p:extLst>
          </p:nvPr>
        </p:nvGraphicFramePr>
        <p:xfrm>
          <a:off x="5593085" y="1091105"/>
          <a:ext cx="5629269" cy="4669000"/>
        </p:xfrm>
        <a:graphic>
          <a:graphicData uri="http://schemas.openxmlformats.org/drawingml/2006/table">
            <a:tbl>
              <a:tblPr firstRow="1" bandRow="1">
                <a:tableStyleId>{8EC20E35-A176-4012-BC5E-935CFFF8708E}</a:tableStyleId>
              </a:tblPr>
              <a:tblGrid>
                <a:gridCol w="1366812">
                  <a:extLst>
                    <a:ext uri="{9D8B030D-6E8A-4147-A177-3AD203B41FA5}">
                      <a16:colId xmlns:a16="http://schemas.microsoft.com/office/drawing/2014/main" val="2360054396"/>
                    </a:ext>
                  </a:extLst>
                </a:gridCol>
                <a:gridCol w="1378489">
                  <a:extLst>
                    <a:ext uri="{9D8B030D-6E8A-4147-A177-3AD203B41FA5}">
                      <a16:colId xmlns:a16="http://schemas.microsoft.com/office/drawing/2014/main" val="1645143058"/>
                    </a:ext>
                  </a:extLst>
                </a:gridCol>
                <a:gridCol w="1447093">
                  <a:extLst>
                    <a:ext uri="{9D8B030D-6E8A-4147-A177-3AD203B41FA5}">
                      <a16:colId xmlns:a16="http://schemas.microsoft.com/office/drawing/2014/main" val="1586438300"/>
                    </a:ext>
                  </a:extLst>
                </a:gridCol>
                <a:gridCol w="1436875">
                  <a:extLst>
                    <a:ext uri="{9D8B030D-6E8A-4147-A177-3AD203B41FA5}">
                      <a16:colId xmlns:a16="http://schemas.microsoft.com/office/drawing/2014/main" val="3335960134"/>
                    </a:ext>
                  </a:extLst>
                </a:gridCol>
              </a:tblGrid>
              <a:tr h="510059">
                <a:tc>
                  <a:txBody>
                    <a:bodyPr/>
                    <a:lstStyle/>
                    <a:p>
                      <a:r>
                        <a:rPr lang="en-IN" sz="1300"/>
                        <a:t>Evaluation Criteria</a:t>
                      </a:r>
                      <a:endParaRPr lang="en-IN" sz="1300">
                        <a:latin typeface="Times New Roman" panose="02020603050405020304" pitchFamily="18" charset="0"/>
                        <a:cs typeface="Times New Roman" panose="02020603050405020304" pitchFamily="18" charset="0"/>
                      </a:endParaRPr>
                    </a:p>
                  </a:txBody>
                  <a:tcPr marL="84076" marR="84076" marT="42038" marB="42038"/>
                </a:tc>
                <a:tc>
                  <a:txBody>
                    <a:bodyPr/>
                    <a:lstStyle/>
                    <a:p>
                      <a:r>
                        <a:rPr lang="en-US" sz="1300"/>
                        <a:t>Python Pandas</a:t>
                      </a:r>
                      <a:endParaRPr lang="en-IN" sz="1300">
                        <a:latin typeface="Times New Roman" panose="02020603050405020304" pitchFamily="18" charset="0"/>
                        <a:cs typeface="Times New Roman" panose="02020603050405020304" pitchFamily="18" charset="0"/>
                      </a:endParaRPr>
                    </a:p>
                  </a:txBody>
                  <a:tcPr marL="84076" marR="84076" marT="42038" marB="42038"/>
                </a:tc>
                <a:tc>
                  <a:txBody>
                    <a:bodyPr/>
                    <a:lstStyle/>
                    <a:p>
                      <a:r>
                        <a:rPr lang="en-US" sz="1300"/>
                        <a:t>Aws Glue</a:t>
                      </a:r>
                      <a:endParaRPr lang="en-IN" sz="1300">
                        <a:latin typeface="Times New Roman" panose="02020603050405020304" pitchFamily="18" charset="0"/>
                        <a:cs typeface="Times New Roman" panose="02020603050405020304" pitchFamily="18" charset="0"/>
                      </a:endParaRPr>
                    </a:p>
                  </a:txBody>
                  <a:tcPr marL="84076" marR="84076" marT="42038" marB="42038"/>
                </a:tc>
                <a:tc>
                  <a:txBody>
                    <a:bodyPr/>
                    <a:lstStyle/>
                    <a:p>
                      <a:r>
                        <a:rPr lang="en-IN" sz="1300" b="1" kern="1200">
                          <a:solidFill>
                            <a:schemeClr val="lt1"/>
                          </a:solidFill>
                          <a:effectLst/>
                        </a:rPr>
                        <a:t>SwiftWheel Priority</a:t>
                      </a:r>
                      <a:endParaRPr lang="en-IN" sz="1300">
                        <a:latin typeface="Times New Roman" panose="02020603050405020304" pitchFamily="18" charset="0"/>
                        <a:cs typeface="Times New Roman" panose="02020603050405020304" pitchFamily="18" charset="0"/>
                      </a:endParaRPr>
                    </a:p>
                  </a:txBody>
                  <a:tcPr marL="84076" marR="84076" marT="42038" marB="42038"/>
                </a:tc>
                <a:extLst>
                  <a:ext uri="{0D108BD9-81ED-4DB2-BD59-A6C34878D82A}">
                    <a16:rowId xmlns:a16="http://schemas.microsoft.com/office/drawing/2014/main" val="1376893826"/>
                  </a:ext>
                </a:extLst>
              </a:tr>
              <a:tr h="706235">
                <a:tc>
                  <a:txBody>
                    <a:bodyPr/>
                    <a:lstStyle/>
                    <a:p>
                      <a:r>
                        <a:rPr lang="en-IN" sz="1300"/>
                        <a:t>Data Integration</a:t>
                      </a:r>
                      <a:endParaRPr lang="en-IN" sz="1300">
                        <a:latin typeface="Times New Roman" panose="02020603050405020304" pitchFamily="18" charset="0"/>
                        <a:cs typeface="Times New Roman" panose="02020603050405020304" pitchFamily="18" charset="0"/>
                      </a:endParaRPr>
                    </a:p>
                  </a:txBody>
                  <a:tcPr marL="84076" marR="84076" marT="42038" marB="42038"/>
                </a:tc>
                <a:tc>
                  <a:txBody>
                    <a:bodyPr/>
                    <a:lstStyle/>
                    <a:p>
                      <a:r>
                        <a:rPr lang="en-IN" sz="1300"/>
                        <a:t>Programmatic (APIs, libraries)	</a:t>
                      </a:r>
                      <a:endParaRPr lang="en-IN" sz="1300">
                        <a:latin typeface="Times New Roman" panose="02020603050405020304" pitchFamily="18" charset="0"/>
                        <a:cs typeface="Times New Roman" panose="02020603050405020304" pitchFamily="18" charset="0"/>
                      </a:endParaRPr>
                    </a:p>
                  </a:txBody>
                  <a:tcPr marL="84076" marR="84076" marT="42038" marB="42038"/>
                </a:tc>
                <a:tc>
                  <a:txBody>
                    <a:bodyPr/>
                    <a:lstStyle/>
                    <a:p>
                      <a:r>
                        <a:rPr lang="en-IN" sz="1300"/>
                        <a:t>Visual,code and70 connectors</a:t>
                      </a:r>
                      <a:endParaRPr lang="en-IN" sz="1300">
                        <a:latin typeface="Times New Roman" panose="02020603050405020304" pitchFamily="18" charset="0"/>
                        <a:cs typeface="Times New Roman" panose="02020603050405020304" pitchFamily="18" charset="0"/>
                      </a:endParaRPr>
                    </a:p>
                  </a:txBody>
                  <a:tcPr marL="84076" marR="84076" marT="42038" marB="42038"/>
                </a:tc>
                <a:tc>
                  <a:txBody>
                    <a:bodyPr/>
                    <a:lstStyle/>
                    <a:p>
                      <a:r>
                        <a:rPr lang="en-IN" sz="1300"/>
                        <a:t>High - Multiple source systems</a:t>
                      </a:r>
                      <a:endParaRPr lang="en-IN" sz="1300">
                        <a:latin typeface="Times New Roman" panose="02020603050405020304" pitchFamily="18" charset="0"/>
                        <a:cs typeface="Times New Roman" panose="02020603050405020304" pitchFamily="18" charset="0"/>
                      </a:endParaRPr>
                    </a:p>
                  </a:txBody>
                  <a:tcPr marL="84076" marR="84076" marT="42038" marB="42038"/>
                </a:tc>
                <a:extLst>
                  <a:ext uri="{0D108BD9-81ED-4DB2-BD59-A6C34878D82A}">
                    <a16:rowId xmlns:a16="http://schemas.microsoft.com/office/drawing/2014/main" val="2326864323"/>
                  </a:ext>
                </a:extLst>
              </a:tr>
              <a:tr h="706235">
                <a:tc>
                  <a:txBody>
                    <a:bodyPr/>
                    <a:lstStyle/>
                    <a:p>
                      <a:r>
                        <a:rPr lang="en-IN" sz="1300"/>
                        <a:t>Data Transformation</a:t>
                      </a:r>
                      <a:endParaRPr lang="en-IN" sz="1300">
                        <a:latin typeface="Times New Roman" panose="02020603050405020304" pitchFamily="18" charset="0"/>
                        <a:cs typeface="Times New Roman" panose="02020603050405020304" pitchFamily="18" charset="0"/>
                      </a:endParaRPr>
                    </a:p>
                  </a:txBody>
                  <a:tcPr marL="84076" marR="84076" marT="42038" marB="42038"/>
                </a:tc>
                <a:tc>
                  <a:txBody>
                    <a:bodyPr/>
                    <a:lstStyle/>
                    <a:p>
                      <a:r>
                        <a:rPr lang="en-IN" sz="1300"/>
                        <a:t>Extremely flexible (full Python)</a:t>
                      </a:r>
                      <a:endParaRPr lang="en-IN" sz="1300">
                        <a:latin typeface="Times New Roman" panose="02020603050405020304" pitchFamily="18" charset="0"/>
                        <a:cs typeface="Times New Roman" panose="02020603050405020304" pitchFamily="18" charset="0"/>
                      </a:endParaRPr>
                    </a:p>
                  </a:txBody>
                  <a:tcPr marL="84076" marR="84076" marT="42038" marB="42038"/>
                </a:tc>
                <a:tc>
                  <a:txBody>
                    <a:bodyPr/>
                    <a:lstStyle/>
                    <a:p>
                      <a:r>
                        <a:rPr lang="en-IN" sz="1300"/>
                        <a:t>Limited visual transforms and Spark</a:t>
                      </a:r>
                      <a:endParaRPr lang="en-IN" sz="1300">
                        <a:latin typeface="Times New Roman" panose="02020603050405020304" pitchFamily="18" charset="0"/>
                        <a:cs typeface="Times New Roman" panose="02020603050405020304" pitchFamily="18" charset="0"/>
                      </a:endParaRPr>
                    </a:p>
                  </a:txBody>
                  <a:tcPr marL="84076" marR="84076" marT="42038" marB="42038"/>
                </a:tc>
                <a:tc>
                  <a:txBody>
                    <a:bodyPr/>
                    <a:lstStyle/>
                    <a:p>
                      <a:r>
                        <a:rPr lang="en-IN" sz="1300"/>
                        <a:t>High - Complex business rules</a:t>
                      </a:r>
                      <a:endParaRPr lang="en-IN" sz="1300">
                        <a:latin typeface="Times New Roman" panose="02020603050405020304" pitchFamily="18" charset="0"/>
                        <a:cs typeface="Times New Roman" panose="02020603050405020304" pitchFamily="18" charset="0"/>
                      </a:endParaRPr>
                    </a:p>
                  </a:txBody>
                  <a:tcPr marL="84076" marR="84076" marT="42038" marB="42038"/>
                </a:tc>
                <a:extLst>
                  <a:ext uri="{0D108BD9-81ED-4DB2-BD59-A6C34878D82A}">
                    <a16:rowId xmlns:a16="http://schemas.microsoft.com/office/drawing/2014/main" val="4094351545"/>
                  </a:ext>
                </a:extLst>
              </a:tr>
              <a:tr h="706235">
                <a:tc>
                  <a:txBody>
                    <a:bodyPr/>
                    <a:lstStyle/>
                    <a:p>
                      <a:r>
                        <a:rPr lang="en-IN" sz="1300"/>
                        <a:t>Management</a:t>
                      </a:r>
                      <a:endParaRPr lang="en-IN" sz="1300">
                        <a:latin typeface="Times New Roman" panose="02020603050405020304" pitchFamily="18" charset="0"/>
                        <a:cs typeface="Times New Roman" panose="02020603050405020304" pitchFamily="18" charset="0"/>
                      </a:endParaRPr>
                    </a:p>
                  </a:txBody>
                  <a:tcPr marL="84076" marR="84076" marT="42038" marB="42038"/>
                </a:tc>
                <a:tc>
                  <a:txBody>
                    <a:bodyPr/>
                    <a:lstStyle/>
                    <a:p>
                      <a:r>
                        <a:rPr lang="en-IN" sz="1300"/>
                        <a:t>Requires external (Airflow, Cron)</a:t>
                      </a:r>
                      <a:endParaRPr lang="en-IN" sz="1300">
                        <a:latin typeface="Times New Roman" panose="02020603050405020304" pitchFamily="18" charset="0"/>
                        <a:cs typeface="Times New Roman" panose="02020603050405020304" pitchFamily="18" charset="0"/>
                      </a:endParaRPr>
                    </a:p>
                  </a:txBody>
                  <a:tcPr marL="84076" marR="84076" marT="42038" marB="42038"/>
                </a:tc>
                <a:tc>
                  <a:txBody>
                    <a:bodyPr/>
                    <a:lstStyle/>
                    <a:p>
                      <a:r>
                        <a:rPr lang="en-IN" sz="1300"/>
                        <a:t>Built in workflow scheduler</a:t>
                      </a:r>
                      <a:endParaRPr lang="en-IN" sz="1300">
                        <a:latin typeface="Times New Roman" panose="02020603050405020304" pitchFamily="18" charset="0"/>
                        <a:cs typeface="Times New Roman" panose="02020603050405020304" pitchFamily="18" charset="0"/>
                      </a:endParaRPr>
                    </a:p>
                  </a:txBody>
                  <a:tcPr marL="84076" marR="84076" marT="42038" marB="42038"/>
                </a:tc>
                <a:tc>
                  <a:txBody>
                    <a:bodyPr/>
                    <a:lstStyle/>
                    <a:p>
                      <a:r>
                        <a:rPr lang="en-IN" sz="1300"/>
                        <a:t>Medium - Growing need</a:t>
                      </a:r>
                      <a:endParaRPr lang="en-IN" sz="1300">
                        <a:latin typeface="Times New Roman" panose="02020603050405020304" pitchFamily="18" charset="0"/>
                        <a:cs typeface="Times New Roman" panose="02020603050405020304" pitchFamily="18" charset="0"/>
                      </a:endParaRPr>
                    </a:p>
                  </a:txBody>
                  <a:tcPr marL="84076" marR="84076" marT="42038" marB="42038"/>
                </a:tc>
                <a:extLst>
                  <a:ext uri="{0D108BD9-81ED-4DB2-BD59-A6C34878D82A}">
                    <a16:rowId xmlns:a16="http://schemas.microsoft.com/office/drawing/2014/main" val="3271337037"/>
                  </a:ext>
                </a:extLst>
              </a:tr>
              <a:tr h="510059">
                <a:tc>
                  <a:txBody>
                    <a:bodyPr/>
                    <a:lstStyle/>
                    <a:p>
                      <a:r>
                        <a:rPr lang="en-IN" sz="1300"/>
                        <a:t>Scalability</a:t>
                      </a:r>
                      <a:endParaRPr lang="en-IN" sz="1300">
                        <a:latin typeface="Times New Roman" panose="02020603050405020304" pitchFamily="18" charset="0"/>
                        <a:cs typeface="Times New Roman" panose="02020603050405020304" pitchFamily="18" charset="0"/>
                      </a:endParaRPr>
                    </a:p>
                  </a:txBody>
                  <a:tcPr marL="84076" marR="84076" marT="42038" marB="42038"/>
                </a:tc>
                <a:tc>
                  <a:txBody>
                    <a:bodyPr/>
                    <a:lstStyle/>
                    <a:p>
                      <a:r>
                        <a:rPr lang="en-IN" sz="1300"/>
                        <a:t>Single-node (large memory)</a:t>
                      </a:r>
                      <a:endParaRPr lang="en-IN" sz="1300">
                        <a:latin typeface="Times New Roman" panose="02020603050405020304" pitchFamily="18" charset="0"/>
                        <a:cs typeface="Times New Roman" panose="02020603050405020304" pitchFamily="18" charset="0"/>
                      </a:endParaRPr>
                    </a:p>
                  </a:txBody>
                  <a:tcPr marL="84076" marR="84076" marT="42038" marB="42038"/>
                </a:tc>
                <a:tc>
                  <a:txBody>
                    <a:bodyPr/>
                    <a:lstStyle/>
                    <a:p>
                      <a:r>
                        <a:rPr lang="en-IN" sz="1300"/>
                        <a:t>Serverless Spark (auto scaling)</a:t>
                      </a:r>
                      <a:endParaRPr lang="en-IN" sz="1300">
                        <a:latin typeface="Times New Roman" panose="02020603050405020304" pitchFamily="18" charset="0"/>
                        <a:cs typeface="Times New Roman" panose="02020603050405020304" pitchFamily="18" charset="0"/>
                      </a:endParaRPr>
                    </a:p>
                  </a:txBody>
                  <a:tcPr marL="84076" marR="84076" marT="42038" marB="42038"/>
                </a:tc>
                <a:tc>
                  <a:txBody>
                    <a:bodyPr/>
                    <a:lstStyle/>
                    <a:p>
                      <a:r>
                        <a:rPr lang="en-IN" sz="1300"/>
                        <a:t>High - Seasonal peaks</a:t>
                      </a:r>
                      <a:endParaRPr lang="en-IN" sz="1300">
                        <a:latin typeface="Times New Roman" panose="02020603050405020304" pitchFamily="18" charset="0"/>
                        <a:cs typeface="Times New Roman" panose="02020603050405020304" pitchFamily="18" charset="0"/>
                      </a:endParaRPr>
                    </a:p>
                  </a:txBody>
                  <a:tcPr marL="84076" marR="84076" marT="42038" marB="42038"/>
                </a:tc>
                <a:extLst>
                  <a:ext uri="{0D108BD9-81ED-4DB2-BD59-A6C34878D82A}">
                    <a16:rowId xmlns:a16="http://schemas.microsoft.com/office/drawing/2014/main" val="1996416424"/>
                  </a:ext>
                </a:extLst>
              </a:tr>
              <a:tr h="510059">
                <a:tc>
                  <a:txBody>
                    <a:bodyPr/>
                    <a:lstStyle/>
                    <a:p>
                      <a:r>
                        <a:rPr lang="en-IN" sz="1300"/>
                        <a:t>Cost Model</a:t>
                      </a:r>
                      <a:endParaRPr lang="en-IN" sz="1300">
                        <a:latin typeface="Times New Roman" panose="02020603050405020304" pitchFamily="18" charset="0"/>
                        <a:cs typeface="Times New Roman" panose="02020603050405020304" pitchFamily="18" charset="0"/>
                      </a:endParaRPr>
                    </a:p>
                  </a:txBody>
                  <a:tcPr marL="84076" marR="84076" marT="42038" marB="42038"/>
                </a:tc>
                <a:tc>
                  <a:txBody>
                    <a:bodyPr/>
                    <a:lstStyle/>
                    <a:p>
                      <a:r>
                        <a:rPr lang="en-IN" sz="1300"/>
                        <a:t>Open source and compute</a:t>
                      </a:r>
                      <a:endParaRPr lang="en-IN" sz="1300">
                        <a:latin typeface="Times New Roman" panose="02020603050405020304" pitchFamily="18" charset="0"/>
                        <a:cs typeface="Times New Roman" panose="02020603050405020304" pitchFamily="18" charset="0"/>
                      </a:endParaRPr>
                    </a:p>
                  </a:txBody>
                  <a:tcPr marL="84076" marR="84076" marT="42038" marB="42038"/>
                </a:tc>
                <a:tc>
                  <a:txBody>
                    <a:bodyPr/>
                    <a:lstStyle/>
                    <a:p>
                      <a:r>
                        <a:rPr lang="en-IN" sz="1300"/>
                        <a:t>Pay as you go and  storage</a:t>
                      </a:r>
                      <a:endParaRPr lang="en-IN" sz="1300">
                        <a:latin typeface="Times New Roman" panose="02020603050405020304" pitchFamily="18" charset="0"/>
                        <a:cs typeface="Times New Roman" panose="02020603050405020304" pitchFamily="18" charset="0"/>
                      </a:endParaRPr>
                    </a:p>
                  </a:txBody>
                  <a:tcPr marL="84076" marR="84076" marT="42038" marB="42038"/>
                </a:tc>
                <a:tc>
                  <a:txBody>
                    <a:bodyPr/>
                    <a:lstStyle/>
                    <a:p>
                      <a:r>
                        <a:rPr lang="en-IN" sz="1300"/>
                        <a:t>Medium - Budget sensitive</a:t>
                      </a:r>
                      <a:endParaRPr lang="en-IN" sz="1300">
                        <a:latin typeface="Times New Roman" panose="02020603050405020304" pitchFamily="18" charset="0"/>
                        <a:cs typeface="Times New Roman" panose="02020603050405020304" pitchFamily="18" charset="0"/>
                      </a:endParaRPr>
                    </a:p>
                  </a:txBody>
                  <a:tcPr marL="84076" marR="84076" marT="42038" marB="42038"/>
                </a:tc>
                <a:extLst>
                  <a:ext uri="{0D108BD9-81ED-4DB2-BD59-A6C34878D82A}">
                    <a16:rowId xmlns:a16="http://schemas.microsoft.com/office/drawing/2014/main" val="3643301822"/>
                  </a:ext>
                </a:extLst>
              </a:tr>
              <a:tr h="510059">
                <a:tc>
                  <a:txBody>
                    <a:bodyPr/>
                    <a:lstStyle/>
                    <a:p>
                      <a:r>
                        <a:rPr lang="en-IN" sz="1300"/>
                        <a:t>Skill Requirement</a:t>
                      </a:r>
                      <a:endParaRPr lang="en-IN" sz="1300">
                        <a:latin typeface="Times New Roman" panose="02020603050405020304" pitchFamily="18" charset="0"/>
                        <a:cs typeface="Times New Roman" panose="02020603050405020304" pitchFamily="18" charset="0"/>
                      </a:endParaRPr>
                    </a:p>
                  </a:txBody>
                  <a:tcPr marL="84076" marR="84076" marT="42038" marB="42038"/>
                </a:tc>
                <a:tc>
                  <a:txBody>
                    <a:bodyPr/>
                    <a:lstStyle/>
                    <a:p>
                      <a:r>
                        <a:rPr lang="en-IN" sz="1300"/>
                        <a:t>Python programming</a:t>
                      </a:r>
                      <a:endParaRPr lang="en-IN" sz="1300">
                        <a:latin typeface="Times New Roman" panose="02020603050405020304" pitchFamily="18" charset="0"/>
                        <a:cs typeface="Times New Roman" panose="02020603050405020304" pitchFamily="18" charset="0"/>
                      </a:endParaRPr>
                    </a:p>
                  </a:txBody>
                  <a:tcPr marL="84076" marR="84076" marT="42038" marB="42038"/>
                </a:tc>
                <a:tc>
                  <a:txBody>
                    <a:bodyPr/>
                    <a:lstStyle/>
                    <a:p>
                      <a:r>
                        <a:rPr lang="en-IN" sz="1300"/>
                        <a:t>Visual,SQL ,Spark</a:t>
                      </a:r>
                      <a:endParaRPr lang="en-IN" sz="1300">
                        <a:latin typeface="Times New Roman" panose="02020603050405020304" pitchFamily="18" charset="0"/>
                        <a:cs typeface="Times New Roman" panose="02020603050405020304" pitchFamily="18" charset="0"/>
                      </a:endParaRPr>
                    </a:p>
                  </a:txBody>
                  <a:tcPr marL="84076" marR="84076" marT="42038" marB="42038"/>
                </a:tc>
                <a:tc>
                  <a:txBody>
                    <a:bodyPr/>
                    <a:lstStyle/>
                    <a:p>
                      <a:r>
                        <a:rPr lang="en-IN" sz="1300"/>
                        <a:t>Mixed - Existing Python skills</a:t>
                      </a:r>
                      <a:endParaRPr lang="en-IN" sz="1300">
                        <a:latin typeface="Times New Roman" panose="02020603050405020304" pitchFamily="18" charset="0"/>
                        <a:cs typeface="Times New Roman" panose="02020603050405020304" pitchFamily="18" charset="0"/>
                      </a:endParaRPr>
                    </a:p>
                  </a:txBody>
                  <a:tcPr marL="84076" marR="84076" marT="42038" marB="42038"/>
                </a:tc>
                <a:extLst>
                  <a:ext uri="{0D108BD9-81ED-4DB2-BD59-A6C34878D82A}">
                    <a16:rowId xmlns:a16="http://schemas.microsoft.com/office/drawing/2014/main" val="286350019"/>
                  </a:ext>
                </a:extLst>
              </a:tr>
              <a:tr h="510059">
                <a:tc>
                  <a:txBody>
                    <a:bodyPr/>
                    <a:lstStyle/>
                    <a:p>
                      <a:r>
                        <a:rPr lang="en-IN" sz="1300"/>
                        <a:t>Data Catalog</a:t>
                      </a:r>
                      <a:endParaRPr lang="en-IN" sz="1300">
                        <a:latin typeface="Times New Roman" panose="02020603050405020304" pitchFamily="18" charset="0"/>
                        <a:cs typeface="Times New Roman" panose="02020603050405020304" pitchFamily="18" charset="0"/>
                      </a:endParaRPr>
                    </a:p>
                  </a:txBody>
                  <a:tcPr marL="84076" marR="84076" marT="42038" marB="42038"/>
                </a:tc>
                <a:tc>
                  <a:txBody>
                    <a:bodyPr/>
                    <a:lstStyle/>
                    <a:p>
                      <a:r>
                        <a:rPr lang="en-IN" sz="1300"/>
                        <a:t>Manual management</a:t>
                      </a:r>
                      <a:endParaRPr lang="en-IN" sz="1300">
                        <a:latin typeface="Times New Roman" panose="02020603050405020304" pitchFamily="18" charset="0"/>
                        <a:cs typeface="Times New Roman" panose="02020603050405020304" pitchFamily="18" charset="0"/>
                      </a:endParaRPr>
                    </a:p>
                  </a:txBody>
                  <a:tcPr marL="84076" marR="84076" marT="42038" marB="42038"/>
                </a:tc>
                <a:tc>
                  <a:txBody>
                    <a:bodyPr/>
                    <a:lstStyle/>
                    <a:p>
                      <a:r>
                        <a:rPr lang="en-IN" sz="1300"/>
                        <a:t>Automated discovery</a:t>
                      </a:r>
                      <a:endParaRPr lang="en-IN" sz="1300">
                        <a:latin typeface="Times New Roman" panose="02020603050405020304" pitchFamily="18" charset="0"/>
                        <a:cs typeface="Times New Roman" panose="02020603050405020304" pitchFamily="18" charset="0"/>
                      </a:endParaRPr>
                    </a:p>
                  </a:txBody>
                  <a:tcPr marL="84076" marR="84076" marT="42038" marB="42038"/>
                </a:tc>
                <a:tc>
                  <a:txBody>
                    <a:bodyPr/>
                    <a:lstStyle/>
                    <a:p>
                      <a:r>
                        <a:rPr lang="en-IN" sz="1300"/>
                        <a:t>High - Data governance</a:t>
                      </a:r>
                      <a:endParaRPr lang="en-IN" sz="1300">
                        <a:latin typeface="Times New Roman" panose="02020603050405020304" pitchFamily="18" charset="0"/>
                        <a:cs typeface="Times New Roman" panose="02020603050405020304" pitchFamily="18" charset="0"/>
                      </a:endParaRPr>
                    </a:p>
                  </a:txBody>
                  <a:tcPr marL="84076" marR="84076" marT="42038" marB="42038"/>
                </a:tc>
                <a:extLst>
                  <a:ext uri="{0D108BD9-81ED-4DB2-BD59-A6C34878D82A}">
                    <a16:rowId xmlns:a16="http://schemas.microsoft.com/office/drawing/2014/main" val="2054767555"/>
                  </a:ext>
                </a:extLst>
              </a:tr>
            </a:tbl>
          </a:graphicData>
        </a:graphic>
      </p:graphicFrame>
    </p:spTree>
    <p:extLst>
      <p:ext uri="{BB962C8B-B14F-4D97-AF65-F5344CB8AC3E}">
        <p14:creationId xmlns:p14="http://schemas.microsoft.com/office/powerpoint/2010/main" val="2075150487"/>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Content Placeholder 6">
            <a:extLst>
              <a:ext uri="{FF2B5EF4-FFF2-40B4-BE49-F238E27FC236}">
                <a16:creationId xmlns:a16="http://schemas.microsoft.com/office/drawing/2014/main" id="{D558CD1B-FD1A-3E38-436C-B351875AA379}"/>
              </a:ext>
            </a:extLst>
          </p:cNvPr>
          <p:cNvPicPr>
            <a:picLocks noGrp="1" noChangeAspect="1"/>
          </p:cNvPicPr>
          <p:nvPr>
            <p:ph idx="1"/>
          </p:nvPr>
        </p:nvPicPr>
        <p:blipFill>
          <a:blip r:embed="rId3"/>
          <a:stretch>
            <a:fillRect/>
          </a:stretch>
        </p:blipFill>
        <p:spPr>
          <a:xfrm>
            <a:off x="6770364" y="2425665"/>
            <a:ext cx="5207164" cy="3311812"/>
          </a:xfrm>
          <a:prstGeom prst="rect">
            <a:avLst/>
          </a:prstGeom>
        </p:spPr>
      </p:pic>
      <p:sp>
        <p:nvSpPr>
          <p:cNvPr id="2" name="Title 1">
            <a:extLst>
              <a:ext uri="{FF2B5EF4-FFF2-40B4-BE49-F238E27FC236}">
                <a16:creationId xmlns:a16="http://schemas.microsoft.com/office/drawing/2014/main" id="{1A1BFE51-FDF9-4FAF-0A50-78D8E892C9F5}"/>
              </a:ext>
            </a:extLst>
          </p:cNvPr>
          <p:cNvSpPr>
            <a:spLocks noGrp="1"/>
          </p:cNvSpPr>
          <p:nvPr>
            <p:ph type="title"/>
          </p:nvPr>
        </p:nvSpPr>
        <p:spPr/>
        <p:txBody>
          <a:bodyPr/>
          <a:lstStyle/>
          <a:p>
            <a:r>
              <a:rPr lang="en-IN" dirty="0"/>
              <a:t>Recommended Architecture &amp; Implementation</a:t>
            </a:r>
          </a:p>
        </p:txBody>
      </p:sp>
      <p:sp>
        <p:nvSpPr>
          <p:cNvPr id="8" name="TextBox 7">
            <a:extLst>
              <a:ext uri="{FF2B5EF4-FFF2-40B4-BE49-F238E27FC236}">
                <a16:creationId xmlns:a16="http://schemas.microsoft.com/office/drawing/2014/main" id="{6023D163-D89A-57CE-2B45-7C72CC52FDC2}"/>
              </a:ext>
            </a:extLst>
          </p:cNvPr>
          <p:cNvSpPr txBox="1"/>
          <p:nvPr/>
        </p:nvSpPr>
        <p:spPr>
          <a:xfrm>
            <a:off x="0" y="4180509"/>
            <a:ext cx="6545814" cy="2462213"/>
          </a:xfrm>
          <a:prstGeom prst="rect">
            <a:avLst/>
          </a:prstGeom>
          <a:noFill/>
        </p:spPr>
        <p:txBody>
          <a:bodyPr wrap="square" rtlCol="0">
            <a:spAutoFit/>
          </a:bodyPr>
          <a:lstStyle/>
          <a:p>
            <a:r>
              <a:rPr lang="en-IN" sz="1400" dirty="0">
                <a:latin typeface="Times New Roman" panose="02020603050405020304" pitchFamily="18" charset="0"/>
                <a:cs typeface="Times New Roman" panose="02020603050405020304" pitchFamily="18" charset="0"/>
              </a:rPr>
              <a:t>Implementation:</a:t>
            </a:r>
            <a:br>
              <a:rPr lang="en-IN" sz="1400" dirty="0">
                <a:latin typeface="Times New Roman" panose="02020603050405020304" pitchFamily="18" charset="0"/>
                <a:cs typeface="Times New Roman" panose="02020603050405020304" pitchFamily="18" charset="0"/>
              </a:rPr>
            </a:br>
            <a:endParaRPr lang="en-IN" sz="1400" dirty="0">
              <a:latin typeface="Times New Roman" panose="02020603050405020304" pitchFamily="18" charset="0"/>
              <a:cs typeface="Times New Roman" panose="02020603050405020304" pitchFamily="18" charset="0"/>
            </a:endParaRPr>
          </a:p>
          <a:p>
            <a:r>
              <a:rPr lang="en-US" sz="1400" dirty="0">
                <a:latin typeface="Times New Roman" panose="02020603050405020304" pitchFamily="18" charset="0"/>
                <a:cs typeface="Times New Roman" panose="02020603050405020304" pitchFamily="18" charset="0"/>
              </a:rPr>
              <a:t>Phase 1 (Months 1-3): The phase for setting up AWS Glue to be used for data ingestion and as a data catalog.</a:t>
            </a:r>
          </a:p>
          <a:p>
            <a:r>
              <a:rPr lang="en-US" sz="1400" dirty="0">
                <a:latin typeface="Times New Roman" panose="02020603050405020304" pitchFamily="18" charset="0"/>
                <a:cs typeface="Times New Roman" panose="02020603050405020304" pitchFamily="18" charset="0"/>
              </a:rPr>
              <a:t>Phase 2 (Months 4-6): The phase where we will set up the Python Pandas transformations of our data in pipelines.</a:t>
            </a:r>
          </a:p>
          <a:p>
            <a:r>
              <a:rPr lang="en-US" sz="1400" dirty="0">
                <a:latin typeface="Times New Roman" panose="02020603050405020304" pitchFamily="18" charset="0"/>
                <a:cs typeface="Times New Roman" panose="02020603050405020304" pitchFamily="18" charset="0"/>
              </a:rPr>
              <a:t>Phase 3 (Months 7-9): The phase for the automated orchestration and monitoring of our data pipeline.</a:t>
            </a:r>
          </a:p>
          <a:p>
            <a:r>
              <a:rPr lang="en-US" sz="1400" dirty="0">
                <a:latin typeface="Times New Roman" panose="02020603050405020304" pitchFamily="18" charset="0"/>
                <a:cs typeface="Times New Roman" panose="02020603050405020304" pitchFamily="18" charset="0"/>
              </a:rPr>
              <a:t>Phase 4 (Months 10-12): The final phase that involves advanced analytics and machine learning using </a:t>
            </a:r>
          </a:p>
          <a:p>
            <a:r>
              <a:rPr lang="en-US" sz="1400" dirty="0">
                <a:latin typeface="Times New Roman" panose="02020603050405020304" pitchFamily="18" charset="0"/>
                <a:cs typeface="Times New Roman" panose="02020603050405020304" pitchFamily="18" charset="0"/>
              </a:rPr>
              <a:t>the foundation established with previous phases.</a:t>
            </a:r>
          </a:p>
        </p:txBody>
      </p:sp>
      <p:sp>
        <p:nvSpPr>
          <p:cNvPr id="12" name="TextBox 11">
            <a:extLst>
              <a:ext uri="{FF2B5EF4-FFF2-40B4-BE49-F238E27FC236}">
                <a16:creationId xmlns:a16="http://schemas.microsoft.com/office/drawing/2014/main" id="{79FC8DAA-1ED8-A8A9-5A0F-64B19A681BEF}"/>
              </a:ext>
            </a:extLst>
          </p:cNvPr>
          <p:cNvSpPr txBox="1"/>
          <p:nvPr/>
        </p:nvSpPr>
        <p:spPr>
          <a:xfrm>
            <a:off x="0" y="2142579"/>
            <a:ext cx="6770364" cy="1938992"/>
          </a:xfrm>
          <a:prstGeom prst="rect">
            <a:avLst/>
          </a:prstGeom>
          <a:noFill/>
        </p:spPr>
        <p:txBody>
          <a:bodyPr wrap="square" rtlCol="0">
            <a:spAutoFit/>
          </a:bodyPr>
          <a:lstStyle/>
          <a:p>
            <a:r>
              <a:rPr lang="en-IN" sz="1200" b="1" dirty="0"/>
              <a:t>Rationale of Integrated Approach</a:t>
            </a:r>
          </a:p>
          <a:p>
            <a:pPr marL="285750" indent="-285750">
              <a:buFont typeface="Arial" panose="020B0604020202020204" pitchFamily="34" charset="0"/>
              <a:buChar char="•"/>
            </a:pPr>
            <a:r>
              <a:rPr lang="en-US" sz="1200" dirty="0"/>
              <a:t>AWS Glue offers an excellent solution to instant data integration problems by </a:t>
            </a:r>
          </a:p>
          <a:p>
            <a:r>
              <a:rPr lang="en-US" sz="1200" dirty="0"/>
              <a:t>offering a managed ETL service that has scalable ingestion and cataloging services. </a:t>
            </a:r>
          </a:p>
          <a:p>
            <a:pPr marL="285750" indent="-285750">
              <a:buFont typeface="Arial" panose="020B0604020202020204" pitchFamily="34" charset="0"/>
              <a:buChar char="•"/>
            </a:pPr>
            <a:r>
              <a:rPr lang="en-US" sz="1200" dirty="0"/>
              <a:t>Python Pandas builds on the expertise of the team in data science, and provides </a:t>
            </a:r>
          </a:p>
          <a:p>
            <a:r>
              <a:rPr lang="en-US" sz="1200" dirty="0"/>
              <a:t>the flexibility and high-level data manipulation capabilities necessary to support the complex </a:t>
            </a:r>
          </a:p>
          <a:p>
            <a:r>
              <a:rPr lang="en-US" sz="1200" dirty="0"/>
              <a:t>data analysis processes. </a:t>
            </a:r>
          </a:p>
          <a:p>
            <a:pPr marL="285750" indent="-285750">
              <a:buFont typeface="Arial" panose="020B0604020202020204" pitchFamily="34" charset="0"/>
              <a:buChar char="•"/>
            </a:pPr>
            <a:r>
              <a:rPr lang="en-US" sz="1200" dirty="0"/>
              <a:t>The optimization of costs is achieved by using Glue to execute large scale, distributed ETL, </a:t>
            </a:r>
          </a:p>
          <a:p>
            <a:r>
              <a:rPr lang="en-US" sz="1200" dirty="0"/>
              <a:t>and Pandas to execute compute intensive logic that cannot scale well on managed services. </a:t>
            </a:r>
          </a:p>
          <a:p>
            <a:pPr marL="285750" indent="-285750">
              <a:buFont typeface="Arial" panose="020B0604020202020204" pitchFamily="34" charset="0"/>
              <a:buChar char="•"/>
            </a:pPr>
            <a:r>
              <a:rPr lang="en-US" sz="1200" dirty="0"/>
              <a:t>Architecture Future-proofing means that the architecture provides a solid footing on future </a:t>
            </a:r>
          </a:p>
          <a:p>
            <a:r>
              <a:rPr lang="en-US" sz="1200" dirty="0"/>
              <a:t>machine-learning efforts since Pandas is easily integrable with the proven ML libraries.</a:t>
            </a:r>
            <a:endParaRPr lang="en-IN" sz="1200" dirty="0"/>
          </a:p>
        </p:txBody>
      </p:sp>
    </p:spTree>
    <p:extLst>
      <p:ext uri="{BB962C8B-B14F-4D97-AF65-F5344CB8AC3E}">
        <p14:creationId xmlns:p14="http://schemas.microsoft.com/office/powerpoint/2010/main" val="388502560"/>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DCF9300-1CC1-5D25-CA1F-C4E82588191D}"/>
              </a:ext>
            </a:extLst>
          </p:cNvPr>
          <p:cNvSpPr>
            <a:spLocks noGrp="1"/>
          </p:cNvSpPr>
          <p:nvPr>
            <p:ph type="title"/>
          </p:nvPr>
        </p:nvSpPr>
        <p:spPr/>
        <p:txBody>
          <a:bodyPr/>
          <a:lstStyle/>
          <a:p>
            <a:r>
              <a:rPr lang="en-IN" b="1" dirty="0">
                <a:latin typeface="+mn-lt"/>
              </a:rPr>
              <a:t>Business Analytics</a:t>
            </a:r>
            <a:r>
              <a:rPr lang="en-GB" dirty="0">
                <a:latin typeface="+mn-lt"/>
              </a:rPr>
              <a:t> for implementation</a:t>
            </a:r>
            <a:endParaRPr lang="en-IN" dirty="0">
              <a:latin typeface="+mn-lt"/>
            </a:endParaRPr>
          </a:p>
        </p:txBody>
      </p:sp>
      <p:pic>
        <p:nvPicPr>
          <p:cNvPr id="9" name="Content Placeholder 8">
            <a:extLst>
              <a:ext uri="{FF2B5EF4-FFF2-40B4-BE49-F238E27FC236}">
                <a16:creationId xmlns:a16="http://schemas.microsoft.com/office/drawing/2014/main" id="{1E8AA658-51E8-6234-93EB-37F3959EF3F8}"/>
              </a:ext>
            </a:extLst>
          </p:cNvPr>
          <p:cNvPicPr>
            <a:picLocks noGrp="1" noChangeAspect="1"/>
          </p:cNvPicPr>
          <p:nvPr>
            <p:ph idx="1"/>
          </p:nvPr>
        </p:nvPicPr>
        <p:blipFill>
          <a:blip r:embed="rId3">
            <a:extLst>
              <a:ext uri="{28A0092B-C50C-407E-A947-70E740481C1C}">
                <a14:useLocalDpi xmlns:a14="http://schemas.microsoft.com/office/drawing/2010/main" val="0"/>
              </a:ext>
            </a:extLst>
          </a:blip>
          <a:stretch>
            <a:fillRect/>
          </a:stretch>
        </p:blipFill>
        <p:spPr>
          <a:xfrm>
            <a:off x="197682" y="2120115"/>
            <a:ext cx="9613900" cy="3152756"/>
          </a:xfrm>
        </p:spPr>
      </p:pic>
      <p:sp>
        <p:nvSpPr>
          <p:cNvPr id="11" name="TextBox 10">
            <a:extLst>
              <a:ext uri="{FF2B5EF4-FFF2-40B4-BE49-F238E27FC236}">
                <a16:creationId xmlns:a16="http://schemas.microsoft.com/office/drawing/2014/main" id="{78FAF7F6-3CDB-12C6-D03B-C3998F730418}"/>
              </a:ext>
            </a:extLst>
          </p:cNvPr>
          <p:cNvSpPr txBox="1"/>
          <p:nvPr/>
        </p:nvSpPr>
        <p:spPr>
          <a:xfrm>
            <a:off x="70682" y="5509676"/>
            <a:ext cx="12050636" cy="1200329"/>
          </a:xfrm>
          <a:prstGeom prst="rect">
            <a:avLst/>
          </a:prstGeom>
          <a:noFill/>
        </p:spPr>
        <p:txBody>
          <a:bodyPr wrap="square">
            <a:spAutoFit/>
          </a:bodyPr>
          <a:lstStyle/>
          <a:p>
            <a:r>
              <a:rPr lang="en-IN" sz="1200" dirty="0"/>
              <a:t>Generated Business Insights.  </a:t>
            </a:r>
          </a:p>
          <a:p>
            <a:r>
              <a:rPr lang="en-IN" sz="1200" dirty="0"/>
              <a:t>Customer Segmentation: The customers have been effectively classified into three different levels: High Value, Medium Value and Low Value.  </a:t>
            </a:r>
          </a:p>
          <a:p>
            <a:r>
              <a:rPr lang="en-IN" sz="1200" dirty="0"/>
              <a:t>Revenue Concentration: The output shows that there is a sharp inequality in the amount of spending (Example: Customer 1 spent 170GBP, and Customer 3 spent 10GBP). This will help bring out the high-spending customers which will be known as the whales in consuming terms.  </a:t>
            </a:r>
          </a:p>
          <a:p>
            <a:r>
              <a:rPr lang="en-IN" sz="1200" dirty="0" err="1"/>
              <a:t>Behavioral</a:t>
            </a:r>
            <a:r>
              <a:rPr lang="en-IN" sz="1200" dirty="0"/>
              <a:t> Aggregation: The analysis is able to identify the total expenditure and the frequency of transactions and the average value of transactions by calculating the total, the mean and the count of revenue.</a:t>
            </a:r>
          </a:p>
        </p:txBody>
      </p:sp>
      <p:sp>
        <p:nvSpPr>
          <p:cNvPr id="13" name="TextBox 12">
            <a:extLst>
              <a:ext uri="{FF2B5EF4-FFF2-40B4-BE49-F238E27FC236}">
                <a16:creationId xmlns:a16="http://schemas.microsoft.com/office/drawing/2014/main" id="{C2C76B06-F10D-7994-3E20-EEC979AC7D42}"/>
              </a:ext>
            </a:extLst>
          </p:cNvPr>
          <p:cNvSpPr txBox="1"/>
          <p:nvPr/>
        </p:nvSpPr>
        <p:spPr>
          <a:xfrm>
            <a:off x="9906000" y="2084406"/>
            <a:ext cx="2286000" cy="3139321"/>
          </a:xfrm>
          <a:prstGeom prst="rect">
            <a:avLst/>
          </a:prstGeom>
          <a:noFill/>
        </p:spPr>
        <p:txBody>
          <a:bodyPr wrap="square">
            <a:spAutoFit/>
          </a:bodyPr>
          <a:lstStyle/>
          <a:p>
            <a:r>
              <a:rPr lang="en-IN" sz="1100" dirty="0"/>
              <a:t>Through customer segmentation, the organization can achieve marketing efficiency by focusing high touch loyalty programs on high value people and using low-cost automation to serve the rest of the segments. It acts as a retention strategy on steroids, allowing the active prevention of churning through prioritization of high tier support and benefits. In addition, it drives sales expansion by means of upselling medium valued users and ensures more rational allocation of resources by preventing unnecessary expenditure on low value segments.</a:t>
            </a:r>
          </a:p>
        </p:txBody>
      </p:sp>
    </p:spTree>
    <p:extLst>
      <p:ext uri="{BB962C8B-B14F-4D97-AF65-F5344CB8AC3E}">
        <p14:creationId xmlns:p14="http://schemas.microsoft.com/office/powerpoint/2010/main" val="1167594873"/>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F5C4308-7F8A-E9B3-A2CA-8190E60DDE43}"/>
              </a:ext>
            </a:extLst>
          </p:cNvPr>
          <p:cNvSpPr>
            <a:spLocks noGrp="1"/>
          </p:cNvSpPr>
          <p:nvPr>
            <p:ph type="title"/>
          </p:nvPr>
        </p:nvSpPr>
        <p:spPr/>
        <p:txBody>
          <a:bodyPr/>
          <a:lstStyle/>
          <a:p>
            <a:r>
              <a:rPr lang="en-IN"/>
              <a:t>Refrence </a:t>
            </a:r>
            <a:endParaRPr lang="en-IN" dirty="0"/>
          </a:p>
        </p:txBody>
      </p:sp>
      <p:sp>
        <p:nvSpPr>
          <p:cNvPr id="3" name="Content Placeholder 2">
            <a:extLst>
              <a:ext uri="{FF2B5EF4-FFF2-40B4-BE49-F238E27FC236}">
                <a16:creationId xmlns:a16="http://schemas.microsoft.com/office/drawing/2014/main" id="{E695988E-652F-6E51-67B0-440AF62B8C74}"/>
              </a:ext>
            </a:extLst>
          </p:cNvPr>
          <p:cNvSpPr>
            <a:spLocks noGrp="1"/>
          </p:cNvSpPr>
          <p:nvPr>
            <p:ph idx="1"/>
          </p:nvPr>
        </p:nvSpPr>
        <p:spPr/>
        <p:txBody>
          <a:bodyPr>
            <a:normAutofit fontScale="92500" lnSpcReduction="10000"/>
          </a:bodyPr>
          <a:lstStyle/>
          <a:p>
            <a:r>
              <a:rPr lang="en-US" dirty="0"/>
              <a:t>Coherent Solutions (2025) </a:t>
            </a:r>
            <a:r>
              <a:rPr lang="en-US" i="1" dirty="0"/>
              <a:t>The Future of Data Analytics: Trends in 7 Industries 2025</a:t>
            </a:r>
            <a:r>
              <a:rPr lang="en-US" dirty="0"/>
              <a:t>. Available at: </a:t>
            </a:r>
            <a:r>
              <a:rPr lang="en-US" dirty="0">
                <a:hlinkClick r:id="rId3"/>
              </a:rPr>
              <a:t>The Future of Data Analytics: Trends in 7 Industries [2025]</a:t>
            </a:r>
            <a:endParaRPr lang="en-US" dirty="0"/>
          </a:p>
          <a:p>
            <a:r>
              <a:rPr lang="en-US" dirty="0"/>
              <a:t>McKinsey &amp; Company (2025) </a:t>
            </a:r>
            <a:r>
              <a:rPr lang="en-US" i="1" dirty="0"/>
              <a:t>McKinsey technology trends outlook 2025</a:t>
            </a:r>
            <a:r>
              <a:rPr lang="en-US" dirty="0"/>
              <a:t>. Available at: </a:t>
            </a:r>
            <a:r>
              <a:rPr lang="en-US" dirty="0">
                <a:hlinkClick r:id="rId4"/>
              </a:rPr>
              <a:t>McKinsey technology trends outlook 2025 | McKinsey</a:t>
            </a:r>
            <a:endParaRPr lang="en-US" dirty="0"/>
          </a:p>
          <a:p>
            <a:r>
              <a:rPr lang="en-US" dirty="0" err="1"/>
              <a:t>Rivery</a:t>
            </a:r>
            <a:r>
              <a:rPr lang="en-US" dirty="0"/>
              <a:t> (2025) </a:t>
            </a:r>
            <a:r>
              <a:rPr lang="en-US" i="1" dirty="0"/>
              <a:t>Data Management 2025 Trends</a:t>
            </a:r>
            <a:r>
              <a:rPr lang="en-US" dirty="0"/>
              <a:t>. Available at: </a:t>
            </a:r>
            <a:r>
              <a:rPr lang="en-US" dirty="0">
                <a:hlinkClick r:id="rId5"/>
              </a:rPr>
              <a:t>Data Management Trends 2025 | </a:t>
            </a:r>
            <a:r>
              <a:rPr lang="en-US" dirty="0" err="1">
                <a:hlinkClick r:id="rId5"/>
              </a:rPr>
              <a:t>Rivery</a:t>
            </a:r>
            <a:endParaRPr lang="en-US" dirty="0"/>
          </a:p>
          <a:p>
            <a:r>
              <a:rPr lang="en-US" dirty="0"/>
              <a:t>Statista (2025) </a:t>
            </a:r>
            <a:r>
              <a:rPr lang="en-US" i="1" dirty="0"/>
              <a:t>E-Scooter-sharing - Worldwide</a:t>
            </a:r>
            <a:r>
              <a:rPr lang="en-US" dirty="0"/>
              <a:t>. Available at: </a:t>
            </a:r>
            <a:r>
              <a:rPr lang="en-US" dirty="0">
                <a:hlinkClick r:id="rId6"/>
              </a:rPr>
              <a:t>E-Scooter-sharing - Worldwide | Statista Market Forecast</a:t>
            </a:r>
            <a:endParaRPr lang="en-US" dirty="0"/>
          </a:p>
          <a:p>
            <a:r>
              <a:rPr lang="en-US" dirty="0"/>
              <a:t>Deloitte (2021) </a:t>
            </a:r>
            <a:r>
              <a:rPr lang="en-US" i="1" dirty="0"/>
              <a:t>Data as a Strategic Asset</a:t>
            </a:r>
            <a:r>
              <a:rPr lang="en-US" dirty="0"/>
              <a:t>. Available at:</a:t>
            </a:r>
            <a:r>
              <a:rPr lang="en-US" dirty="0">
                <a:hlinkClick r:id="rId7"/>
              </a:rPr>
              <a:t> Data as a Strategic Asset | Deloitte US</a:t>
            </a:r>
            <a:endParaRPr lang="en-US" dirty="0"/>
          </a:p>
          <a:p>
            <a:endParaRPr lang="en-IN" dirty="0"/>
          </a:p>
        </p:txBody>
      </p:sp>
    </p:spTree>
    <p:extLst>
      <p:ext uri="{BB962C8B-B14F-4D97-AF65-F5344CB8AC3E}">
        <p14:creationId xmlns:p14="http://schemas.microsoft.com/office/powerpoint/2010/main" val="4155941309"/>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928C168-3CF5-B873-2214-196690DAAB59}"/>
              </a:ext>
            </a:extLst>
          </p:cNvPr>
          <p:cNvSpPr>
            <a:spLocks noGrp="1"/>
          </p:cNvSpPr>
          <p:nvPr>
            <p:ph type="title"/>
          </p:nvPr>
        </p:nvSpPr>
        <p:spPr/>
        <p:txBody>
          <a:bodyPr/>
          <a:lstStyle/>
          <a:p>
            <a:r>
              <a:rPr lang="en-IN" b="1" dirty="0"/>
              <a:t>Appendix</a:t>
            </a:r>
            <a:endParaRPr lang="en-IN" dirty="0"/>
          </a:p>
        </p:txBody>
      </p:sp>
      <p:sp>
        <p:nvSpPr>
          <p:cNvPr id="3" name="Content Placeholder 2">
            <a:extLst>
              <a:ext uri="{FF2B5EF4-FFF2-40B4-BE49-F238E27FC236}">
                <a16:creationId xmlns:a16="http://schemas.microsoft.com/office/drawing/2014/main" id="{00623BF0-0F4B-9E09-6DD9-AF3297379BFB}"/>
              </a:ext>
            </a:extLst>
          </p:cNvPr>
          <p:cNvSpPr>
            <a:spLocks noGrp="1"/>
          </p:cNvSpPr>
          <p:nvPr>
            <p:ph idx="1"/>
          </p:nvPr>
        </p:nvSpPr>
        <p:spPr/>
        <p:txBody>
          <a:bodyPr/>
          <a:lstStyle/>
          <a:p>
            <a:pPr marL="0" indent="0">
              <a:buNone/>
            </a:pPr>
            <a:r>
              <a:rPr lang="en-IN" dirty="0">
                <a:hlinkClick r:id="rId3"/>
              </a:rPr>
              <a:t>https://docs.google.com/document/d/19Ia4HRq-SpfYv6Z7tRfpUwjEcJNvKzhn2il0MGh9kk</a:t>
            </a:r>
            <a:r>
              <a:rPr lang="en-IN" dirty="0"/>
              <a:t>	Q/</a:t>
            </a:r>
            <a:r>
              <a:rPr lang="en-IN" dirty="0" err="1"/>
              <a:t>edit?usp</a:t>
            </a:r>
            <a:r>
              <a:rPr lang="en-IN" dirty="0"/>
              <a:t>=sharing</a:t>
            </a:r>
            <a:br>
              <a:rPr lang="en-IN" dirty="0"/>
            </a:br>
            <a:br>
              <a:rPr lang="en-IN" dirty="0"/>
            </a:br>
            <a:endParaRPr lang="en-IN" dirty="0"/>
          </a:p>
          <a:p>
            <a:pPr marL="0" indent="0">
              <a:buNone/>
            </a:pPr>
            <a:r>
              <a:rPr lang="en-IN" dirty="0"/>
              <a:t>SQL File: </a:t>
            </a:r>
          </a:p>
        </p:txBody>
      </p:sp>
      <p:graphicFrame>
        <p:nvGraphicFramePr>
          <p:cNvPr id="4" name="Object 3">
            <a:extLst>
              <a:ext uri="{FF2B5EF4-FFF2-40B4-BE49-F238E27FC236}">
                <a16:creationId xmlns:a16="http://schemas.microsoft.com/office/drawing/2014/main" id="{5CEDDE8A-21C1-92F9-F029-90432EF78534}"/>
              </a:ext>
            </a:extLst>
          </p:cNvPr>
          <p:cNvGraphicFramePr>
            <a:graphicFrameLocks noChangeAspect="1"/>
          </p:cNvGraphicFramePr>
          <p:nvPr>
            <p:extLst>
              <p:ext uri="{D42A27DB-BD31-4B8C-83A1-F6EECF244321}">
                <p14:modId xmlns:p14="http://schemas.microsoft.com/office/powerpoint/2010/main" val="1134595692"/>
              </p:ext>
            </p:extLst>
          </p:nvPr>
        </p:nvGraphicFramePr>
        <p:xfrm>
          <a:off x="2106011" y="3429000"/>
          <a:ext cx="3024105" cy="933578"/>
        </p:xfrm>
        <a:graphic>
          <a:graphicData uri="http://schemas.openxmlformats.org/presentationml/2006/ole">
            <mc:AlternateContent xmlns:mc="http://schemas.openxmlformats.org/markup-compatibility/2006">
              <mc:Choice xmlns:v="urn:schemas-microsoft-com:vml" Requires="v">
                <p:oleObj name="Packager Shell Object" showAsIcon="1" r:id="rId4" imgW="1676542" imgH="518081" progId="Package">
                  <p:embed/>
                </p:oleObj>
              </mc:Choice>
              <mc:Fallback>
                <p:oleObj name="Packager Shell Object" showAsIcon="1" r:id="rId4" imgW="1676542" imgH="518081" progId="Package">
                  <p:embed/>
                  <p:pic>
                    <p:nvPicPr>
                      <p:cNvPr id="0" name=""/>
                      <p:cNvPicPr/>
                      <p:nvPr/>
                    </p:nvPicPr>
                    <p:blipFill>
                      <a:blip r:embed="rId5"/>
                      <a:stretch>
                        <a:fillRect/>
                      </a:stretch>
                    </p:blipFill>
                    <p:spPr>
                      <a:xfrm>
                        <a:off x="2106011" y="3429000"/>
                        <a:ext cx="3024105" cy="933578"/>
                      </a:xfrm>
                      <a:prstGeom prst="rect">
                        <a:avLst/>
                      </a:prstGeom>
                    </p:spPr>
                  </p:pic>
                </p:oleObj>
              </mc:Fallback>
            </mc:AlternateContent>
          </a:graphicData>
        </a:graphic>
      </p:graphicFrame>
    </p:spTree>
    <p:extLst>
      <p:ext uri="{BB962C8B-B14F-4D97-AF65-F5344CB8AC3E}">
        <p14:creationId xmlns:p14="http://schemas.microsoft.com/office/powerpoint/2010/main" val="1699560352"/>
      </p:ext>
    </p:extLst>
  </p:cSld>
  <p:clrMapOvr>
    <a:masterClrMapping/>
  </p:clrMapOvr>
</p:sld>
</file>

<file path=ppt/theme/theme1.xml><?xml version="1.0" encoding="utf-8"?>
<a:theme xmlns:a="http://schemas.openxmlformats.org/drawingml/2006/main" name="Berlin">
  <a:themeElements>
    <a:clrScheme name="Berlin">
      <a:dk1>
        <a:sysClr val="windowText" lastClr="000000"/>
      </a:dk1>
      <a:lt1>
        <a:sysClr val="window" lastClr="FFFFFF"/>
      </a:lt1>
      <a:dk2>
        <a:srgbClr val="1F8094"/>
      </a:dk2>
      <a:lt2>
        <a:srgbClr val="E7E6E6"/>
      </a:lt2>
      <a:accent1>
        <a:srgbClr val="39CDE7"/>
      </a:accent1>
      <a:accent2>
        <a:srgbClr val="60DE72"/>
      </a:accent2>
      <a:accent3>
        <a:srgbClr val="DDCC64"/>
      </a:accent3>
      <a:accent4>
        <a:srgbClr val="F49D50"/>
      </a:accent4>
      <a:accent5>
        <a:srgbClr val="E44951"/>
      </a:accent5>
      <a:accent6>
        <a:srgbClr val="D666F9"/>
      </a:accent6>
      <a:hlink>
        <a:srgbClr val="4BF7ED"/>
      </a:hlink>
      <a:folHlink>
        <a:srgbClr val="95E9F4"/>
      </a:folHlink>
    </a:clrScheme>
    <a:fontScheme name="Berlin">
      <a:majorFont>
        <a:latin typeface="Trebuchet MS" panose="020B060302020202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Trebuchet MS" panose="020B060302020202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Berlin">
      <a:fillStyleLst>
        <a:solidFill>
          <a:schemeClr val="phClr"/>
        </a:solidFill>
        <a:gradFill rotWithShape="1">
          <a:gsLst>
            <a:gs pos="0">
              <a:schemeClr val="phClr">
                <a:tint val="60000"/>
                <a:satMod val="100000"/>
                <a:lumMod val="110000"/>
              </a:schemeClr>
            </a:gs>
            <a:gs pos="100000">
              <a:schemeClr val="phClr">
                <a:tint val="70000"/>
                <a:satMod val="100000"/>
                <a:lumMod val="100000"/>
              </a:schemeClr>
            </a:gs>
          </a:gsLst>
          <a:lin ang="5400000" scaled="0"/>
        </a:gradFill>
        <a:gradFill rotWithShape="1">
          <a:gsLst>
            <a:gs pos="0">
              <a:schemeClr val="phClr">
                <a:tint val="94000"/>
                <a:satMod val="103000"/>
                <a:lumMod val="102000"/>
              </a:schemeClr>
            </a:gs>
            <a:gs pos="50000">
              <a:schemeClr val="phClr">
                <a:shade val="100000"/>
                <a:satMod val="110000"/>
                <a:lumMod val="100000"/>
              </a:schemeClr>
            </a:gs>
            <a:gs pos="100000">
              <a:schemeClr val="phClr">
                <a:shade val="78000"/>
                <a:satMod val="120000"/>
                <a:lumMod val="99000"/>
              </a:schemeClr>
            </a:gs>
          </a:gsLst>
          <a:lin ang="5400000" scaled="0"/>
        </a:gradFill>
      </a:fillStyleLst>
      <a:lnStyleLst>
        <a:ln w="9525" cap="flat" cmpd="sng" algn="ctr">
          <a:solidFill>
            <a:schemeClr val="phClr"/>
          </a:solidFill>
          <a:prstDash val="solid"/>
        </a:ln>
        <a:ln w="12700" cap="flat" cmpd="sng" algn="ctr">
          <a:solidFill>
            <a:schemeClr val="phClr"/>
          </a:solidFill>
          <a:prstDash val="solid"/>
        </a:ln>
        <a:ln w="19050" cap="flat" cmpd="sng" algn="ctr">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6000"/>
                <a:shade val="100000"/>
                <a:hueMod val="92000"/>
                <a:satMod val="200000"/>
                <a:lumMod val="128000"/>
              </a:schemeClr>
            </a:gs>
            <a:gs pos="50000">
              <a:schemeClr val="phClr">
                <a:shade val="100000"/>
                <a:hueMod val="100000"/>
                <a:satMod val="110000"/>
                <a:lumMod val="130000"/>
              </a:schemeClr>
            </a:gs>
            <a:gs pos="100000">
              <a:schemeClr val="phClr">
                <a:shade val="78000"/>
                <a:hueMod val="118000"/>
                <a:satMod val="120000"/>
                <a:lumMod val="69000"/>
              </a:schemeClr>
            </a:gs>
          </a:gsLst>
          <a:lin ang="2520000" scaled="0"/>
        </a:gradFill>
      </a:bgFillStyleLst>
    </a:fmtScheme>
  </a:themeElements>
  <a:objectDefaults/>
  <a:extraClrSchemeLst/>
  <a:extLst>
    <a:ext uri="{05A4C25C-085E-4340-85A3-A5531E510DB2}">
      <thm15:themeFamily xmlns:thm15="http://schemas.microsoft.com/office/thememl/2012/main" name="Berlin" id="{7B5DBA9E-B069-418E-9360-A61BDD0615A4}" vid="{C7DC10E3-4FF5-456B-A359-A0F378C1E5FB}"/>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TM04033917[[fn=Berlin]]</Template>
  <TotalTime>2200</TotalTime>
  <Words>4640</Words>
  <Application>Microsoft Office PowerPoint</Application>
  <PresentationFormat>Widescreen</PresentationFormat>
  <Paragraphs>235</Paragraphs>
  <Slides>23</Slides>
  <Notes>23</Notes>
  <HiddenSlides>0</HiddenSlides>
  <MMClips>0</MMClips>
  <ScaleCrop>false</ScaleCrop>
  <HeadingPairs>
    <vt:vector size="8" baseType="variant">
      <vt:variant>
        <vt:lpstr>Fonts Used</vt:lpstr>
      </vt:variant>
      <vt:variant>
        <vt:i4>5</vt:i4>
      </vt:variant>
      <vt:variant>
        <vt:lpstr>Theme</vt:lpstr>
      </vt:variant>
      <vt:variant>
        <vt:i4>1</vt:i4>
      </vt:variant>
      <vt:variant>
        <vt:lpstr>Embedded OLE Servers</vt:lpstr>
      </vt:variant>
      <vt:variant>
        <vt:i4>1</vt:i4>
      </vt:variant>
      <vt:variant>
        <vt:lpstr>Slide Titles</vt:lpstr>
      </vt:variant>
      <vt:variant>
        <vt:i4>23</vt:i4>
      </vt:variant>
    </vt:vector>
  </HeadingPairs>
  <TitlesOfParts>
    <vt:vector size="30" baseType="lpstr">
      <vt:lpstr>Aptos</vt:lpstr>
      <vt:lpstr>Arial</vt:lpstr>
      <vt:lpstr>quote-cjk-patch</vt:lpstr>
      <vt:lpstr>Times New Roman</vt:lpstr>
      <vt:lpstr>Trebuchet MS</vt:lpstr>
      <vt:lpstr>Berlin</vt:lpstr>
      <vt:lpstr>Packager Shell Object</vt:lpstr>
      <vt:lpstr>Frontsheet</vt:lpstr>
      <vt:lpstr>Data Strategy &amp; Analytics Consultation for SwiftWheel Mobility Solutions</vt:lpstr>
      <vt:lpstr>Table of Contents</vt:lpstr>
      <vt:lpstr>1.Introduction</vt:lpstr>
      <vt:lpstr>2.Current Data State Analysis</vt:lpstr>
      <vt:lpstr>SWOT Analysis SwiftWheel VS Lime</vt:lpstr>
      <vt:lpstr>Modern RDBMS Impact Analysis</vt:lpstr>
      <vt:lpstr>Entity Identification</vt:lpstr>
      <vt:lpstr> Current State Data Flow Diagram</vt:lpstr>
      <vt:lpstr>Future State ER Diagram</vt:lpstr>
      <vt:lpstr>3.Database Implementation (MySQL Table Creation)</vt:lpstr>
      <vt:lpstr>Database Implementation (MySQL Table Creation)</vt:lpstr>
      <vt:lpstr>Sample Data Inserts (Customers, Scooters,Staff)</vt:lpstr>
      <vt:lpstr>Sample Data Inserts (Trips, Payments, Maintenance)</vt:lpstr>
      <vt:lpstr>1: Business Query (Highest Trip Volume by City)</vt:lpstr>
      <vt:lpstr>2: Business Query(Average Trip Duration by Membership and Maintenance Jobs per Technician)</vt:lpstr>
      <vt:lpstr>3. 2: Business Query(Overdue Payment Customer And Most Regular Used Scooter Model)</vt:lpstr>
      <vt:lpstr>SQL Change Example</vt:lpstr>
      <vt:lpstr>4.Technology Transformation and Analytics </vt:lpstr>
      <vt:lpstr>Recommended Architecture &amp; Implementation</vt:lpstr>
      <vt:lpstr>Business Analytics for implementation</vt:lpstr>
      <vt:lpstr>Refrence </vt:lpstr>
      <vt:lpstr>Appendix</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Kaushal Vaghmare</dc:creator>
  <cp:lastModifiedBy>Kaushal Vaghmare</cp:lastModifiedBy>
  <cp:revision>34</cp:revision>
  <dcterms:created xsi:type="dcterms:W3CDTF">2025-11-19T15:53:01Z</dcterms:created>
  <dcterms:modified xsi:type="dcterms:W3CDTF">2026-01-28T15:51:49Z</dcterms:modified>
</cp:coreProperties>
</file>